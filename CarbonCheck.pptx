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805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21.pn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11" Type="http://schemas.openxmlformats.org/officeDocument/2006/relationships/image" Target="../media/image23.png"/><Relationship Id="rId5" Type="http://schemas.openxmlformats.org/officeDocument/2006/relationships/image" Target="../media/image19.png"/><Relationship Id="rId10" Type="http://schemas.openxmlformats.org/officeDocument/2006/relationships/image" Target="../media/image12.pn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1.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2.png"/><Relationship Id="rId10"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5.png"/><Relationship Id="rId3" Type="http://schemas.openxmlformats.org/officeDocument/2006/relationships/image" Target="../media/image5.png"/><Relationship Id="rId7" Type="http://schemas.openxmlformats.org/officeDocument/2006/relationships/image" Target="../media/image23.png"/><Relationship Id="rId12"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1.png"/><Relationship Id="rId5" Type="http://schemas.openxmlformats.org/officeDocument/2006/relationships/image" Target="../media/image12.png"/><Relationship Id="rId10" Type="http://schemas.openxmlformats.org/officeDocument/2006/relationships/image" Target="../media/image15.png"/><Relationship Id="rId4" Type="http://schemas.openxmlformats.org/officeDocument/2006/relationships/image" Target="../media/image32.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2.png"/><Relationship Id="rId4" Type="http://schemas.openxmlformats.org/officeDocument/2006/relationships/image" Target="../media/image37.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34.png"/></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5.png"/><Relationship Id="rId7"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7.png"/><Relationship Id="rId5" Type="http://schemas.openxmlformats.org/officeDocument/2006/relationships/image" Target="../media/image35.png"/><Relationship Id="rId10" Type="http://schemas.openxmlformats.org/officeDocument/2006/relationships/image" Target="../media/image31.png"/><Relationship Id="rId4" Type="http://schemas.openxmlformats.org/officeDocument/2006/relationships/image" Target="../media/image10.png"/><Relationship Id="rId9"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48495" y="548640"/>
            <a:ext cx="1371600" cy="1371600"/>
          </a:xfrm>
          <a:prstGeom prst="ellipse">
            <a:avLst/>
          </a:prstGeom>
          <a:solidFill>
            <a:srgbClr val="FFFFFF">
              <a:alpha val="8000"/>
            </a:srgbClr>
          </a:solidFill>
          <a:ln w="12700">
            <a:solidFill>
              <a:srgbClr val="FFFFFF">
                <a:alpha val="30000"/>
              </a:srgbClr>
            </a:solidFill>
            <a:prstDash val="solid"/>
          </a:ln>
        </p:spPr>
      </p:sp>
      <p:pic>
        <p:nvPicPr>
          <p:cNvPr id="3" name="Image 0" descr="/home/claude/carboncheck/icons/network_white.png"/>
          <p:cNvPicPr>
            <a:picLocks noChangeAspect="1"/>
          </p:cNvPicPr>
          <p:nvPr/>
        </p:nvPicPr>
        <p:blipFill>
          <a:blip r:embed="rId4"/>
          <a:stretch>
            <a:fillRect/>
          </a:stretch>
        </p:blipFill>
        <p:spPr>
          <a:xfrm>
            <a:off x="9768535" y="868680"/>
            <a:ext cx="731520" cy="731520"/>
          </a:xfrm>
          <a:prstGeom prst="rect">
            <a:avLst/>
          </a:prstGeom>
        </p:spPr>
      </p:pic>
      <p:sp>
        <p:nvSpPr>
          <p:cNvPr id="4" name="Shape 1"/>
          <p:cNvSpPr/>
          <p:nvPr/>
        </p:nvSpPr>
        <p:spPr>
          <a:xfrm>
            <a:off x="9692640" y="3246120"/>
            <a:ext cx="2194560" cy="2194560"/>
          </a:xfrm>
          <a:prstGeom prst="ellipse">
            <a:avLst/>
          </a:prstGeom>
          <a:solidFill>
            <a:srgbClr val="FFFFFF">
              <a:alpha val="6000"/>
            </a:srgbClr>
          </a:solidFill>
          <a:ln w="12700">
            <a:solidFill>
              <a:srgbClr val="FFFFFF">
                <a:alpha val="25000"/>
              </a:srgbClr>
            </a:solidFill>
            <a:prstDash val="solid"/>
          </a:ln>
        </p:spPr>
      </p:sp>
      <p:pic>
        <p:nvPicPr>
          <p:cNvPr id="5" name="Image 1" descr="/home/claude/carboncheck/icons/earth_white.png"/>
          <p:cNvPicPr>
            <a:picLocks noChangeAspect="1"/>
          </p:cNvPicPr>
          <p:nvPr/>
        </p:nvPicPr>
        <p:blipFill>
          <a:blip r:embed="rId5"/>
          <a:stretch>
            <a:fillRect/>
          </a:stretch>
        </p:blipFill>
        <p:spPr>
          <a:xfrm>
            <a:off x="10195560" y="3749040"/>
            <a:ext cx="1188720" cy="1188720"/>
          </a:xfrm>
          <a:prstGeom prst="rect">
            <a:avLst/>
          </a:prstGeom>
        </p:spPr>
      </p:pic>
      <p:sp>
        <p:nvSpPr>
          <p:cNvPr id="6" name="Shape 2"/>
          <p:cNvSpPr/>
          <p:nvPr/>
        </p:nvSpPr>
        <p:spPr>
          <a:xfrm>
            <a:off x="10607040" y="1737360"/>
            <a:ext cx="822960" cy="822960"/>
          </a:xfrm>
          <a:prstGeom prst="ellipse">
            <a:avLst/>
          </a:prstGeom>
          <a:solidFill>
            <a:srgbClr val="52D68D">
              <a:alpha val="18000"/>
            </a:srgbClr>
          </a:solidFill>
          <a:ln/>
        </p:spPr>
      </p:sp>
      <p:pic>
        <p:nvPicPr>
          <p:cNvPr id="7" name="Image 2" descr="/home/claude/carboncheck/icons/leaf_white.png"/>
          <p:cNvPicPr>
            <a:picLocks noChangeAspect="1"/>
          </p:cNvPicPr>
          <p:nvPr/>
        </p:nvPicPr>
        <p:blipFill>
          <a:blip r:embed="rId6"/>
          <a:stretch>
            <a:fillRect/>
          </a:stretch>
        </p:blipFill>
        <p:spPr>
          <a:xfrm>
            <a:off x="10817352" y="1947672"/>
            <a:ext cx="402336" cy="402336"/>
          </a:xfrm>
          <a:prstGeom prst="rect">
            <a:avLst/>
          </a:prstGeom>
        </p:spPr>
      </p:pic>
      <p:sp>
        <p:nvSpPr>
          <p:cNvPr id="8" name="Shape 3"/>
          <p:cNvSpPr/>
          <p:nvPr/>
        </p:nvSpPr>
        <p:spPr>
          <a:xfrm>
            <a:off x="457200" y="5212080"/>
            <a:ext cx="731520" cy="731520"/>
          </a:xfrm>
          <a:prstGeom prst="ellipse">
            <a:avLst/>
          </a:prstGeom>
          <a:solidFill>
            <a:srgbClr val="52D68D">
              <a:alpha val="15000"/>
            </a:srgbClr>
          </a:solidFill>
          <a:ln/>
        </p:spPr>
      </p:sp>
      <p:pic>
        <p:nvPicPr>
          <p:cNvPr id="9" name="Image 3" descr="/home/claude/carboncheck/icons/leaf_white.png"/>
          <p:cNvPicPr>
            <a:picLocks noChangeAspect="1"/>
          </p:cNvPicPr>
          <p:nvPr/>
        </p:nvPicPr>
        <p:blipFill>
          <a:blip r:embed="rId6"/>
          <a:stretch>
            <a:fillRect/>
          </a:stretch>
        </p:blipFill>
        <p:spPr>
          <a:xfrm>
            <a:off x="640080" y="5394960"/>
            <a:ext cx="365760" cy="365760"/>
          </a:xfrm>
          <a:prstGeom prst="rect">
            <a:avLst/>
          </a:prstGeom>
        </p:spPr>
      </p:pic>
      <p:sp>
        <p:nvSpPr>
          <p:cNvPr id="10" name="Text 4"/>
          <p:cNvSpPr/>
          <p:nvPr/>
        </p:nvSpPr>
        <p:spPr>
          <a:xfrm>
            <a:off x="640080" y="1371600"/>
            <a:ext cx="7315200" cy="365760"/>
          </a:xfrm>
          <a:prstGeom prst="rect">
            <a:avLst/>
          </a:prstGeom>
          <a:noFill/>
          <a:ln/>
        </p:spPr>
        <p:txBody>
          <a:bodyPr wrap="square" rtlCol="0" anchor="ctr"/>
          <a:lstStyle/>
          <a:p>
            <a:pPr marL="0" indent="0">
              <a:buNone/>
            </a:pPr>
            <a:r>
              <a:rPr lang="en-US" sz="1300" b="1" kern="0" spc="300" dirty="0">
                <a:solidFill>
                  <a:srgbClr val="52D68D"/>
                </a:solidFill>
                <a:latin typeface="Arial" pitchFamily="34" charset="0"/>
                <a:ea typeface="Arial" pitchFamily="34" charset="-122"/>
                <a:cs typeface="Arial" pitchFamily="34" charset="-120"/>
              </a:rPr>
              <a:t>FINAL YEAR CAPSTONE PROJECT</a:t>
            </a:r>
            <a:endParaRPr lang="en-US" sz="1300" dirty="0"/>
          </a:p>
        </p:txBody>
      </p:sp>
      <p:sp>
        <p:nvSpPr>
          <p:cNvPr id="11" name="Text 5"/>
          <p:cNvSpPr/>
          <p:nvPr/>
        </p:nvSpPr>
        <p:spPr>
          <a:xfrm>
            <a:off x="594360" y="1783080"/>
            <a:ext cx="8686800" cy="1188720"/>
          </a:xfrm>
          <a:prstGeom prst="rect">
            <a:avLst/>
          </a:prstGeom>
          <a:noFill/>
          <a:ln/>
        </p:spPr>
        <p:txBody>
          <a:bodyPr wrap="square" rtlCol="0" anchor="ctr"/>
          <a:lstStyle/>
          <a:p>
            <a:pPr marL="0" indent="0">
              <a:buNone/>
            </a:pPr>
            <a:r>
              <a:rPr lang="en-US" sz="6000" b="1" dirty="0">
                <a:solidFill>
                  <a:srgbClr val="FFFFFF"/>
                </a:solidFill>
                <a:latin typeface="Poppins" pitchFamily="34" charset="0"/>
                <a:ea typeface="Poppins" pitchFamily="34" charset="-122"/>
                <a:cs typeface="Poppins" pitchFamily="34" charset="-120"/>
              </a:rPr>
              <a:t>CarbonCheck</a:t>
            </a:r>
            <a:endParaRPr lang="en-US" sz="6000" dirty="0"/>
          </a:p>
        </p:txBody>
      </p:sp>
      <p:sp>
        <p:nvSpPr>
          <p:cNvPr id="12" name="Text 6"/>
          <p:cNvSpPr/>
          <p:nvPr/>
        </p:nvSpPr>
        <p:spPr>
          <a:xfrm>
            <a:off x="640080" y="2788920"/>
            <a:ext cx="8229600" cy="548640"/>
          </a:xfrm>
          <a:prstGeom prst="rect">
            <a:avLst/>
          </a:prstGeom>
          <a:noFill/>
          <a:ln/>
        </p:spPr>
        <p:txBody>
          <a:bodyPr wrap="square" rtlCol="0" anchor="ctr"/>
          <a:lstStyle/>
          <a:p>
            <a:pPr marL="0" indent="0">
              <a:buNone/>
            </a:pPr>
            <a:r>
              <a:rPr lang="en-US" sz="2400" b="1" dirty="0">
                <a:solidFill>
                  <a:srgbClr val="52D68D"/>
                </a:solidFill>
                <a:latin typeface="Poppins" pitchFamily="34" charset="0"/>
                <a:ea typeface="Poppins" pitchFamily="34" charset="-122"/>
                <a:cs typeface="Poppins" pitchFamily="34" charset="-120"/>
              </a:rPr>
              <a:t>AI Carbon Footprint Calculator</a:t>
            </a:r>
            <a:endParaRPr lang="en-US" sz="2400" dirty="0"/>
          </a:p>
        </p:txBody>
      </p:sp>
      <p:sp>
        <p:nvSpPr>
          <p:cNvPr id="13" name="Text 7"/>
          <p:cNvSpPr/>
          <p:nvPr/>
        </p:nvSpPr>
        <p:spPr>
          <a:xfrm>
            <a:off x="640080" y="3337560"/>
            <a:ext cx="7589520" cy="457200"/>
          </a:xfrm>
          <a:prstGeom prst="rect">
            <a:avLst/>
          </a:prstGeom>
          <a:noFill/>
          <a:ln/>
        </p:spPr>
        <p:txBody>
          <a:bodyPr wrap="square" rtlCol="0" anchor="ctr"/>
          <a:lstStyle/>
          <a:p>
            <a:pPr marL="0" indent="0">
              <a:buNone/>
            </a:pPr>
            <a:r>
              <a:rPr lang="en-US" sz="1500" dirty="0">
                <a:solidFill>
                  <a:srgbClr val="DCEFE3"/>
                </a:solidFill>
                <a:latin typeface="Arial" pitchFamily="34" charset="0"/>
                <a:ea typeface="Arial" pitchFamily="34" charset="-122"/>
                <a:cs typeface="Arial" pitchFamily="34" charset="-120"/>
              </a:rPr>
              <a:t>An AI-Powered Sustainable Lifestyle Analysis Platform</a:t>
            </a:r>
            <a:endParaRPr lang="en-US" sz="1500" dirty="0"/>
          </a:p>
        </p:txBody>
      </p:sp>
      <p:sp>
        <p:nvSpPr>
          <p:cNvPr id="14" name="Shape 8"/>
          <p:cNvSpPr/>
          <p:nvPr/>
        </p:nvSpPr>
        <p:spPr>
          <a:xfrm>
            <a:off x="411480" y="4667359"/>
            <a:ext cx="8046720" cy="1600200"/>
          </a:xfrm>
          <a:prstGeom prst="roundRect">
            <a:avLst>
              <a:gd name="adj" fmla="val 9143"/>
            </a:avLst>
          </a:prstGeom>
          <a:solidFill>
            <a:srgbClr val="FFFFFF">
              <a:alpha val="8000"/>
            </a:srgbClr>
          </a:solidFill>
          <a:ln w="12700">
            <a:solidFill>
              <a:srgbClr val="FFFFFF"/>
            </a:solidFill>
            <a:prstDash val="solid"/>
          </a:ln>
        </p:spPr>
        <p:txBody>
          <a:bodyPr/>
          <a:lstStyle/>
          <a:p>
            <a:r>
              <a:rPr lang="en-US" b="1" kern="0" spc="100" dirty="0">
                <a:solidFill>
                  <a:srgbClr val="52D68D"/>
                </a:solidFill>
                <a:latin typeface="Arial" pitchFamily="34" charset="0"/>
                <a:ea typeface="Arial" pitchFamily="34" charset="-122"/>
                <a:cs typeface="Arial" pitchFamily="34" charset="-120"/>
              </a:rPr>
              <a:t>DEPARTMENT</a:t>
            </a:r>
          </a:p>
          <a:p>
            <a:r>
              <a:rPr lang="en-US" dirty="0">
                <a:solidFill>
                  <a:srgbClr val="FFFFFF"/>
                </a:solidFill>
                <a:latin typeface="Arial" pitchFamily="34" charset="0"/>
                <a:ea typeface="Arial" pitchFamily="34" charset="-122"/>
                <a:cs typeface="Arial" pitchFamily="34" charset="-120"/>
              </a:rPr>
              <a:t>[ Computer Engineering]</a:t>
            </a:r>
            <a:endParaRPr lang="en-US" dirty="0"/>
          </a:p>
          <a:p>
            <a:endParaRPr lang="en-IN" dirty="0"/>
          </a:p>
        </p:txBody>
      </p:sp>
      <p:sp>
        <p:nvSpPr>
          <p:cNvPr id="15" name="Text 9"/>
          <p:cNvSpPr/>
          <p:nvPr/>
        </p:nvSpPr>
        <p:spPr>
          <a:xfrm>
            <a:off x="914400" y="4873752"/>
            <a:ext cx="3566160" cy="219456"/>
          </a:xfrm>
          <a:prstGeom prst="rect">
            <a:avLst/>
          </a:prstGeom>
          <a:noFill/>
          <a:ln/>
        </p:spPr>
        <p:txBody>
          <a:bodyPr wrap="square" rtlCol="0" anchor="ctr"/>
          <a:lstStyle/>
          <a:p>
            <a:pPr marL="0" indent="0">
              <a:buNone/>
            </a:pPr>
            <a:endParaRPr lang="en-US" sz="850" dirty="0"/>
          </a:p>
        </p:txBody>
      </p:sp>
      <p:sp>
        <p:nvSpPr>
          <p:cNvPr id="16" name="Text 10"/>
          <p:cNvSpPr/>
          <p:nvPr/>
        </p:nvSpPr>
        <p:spPr>
          <a:xfrm>
            <a:off x="914400" y="5074920"/>
            <a:ext cx="3566160" cy="274320"/>
          </a:xfrm>
          <a:prstGeom prst="rect">
            <a:avLst/>
          </a:prstGeom>
          <a:noFill/>
          <a:ln/>
        </p:spPr>
        <p:txBody>
          <a:bodyPr wrap="square" rtlCol="0" anchor="ctr"/>
          <a:lstStyle/>
          <a:p>
            <a:pPr marL="0" indent="0">
              <a:buNone/>
            </a:pPr>
            <a:endParaRPr lang="en-US" sz="1200" dirty="0"/>
          </a:p>
        </p:txBody>
      </p:sp>
      <p:sp>
        <p:nvSpPr>
          <p:cNvPr id="17" name="Text 11"/>
          <p:cNvSpPr/>
          <p:nvPr/>
        </p:nvSpPr>
        <p:spPr>
          <a:xfrm>
            <a:off x="4754880" y="4873752"/>
            <a:ext cx="3566160" cy="219456"/>
          </a:xfrm>
          <a:prstGeom prst="rect">
            <a:avLst/>
          </a:prstGeom>
          <a:noFill/>
          <a:ln/>
        </p:spPr>
        <p:txBody>
          <a:bodyPr wrap="square" rtlCol="0" anchor="ctr"/>
          <a:lstStyle/>
          <a:p>
            <a:pPr marL="0" indent="0">
              <a:buNone/>
            </a:pPr>
            <a:r>
              <a:rPr lang="en-US" sz="850" b="1" kern="0" spc="100" dirty="0">
                <a:solidFill>
                  <a:srgbClr val="52D68D"/>
                </a:solidFill>
                <a:latin typeface="Arial" pitchFamily="34" charset="0"/>
                <a:ea typeface="Arial" pitchFamily="34" charset="-122"/>
                <a:cs typeface="Arial" pitchFamily="34" charset="-120"/>
              </a:rPr>
              <a:t>STUDENT NAME</a:t>
            </a:r>
            <a:endParaRPr lang="en-US" sz="850" dirty="0"/>
          </a:p>
        </p:txBody>
      </p:sp>
      <p:sp>
        <p:nvSpPr>
          <p:cNvPr id="18" name="Text 12"/>
          <p:cNvSpPr/>
          <p:nvPr/>
        </p:nvSpPr>
        <p:spPr>
          <a:xfrm>
            <a:off x="4754880" y="5074920"/>
            <a:ext cx="3566160" cy="274320"/>
          </a:xfrm>
          <a:prstGeom prst="rect">
            <a:avLst/>
          </a:prstGeom>
          <a:noFill/>
          <a:ln/>
        </p:spPr>
        <p:txBody>
          <a:bodyPr wrap="square" rtlCol="0" anchor="ctr"/>
          <a:lstStyle/>
          <a:p>
            <a:pPr marL="0" indent="0">
              <a:buNone/>
            </a:pPr>
            <a:endParaRPr lang="en-US" sz="1200" dirty="0">
              <a:solidFill>
                <a:srgbClr val="FFFFFF"/>
              </a:solidFill>
              <a:latin typeface="Arial" pitchFamily="34" charset="0"/>
              <a:ea typeface="Arial" pitchFamily="34" charset="-122"/>
              <a:cs typeface="Arial" pitchFamily="34" charset="-120"/>
            </a:endParaRPr>
          </a:p>
          <a:p>
            <a:pPr marL="0" indent="0">
              <a:buNone/>
            </a:pPr>
            <a:endParaRPr lang="en-US" sz="1200" dirty="0">
              <a:solidFill>
                <a:srgbClr val="FFFFFF"/>
              </a:solidFill>
              <a:latin typeface="Arial" pitchFamily="34" charset="0"/>
              <a:ea typeface="Arial" pitchFamily="34" charset="-122"/>
              <a:cs typeface="Arial" pitchFamily="34" charset="-120"/>
            </a:endParaRPr>
          </a:p>
          <a:p>
            <a:pPr marL="0" indent="0">
              <a:buNone/>
            </a:pPr>
            <a:endParaRPr lang="en-US" sz="1200" dirty="0">
              <a:solidFill>
                <a:srgbClr val="FFFFFF"/>
              </a:solidFill>
              <a:latin typeface="Arial" pitchFamily="34" charset="0"/>
              <a:ea typeface="Arial" pitchFamily="34" charset="-122"/>
              <a:cs typeface="Arial" pitchFamily="34" charset="-120"/>
            </a:endParaRPr>
          </a:p>
          <a:p>
            <a:pPr marL="0" indent="0">
              <a:buNone/>
            </a:pPr>
            <a:r>
              <a:rPr lang="en-US" sz="1200" dirty="0">
                <a:solidFill>
                  <a:srgbClr val="FFFFFF"/>
                </a:solidFill>
                <a:latin typeface="Arial" pitchFamily="34" charset="0"/>
                <a:ea typeface="Arial" pitchFamily="34" charset="-122"/>
                <a:cs typeface="Arial" pitchFamily="34" charset="-120"/>
              </a:rPr>
              <a:t>[ Adarsh Mishra </a:t>
            </a:r>
          </a:p>
          <a:p>
            <a:r>
              <a:rPr lang="en-US" sz="1200" dirty="0">
                <a:solidFill>
                  <a:srgbClr val="FFFFFF"/>
                </a:solidFill>
                <a:latin typeface="Arial" pitchFamily="34" charset="0"/>
                <a:ea typeface="Arial" pitchFamily="34" charset="-122"/>
                <a:cs typeface="Arial" pitchFamily="34" charset="-120"/>
              </a:rPr>
              <a:t>Shriya Vyas</a:t>
            </a:r>
          </a:p>
          <a:p>
            <a:r>
              <a:rPr lang="en-IN" sz="1200" dirty="0">
                <a:solidFill>
                  <a:schemeClr val="bg1"/>
                </a:solidFill>
                <a:latin typeface="Arial" panose="020B0604020202020204" pitchFamily="34" charset="0"/>
                <a:cs typeface="Arial" panose="020B0604020202020204" pitchFamily="34" charset="0"/>
              </a:rPr>
              <a:t>Bansari Makwana</a:t>
            </a:r>
            <a:endParaRPr lang="en-US" sz="1200" dirty="0">
              <a:solidFill>
                <a:schemeClr val="bg1"/>
              </a:solidFill>
              <a:latin typeface="Arial" panose="020B0604020202020204" pitchFamily="34" charset="0"/>
              <a:ea typeface="Arial" pitchFamily="34" charset="-122"/>
              <a:cs typeface="Arial" panose="020B0604020202020204" pitchFamily="34" charset="0"/>
            </a:endParaRPr>
          </a:p>
          <a:p>
            <a:r>
              <a:rPr lang="en-US" sz="1200" dirty="0">
                <a:solidFill>
                  <a:srgbClr val="FFFFFF"/>
                </a:solidFill>
                <a:latin typeface="Arial" pitchFamily="34" charset="0"/>
                <a:ea typeface="Arial" pitchFamily="34" charset="-122"/>
                <a:cs typeface="Arial" pitchFamily="34" charset="-120"/>
              </a:rPr>
              <a:t>]</a:t>
            </a:r>
            <a:endParaRPr lang="en-US" sz="1200" dirty="0"/>
          </a:p>
        </p:txBody>
      </p:sp>
      <p:sp>
        <p:nvSpPr>
          <p:cNvPr id="19" name="Text 13"/>
          <p:cNvSpPr/>
          <p:nvPr/>
        </p:nvSpPr>
        <p:spPr>
          <a:xfrm>
            <a:off x="914400" y="5404104"/>
            <a:ext cx="3566160" cy="219456"/>
          </a:xfrm>
          <a:prstGeom prst="rect">
            <a:avLst/>
          </a:prstGeom>
          <a:noFill/>
          <a:ln/>
        </p:spPr>
        <p:txBody>
          <a:bodyPr wrap="square" rtlCol="0" anchor="ctr"/>
          <a:lstStyle/>
          <a:p>
            <a:pPr marL="0" indent="0">
              <a:buNone/>
            </a:pPr>
            <a:endParaRPr lang="en-US" sz="850" dirty="0"/>
          </a:p>
        </p:txBody>
      </p:sp>
      <p:sp>
        <p:nvSpPr>
          <p:cNvPr id="20" name="Text 14"/>
          <p:cNvSpPr/>
          <p:nvPr/>
        </p:nvSpPr>
        <p:spPr>
          <a:xfrm>
            <a:off x="914400" y="5605272"/>
            <a:ext cx="3566160" cy="274320"/>
          </a:xfrm>
          <a:prstGeom prst="rect">
            <a:avLst/>
          </a:prstGeom>
          <a:noFill/>
          <a:ln/>
        </p:spPr>
        <p:txBody>
          <a:bodyPr wrap="square" rtlCol="0" anchor="ctr"/>
          <a:lstStyle/>
          <a:p>
            <a:pPr marL="0" indent="0">
              <a:buNone/>
            </a:pPr>
            <a:endParaRPr lang="en-US" sz="1200" dirty="0"/>
          </a:p>
        </p:txBody>
      </p:sp>
      <p:sp>
        <p:nvSpPr>
          <p:cNvPr id="21" name="Text 15"/>
          <p:cNvSpPr/>
          <p:nvPr/>
        </p:nvSpPr>
        <p:spPr>
          <a:xfrm>
            <a:off x="4754880" y="5404104"/>
            <a:ext cx="3566160" cy="219456"/>
          </a:xfrm>
          <a:prstGeom prst="rect">
            <a:avLst/>
          </a:prstGeom>
          <a:noFill/>
          <a:ln/>
        </p:spPr>
        <p:txBody>
          <a:bodyPr wrap="square" rtlCol="0" anchor="ctr"/>
          <a:lstStyle/>
          <a:p>
            <a:pPr marL="0" indent="0">
              <a:buNone/>
            </a:pPr>
            <a:endParaRPr lang="en-US" sz="850" dirty="0"/>
          </a:p>
        </p:txBody>
      </p:sp>
      <p:sp>
        <p:nvSpPr>
          <p:cNvPr id="22" name="Text 16"/>
          <p:cNvSpPr/>
          <p:nvPr/>
        </p:nvSpPr>
        <p:spPr>
          <a:xfrm>
            <a:off x="4754880" y="5605272"/>
            <a:ext cx="3566160" cy="274320"/>
          </a:xfrm>
          <a:prstGeom prst="rect">
            <a:avLst/>
          </a:prstGeom>
          <a:noFill/>
          <a:ln/>
        </p:spPr>
        <p:txBody>
          <a:bodyPr wrap="square" rtlCol="0" anchor="ctr"/>
          <a:lstStyle/>
          <a:p>
            <a:pPr marL="0" indent="0">
              <a:buNone/>
            </a:pPr>
            <a:endParaRPr lang="en-US" sz="1200" dirty="0"/>
          </a:p>
        </p:txBody>
      </p:sp>
      <p:sp>
        <p:nvSpPr>
          <p:cNvPr id="23" name="Text 17"/>
          <p:cNvSpPr/>
          <p:nvPr/>
        </p:nvSpPr>
        <p:spPr>
          <a:xfrm>
            <a:off x="914400" y="5934456"/>
            <a:ext cx="3566160" cy="219456"/>
          </a:xfrm>
          <a:prstGeom prst="rect">
            <a:avLst/>
          </a:prstGeom>
          <a:noFill/>
          <a:ln/>
        </p:spPr>
        <p:txBody>
          <a:bodyPr wrap="square" rtlCol="0" anchor="ctr"/>
          <a:lstStyle/>
          <a:p>
            <a:pPr marL="0" indent="0">
              <a:buNone/>
            </a:pPr>
            <a:endParaRPr lang="en-US" sz="850" dirty="0"/>
          </a:p>
        </p:txBody>
      </p:sp>
      <p:sp>
        <p:nvSpPr>
          <p:cNvPr id="24" name="Text 18"/>
          <p:cNvSpPr/>
          <p:nvPr/>
        </p:nvSpPr>
        <p:spPr>
          <a:xfrm>
            <a:off x="914400" y="6135624"/>
            <a:ext cx="3566160" cy="274320"/>
          </a:xfrm>
          <a:prstGeom prst="rect">
            <a:avLst/>
          </a:prstGeom>
          <a:noFill/>
          <a:ln/>
        </p:spPr>
        <p:txBody>
          <a:bodyPr wrap="square" rtlCol="0" anchor="ctr"/>
          <a:lstStyle/>
          <a:p>
            <a:pPr marL="0" indent="0">
              <a:buNone/>
            </a:pPr>
            <a:endParaRPr lang="en-US" sz="1200" dirty="0"/>
          </a:p>
        </p:txBody>
      </p:sp>
      <p:sp>
        <p:nvSpPr>
          <p:cNvPr id="25" name="Text 19"/>
          <p:cNvSpPr/>
          <p:nvPr/>
        </p:nvSpPr>
        <p:spPr>
          <a:xfrm>
            <a:off x="4754880" y="5934456"/>
            <a:ext cx="3566160" cy="219456"/>
          </a:xfrm>
          <a:prstGeom prst="rect">
            <a:avLst/>
          </a:prstGeom>
          <a:noFill/>
          <a:ln/>
        </p:spPr>
        <p:txBody>
          <a:bodyPr wrap="square" rtlCol="0" anchor="ctr"/>
          <a:lstStyle/>
          <a:p>
            <a:pPr marL="0" indent="0">
              <a:buNone/>
            </a:pPr>
            <a:endParaRPr lang="en-US" sz="850" dirty="0"/>
          </a:p>
        </p:txBody>
      </p:sp>
      <p:sp>
        <p:nvSpPr>
          <p:cNvPr id="26" name="Text 20"/>
          <p:cNvSpPr/>
          <p:nvPr/>
        </p:nvSpPr>
        <p:spPr>
          <a:xfrm>
            <a:off x="4754880" y="6135624"/>
            <a:ext cx="3566160" cy="274320"/>
          </a:xfrm>
          <a:prstGeom prst="rect">
            <a:avLst/>
          </a:prstGeom>
          <a:noFill/>
          <a:ln/>
        </p:spPr>
        <p:txBody>
          <a:bodyPr wrap="square" rtlCol="0" anchor="ctr"/>
          <a:lstStyle/>
          <a:p>
            <a:pPr marL="0" indent="0">
              <a:buNone/>
            </a:pPr>
            <a:endParaRPr lang="en-US" sz="1200" dirty="0"/>
          </a:p>
        </p:txBody>
      </p:sp>
      <p:sp>
        <p:nvSpPr>
          <p:cNvPr id="27" name="Text 21"/>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BFE3CF"/>
                </a:solidFill>
                <a:latin typeface="Arial" pitchFamily="34" charset="0"/>
                <a:ea typeface="Arial" pitchFamily="34" charset="-122"/>
                <a:cs typeface="Arial" pitchFamily="34" charset="-120"/>
              </a:rPr>
              <a:t>CARBONCHECK</a:t>
            </a:r>
            <a:endParaRPr lang="en-US" sz="900" dirty="0"/>
          </a:p>
        </p:txBody>
      </p:sp>
      <p:sp>
        <p:nvSpPr>
          <p:cNvPr id="28" name="Text 22"/>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BFE3CF"/>
                </a:solidFill>
                <a:latin typeface="Arial" pitchFamily="34" charset="0"/>
                <a:ea typeface="Arial" pitchFamily="34" charset="-122"/>
                <a:cs typeface="Arial" pitchFamily="34" charset="-120"/>
              </a:rPr>
              <a:t>01 / 22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AGENDA</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Table of Contents</a:t>
            </a:r>
            <a:endParaRPr lang="en-US" sz="3200" dirty="0"/>
          </a:p>
        </p:txBody>
      </p:sp>
      <p:sp>
        <p:nvSpPr>
          <p:cNvPr id="4" name="Text 2"/>
          <p:cNvSpPr/>
          <p:nvPr/>
        </p:nvSpPr>
        <p:spPr>
          <a:xfrm>
            <a:off x="640080" y="1783080"/>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01</a:t>
            </a:r>
            <a:endParaRPr lang="en-US" sz="1300" dirty="0"/>
          </a:p>
        </p:txBody>
      </p:sp>
      <p:sp>
        <p:nvSpPr>
          <p:cNvPr id="5" name="Text 3"/>
          <p:cNvSpPr/>
          <p:nvPr/>
        </p:nvSpPr>
        <p:spPr>
          <a:xfrm>
            <a:off x="1143000" y="1783080"/>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Introduction</a:t>
            </a:r>
            <a:endParaRPr lang="en-US" sz="1400" dirty="0"/>
          </a:p>
        </p:txBody>
      </p:sp>
      <p:sp>
        <p:nvSpPr>
          <p:cNvPr id="6" name="Text 4"/>
          <p:cNvSpPr/>
          <p:nvPr/>
        </p:nvSpPr>
        <p:spPr>
          <a:xfrm>
            <a:off x="640080" y="2221992"/>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02</a:t>
            </a:r>
            <a:endParaRPr lang="en-US" sz="1300" dirty="0"/>
          </a:p>
        </p:txBody>
      </p:sp>
      <p:sp>
        <p:nvSpPr>
          <p:cNvPr id="7" name="Text 5"/>
          <p:cNvSpPr/>
          <p:nvPr/>
        </p:nvSpPr>
        <p:spPr>
          <a:xfrm>
            <a:off x="1143000" y="2221992"/>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Problem Statement</a:t>
            </a:r>
            <a:endParaRPr lang="en-US" sz="1400" dirty="0"/>
          </a:p>
        </p:txBody>
      </p:sp>
      <p:sp>
        <p:nvSpPr>
          <p:cNvPr id="8" name="Text 6"/>
          <p:cNvSpPr/>
          <p:nvPr/>
        </p:nvSpPr>
        <p:spPr>
          <a:xfrm>
            <a:off x="640080" y="2660904"/>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03</a:t>
            </a:r>
            <a:endParaRPr lang="en-US" sz="1300" dirty="0"/>
          </a:p>
        </p:txBody>
      </p:sp>
      <p:sp>
        <p:nvSpPr>
          <p:cNvPr id="9" name="Text 7"/>
          <p:cNvSpPr/>
          <p:nvPr/>
        </p:nvSpPr>
        <p:spPr>
          <a:xfrm>
            <a:off x="1143000" y="2660904"/>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Objectives</a:t>
            </a:r>
            <a:endParaRPr lang="en-US" sz="1400" dirty="0"/>
          </a:p>
        </p:txBody>
      </p:sp>
      <p:sp>
        <p:nvSpPr>
          <p:cNvPr id="10" name="Text 8"/>
          <p:cNvSpPr/>
          <p:nvPr/>
        </p:nvSpPr>
        <p:spPr>
          <a:xfrm>
            <a:off x="640080" y="3099816"/>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04</a:t>
            </a:r>
            <a:endParaRPr lang="en-US" sz="1300" dirty="0"/>
          </a:p>
        </p:txBody>
      </p:sp>
      <p:sp>
        <p:nvSpPr>
          <p:cNvPr id="11" name="Text 9"/>
          <p:cNvSpPr/>
          <p:nvPr/>
        </p:nvSpPr>
        <p:spPr>
          <a:xfrm>
            <a:off x="1143000" y="3099816"/>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SDG Alignment</a:t>
            </a:r>
            <a:endParaRPr lang="en-US" sz="1400" dirty="0"/>
          </a:p>
        </p:txBody>
      </p:sp>
      <p:sp>
        <p:nvSpPr>
          <p:cNvPr id="12" name="Text 10"/>
          <p:cNvSpPr/>
          <p:nvPr/>
        </p:nvSpPr>
        <p:spPr>
          <a:xfrm>
            <a:off x="640080" y="3538728"/>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05</a:t>
            </a:r>
            <a:endParaRPr lang="en-US" sz="1300" dirty="0"/>
          </a:p>
        </p:txBody>
      </p:sp>
      <p:sp>
        <p:nvSpPr>
          <p:cNvPr id="13" name="Text 11"/>
          <p:cNvSpPr/>
          <p:nvPr/>
        </p:nvSpPr>
        <p:spPr>
          <a:xfrm>
            <a:off x="1143000" y="3538728"/>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Existing System</a:t>
            </a:r>
            <a:endParaRPr lang="en-US" sz="1400" dirty="0"/>
          </a:p>
        </p:txBody>
      </p:sp>
      <p:sp>
        <p:nvSpPr>
          <p:cNvPr id="14" name="Text 12"/>
          <p:cNvSpPr/>
          <p:nvPr/>
        </p:nvSpPr>
        <p:spPr>
          <a:xfrm>
            <a:off x="640080" y="3977640"/>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06</a:t>
            </a:r>
            <a:endParaRPr lang="en-US" sz="1300" dirty="0"/>
          </a:p>
        </p:txBody>
      </p:sp>
      <p:sp>
        <p:nvSpPr>
          <p:cNvPr id="15" name="Text 13"/>
          <p:cNvSpPr/>
          <p:nvPr/>
        </p:nvSpPr>
        <p:spPr>
          <a:xfrm>
            <a:off x="1143000" y="3977640"/>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Proposed System</a:t>
            </a:r>
            <a:endParaRPr lang="en-US" sz="1400" dirty="0"/>
          </a:p>
        </p:txBody>
      </p:sp>
      <p:sp>
        <p:nvSpPr>
          <p:cNvPr id="16" name="Text 14"/>
          <p:cNvSpPr/>
          <p:nvPr/>
        </p:nvSpPr>
        <p:spPr>
          <a:xfrm>
            <a:off x="640080" y="4416552"/>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07</a:t>
            </a:r>
            <a:endParaRPr lang="en-US" sz="1300" dirty="0"/>
          </a:p>
        </p:txBody>
      </p:sp>
      <p:sp>
        <p:nvSpPr>
          <p:cNvPr id="17" name="Text 15"/>
          <p:cNvSpPr/>
          <p:nvPr/>
        </p:nvSpPr>
        <p:spPr>
          <a:xfrm>
            <a:off x="1143000" y="4416552"/>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Technology Stack</a:t>
            </a:r>
            <a:endParaRPr lang="en-US" sz="1400" dirty="0"/>
          </a:p>
        </p:txBody>
      </p:sp>
      <p:sp>
        <p:nvSpPr>
          <p:cNvPr id="18" name="Text 16"/>
          <p:cNvSpPr/>
          <p:nvPr/>
        </p:nvSpPr>
        <p:spPr>
          <a:xfrm>
            <a:off x="640080" y="4855464"/>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08</a:t>
            </a:r>
            <a:endParaRPr lang="en-US" sz="1300" dirty="0"/>
          </a:p>
        </p:txBody>
      </p:sp>
      <p:sp>
        <p:nvSpPr>
          <p:cNvPr id="19" name="Text 17"/>
          <p:cNvSpPr/>
          <p:nvPr/>
        </p:nvSpPr>
        <p:spPr>
          <a:xfrm>
            <a:off x="1143000" y="4855464"/>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System Architecture</a:t>
            </a:r>
            <a:endParaRPr lang="en-US" sz="1400" dirty="0"/>
          </a:p>
        </p:txBody>
      </p:sp>
      <p:sp>
        <p:nvSpPr>
          <p:cNvPr id="20" name="Text 18"/>
          <p:cNvSpPr/>
          <p:nvPr/>
        </p:nvSpPr>
        <p:spPr>
          <a:xfrm>
            <a:off x="640080" y="5294376"/>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09</a:t>
            </a:r>
            <a:endParaRPr lang="en-US" sz="1300" dirty="0"/>
          </a:p>
        </p:txBody>
      </p:sp>
      <p:sp>
        <p:nvSpPr>
          <p:cNvPr id="21" name="Text 19"/>
          <p:cNvSpPr/>
          <p:nvPr/>
        </p:nvSpPr>
        <p:spPr>
          <a:xfrm>
            <a:off x="1143000" y="5294376"/>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AI Model</a:t>
            </a:r>
            <a:endParaRPr lang="en-US" sz="1400" dirty="0"/>
          </a:p>
        </p:txBody>
      </p:sp>
      <p:sp>
        <p:nvSpPr>
          <p:cNvPr id="22" name="Text 20"/>
          <p:cNvSpPr/>
          <p:nvPr/>
        </p:nvSpPr>
        <p:spPr>
          <a:xfrm>
            <a:off x="640080" y="5733288"/>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10</a:t>
            </a:r>
            <a:endParaRPr lang="en-US" sz="1300" dirty="0"/>
          </a:p>
        </p:txBody>
      </p:sp>
      <p:sp>
        <p:nvSpPr>
          <p:cNvPr id="23" name="Text 21"/>
          <p:cNvSpPr/>
          <p:nvPr/>
        </p:nvSpPr>
        <p:spPr>
          <a:xfrm>
            <a:off x="1143000" y="5733288"/>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Workflow</a:t>
            </a:r>
            <a:endParaRPr lang="en-US" sz="1400" dirty="0"/>
          </a:p>
        </p:txBody>
      </p:sp>
      <p:sp>
        <p:nvSpPr>
          <p:cNvPr id="24" name="Text 22"/>
          <p:cNvSpPr/>
          <p:nvPr/>
        </p:nvSpPr>
        <p:spPr>
          <a:xfrm>
            <a:off x="6355080" y="1783080"/>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11</a:t>
            </a:r>
            <a:endParaRPr lang="en-US" sz="1300" dirty="0"/>
          </a:p>
        </p:txBody>
      </p:sp>
      <p:sp>
        <p:nvSpPr>
          <p:cNvPr id="25" name="Text 23"/>
          <p:cNvSpPr/>
          <p:nvPr/>
        </p:nvSpPr>
        <p:spPr>
          <a:xfrm>
            <a:off x="6858000" y="1783080"/>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Features</a:t>
            </a:r>
            <a:endParaRPr lang="en-US" sz="1400" dirty="0"/>
          </a:p>
        </p:txBody>
      </p:sp>
      <p:sp>
        <p:nvSpPr>
          <p:cNvPr id="26" name="Text 24"/>
          <p:cNvSpPr/>
          <p:nvPr/>
        </p:nvSpPr>
        <p:spPr>
          <a:xfrm>
            <a:off x="6355080" y="2221992"/>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12</a:t>
            </a:r>
            <a:endParaRPr lang="en-US" sz="1300" dirty="0"/>
          </a:p>
        </p:txBody>
      </p:sp>
      <p:sp>
        <p:nvSpPr>
          <p:cNvPr id="27" name="Text 25"/>
          <p:cNvSpPr/>
          <p:nvPr/>
        </p:nvSpPr>
        <p:spPr>
          <a:xfrm>
            <a:off x="6858000" y="2221992"/>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Dashboard</a:t>
            </a:r>
            <a:endParaRPr lang="en-US" sz="1400" dirty="0"/>
          </a:p>
        </p:txBody>
      </p:sp>
      <p:sp>
        <p:nvSpPr>
          <p:cNvPr id="28" name="Text 26"/>
          <p:cNvSpPr/>
          <p:nvPr/>
        </p:nvSpPr>
        <p:spPr>
          <a:xfrm>
            <a:off x="6355080" y="2660904"/>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13</a:t>
            </a:r>
            <a:endParaRPr lang="en-US" sz="1300" dirty="0"/>
          </a:p>
        </p:txBody>
      </p:sp>
      <p:sp>
        <p:nvSpPr>
          <p:cNvPr id="29" name="Text 27"/>
          <p:cNvSpPr/>
          <p:nvPr/>
        </p:nvSpPr>
        <p:spPr>
          <a:xfrm>
            <a:off x="6858000" y="2660904"/>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Website Screens</a:t>
            </a:r>
            <a:endParaRPr lang="en-US" sz="1400" dirty="0"/>
          </a:p>
        </p:txBody>
      </p:sp>
      <p:sp>
        <p:nvSpPr>
          <p:cNvPr id="30" name="Text 28"/>
          <p:cNvSpPr/>
          <p:nvPr/>
        </p:nvSpPr>
        <p:spPr>
          <a:xfrm>
            <a:off x="6355080" y="3099816"/>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14</a:t>
            </a:r>
            <a:endParaRPr lang="en-US" sz="1300" dirty="0"/>
          </a:p>
        </p:txBody>
      </p:sp>
      <p:sp>
        <p:nvSpPr>
          <p:cNvPr id="31" name="Text 29"/>
          <p:cNvSpPr/>
          <p:nvPr/>
        </p:nvSpPr>
        <p:spPr>
          <a:xfrm>
            <a:off x="6858000" y="3099816"/>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Activity Screens</a:t>
            </a:r>
            <a:endParaRPr lang="en-US" sz="1400" dirty="0"/>
          </a:p>
        </p:txBody>
      </p:sp>
      <p:sp>
        <p:nvSpPr>
          <p:cNvPr id="32" name="Text 30"/>
          <p:cNvSpPr/>
          <p:nvPr/>
        </p:nvSpPr>
        <p:spPr>
          <a:xfrm>
            <a:off x="6355080" y="3538728"/>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15</a:t>
            </a:r>
            <a:endParaRPr lang="en-US" sz="1300" dirty="0"/>
          </a:p>
        </p:txBody>
      </p:sp>
      <p:sp>
        <p:nvSpPr>
          <p:cNvPr id="33" name="Text 31"/>
          <p:cNvSpPr/>
          <p:nvPr/>
        </p:nvSpPr>
        <p:spPr>
          <a:xfrm>
            <a:off x="6858000" y="3538728"/>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Results</a:t>
            </a:r>
            <a:endParaRPr lang="en-US" sz="1400" dirty="0"/>
          </a:p>
        </p:txBody>
      </p:sp>
      <p:sp>
        <p:nvSpPr>
          <p:cNvPr id="34" name="Text 32"/>
          <p:cNvSpPr/>
          <p:nvPr/>
        </p:nvSpPr>
        <p:spPr>
          <a:xfrm>
            <a:off x="6355080" y="3977640"/>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16</a:t>
            </a:r>
            <a:endParaRPr lang="en-US" sz="1300" dirty="0"/>
          </a:p>
        </p:txBody>
      </p:sp>
      <p:sp>
        <p:nvSpPr>
          <p:cNvPr id="35" name="Text 33"/>
          <p:cNvSpPr/>
          <p:nvPr/>
        </p:nvSpPr>
        <p:spPr>
          <a:xfrm>
            <a:off x="6858000" y="3977640"/>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Advantages</a:t>
            </a:r>
            <a:endParaRPr lang="en-US" sz="1400" dirty="0"/>
          </a:p>
        </p:txBody>
      </p:sp>
      <p:sp>
        <p:nvSpPr>
          <p:cNvPr id="36" name="Text 34"/>
          <p:cNvSpPr/>
          <p:nvPr/>
        </p:nvSpPr>
        <p:spPr>
          <a:xfrm>
            <a:off x="6355080" y="4416552"/>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17</a:t>
            </a:r>
            <a:endParaRPr lang="en-US" sz="1300" dirty="0"/>
          </a:p>
        </p:txBody>
      </p:sp>
      <p:sp>
        <p:nvSpPr>
          <p:cNvPr id="37" name="Text 35"/>
          <p:cNvSpPr/>
          <p:nvPr/>
        </p:nvSpPr>
        <p:spPr>
          <a:xfrm>
            <a:off x="6858000" y="4416552"/>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Future Scope</a:t>
            </a:r>
            <a:endParaRPr lang="en-US" sz="1400" dirty="0"/>
          </a:p>
        </p:txBody>
      </p:sp>
      <p:sp>
        <p:nvSpPr>
          <p:cNvPr id="38" name="Text 36"/>
          <p:cNvSpPr/>
          <p:nvPr/>
        </p:nvSpPr>
        <p:spPr>
          <a:xfrm>
            <a:off x="6355080" y="4855464"/>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18</a:t>
            </a:r>
            <a:endParaRPr lang="en-US" sz="1300" dirty="0"/>
          </a:p>
        </p:txBody>
      </p:sp>
      <p:sp>
        <p:nvSpPr>
          <p:cNvPr id="39" name="Text 37"/>
          <p:cNvSpPr/>
          <p:nvPr/>
        </p:nvSpPr>
        <p:spPr>
          <a:xfrm>
            <a:off x="6858000" y="4855464"/>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Conclusion</a:t>
            </a:r>
            <a:endParaRPr lang="en-US" sz="1400" dirty="0"/>
          </a:p>
        </p:txBody>
      </p:sp>
      <p:sp>
        <p:nvSpPr>
          <p:cNvPr id="40" name="Text 38"/>
          <p:cNvSpPr/>
          <p:nvPr/>
        </p:nvSpPr>
        <p:spPr>
          <a:xfrm>
            <a:off x="6355080" y="5294376"/>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19</a:t>
            </a:r>
            <a:endParaRPr lang="en-US" sz="1300" dirty="0"/>
          </a:p>
        </p:txBody>
      </p:sp>
      <p:sp>
        <p:nvSpPr>
          <p:cNvPr id="41" name="Text 39"/>
          <p:cNvSpPr/>
          <p:nvPr/>
        </p:nvSpPr>
        <p:spPr>
          <a:xfrm>
            <a:off x="6858000" y="5294376"/>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References</a:t>
            </a:r>
            <a:endParaRPr lang="en-US" sz="1400" dirty="0"/>
          </a:p>
        </p:txBody>
      </p:sp>
      <p:sp>
        <p:nvSpPr>
          <p:cNvPr id="42" name="Text 40"/>
          <p:cNvSpPr/>
          <p:nvPr/>
        </p:nvSpPr>
        <p:spPr>
          <a:xfrm>
            <a:off x="6355080" y="5733288"/>
            <a:ext cx="457200" cy="365760"/>
          </a:xfrm>
          <a:prstGeom prst="rect">
            <a:avLst/>
          </a:prstGeom>
          <a:noFill/>
          <a:ln/>
        </p:spPr>
        <p:txBody>
          <a:bodyPr wrap="square" rtlCol="0" anchor="ctr"/>
          <a:lstStyle/>
          <a:p>
            <a:pPr marL="0" indent="0">
              <a:buNone/>
            </a:pPr>
            <a:r>
              <a:rPr lang="en-US" sz="1300" b="1" dirty="0">
                <a:solidFill>
                  <a:srgbClr val="2D9C6F"/>
                </a:solidFill>
                <a:latin typeface="Poppins" pitchFamily="34" charset="0"/>
                <a:ea typeface="Poppins" pitchFamily="34" charset="-122"/>
                <a:cs typeface="Poppins" pitchFamily="34" charset="-120"/>
              </a:rPr>
              <a:t>20</a:t>
            </a:r>
            <a:endParaRPr lang="en-US" sz="1300" dirty="0"/>
          </a:p>
        </p:txBody>
      </p:sp>
      <p:sp>
        <p:nvSpPr>
          <p:cNvPr id="43" name="Text 41"/>
          <p:cNvSpPr/>
          <p:nvPr/>
        </p:nvSpPr>
        <p:spPr>
          <a:xfrm>
            <a:off x="6858000" y="5733288"/>
            <a:ext cx="4663440" cy="365760"/>
          </a:xfrm>
          <a:prstGeom prst="rect">
            <a:avLst/>
          </a:prstGeom>
          <a:noFill/>
          <a:ln/>
        </p:spPr>
        <p:txBody>
          <a:bodyPr wrap="square" rtlCol="0" anchor="ctr"/>
          <a:lstStyle/>
          <a:p>
            <a:pPr marL="0" indent="0">
              <a:buNone/>
            </a:pPr>
            <a:r>
              <a:rPr lang="en-US" sz="1400" dirty="0">
                <a:solidFill>
                  <a:srgbClr val="1C2B23"/>
                </a:solidFill>
                <a:latin typeface="Arial" pitchFamily="34" charset="0"/>
                <a:ea typeface="Arial" pitchFamily="34" charset="-122"/>
                <a:cs typeface="Arial" pitchFamily="34" charset="-120"/>
              </a:rPr>
              <a:t>Thank You</a:t>
            </a:r>
            <a:endParaRPr lang="en-US" sz="1400" dirty="0"/>
          </a:p>
        </p:txBody>
      </p:sp>
      <p:sp>
        <p:nvSpPr>
          <p:cNvPr id="44" name="Text 42"/>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45" name="Text 43"/>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INTRODUCTION</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Understanding the Bigger Picture</a:t>
            </a:r>
            <a:endParaRPr lang="en-US" sz="3200" dirty="0"/>
          </a:p>
        </p:txBody>
      </p:sp>
      <p:sp>
        <p:nvSpPr>
          <p:cNvPr id="4" name="Shape 2"/>
          <p:cNvSpPr/>
          <p:nvPr/>
        </p:nvSpPr>
        <p:spPr>
          <a:xfrm>
            <a:off x="640080"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896112" y="2039112"/>
            <a:ext cx="566928" cy="566928"/>
          </a:xfrm>
          <a:prstGeom prst="ellipse">
            <a:avLst/>
          </a:prstGeom>
          <a:solidFill>
            <a:srgbClr val="E8F6EE"/>
          </a:solidFill>
          <a:ln/>
        </p:spPr>
      </p:sp>
      <p:pic>
        <p:nvPicPr>
          <p:cNvPr id="6" name="Image 0" descr="/home/claude/carboncheck/icons/triangle_warn.png"/>
          <p:cNvPicPr>
            <a:picLocks noChangeAspect="1"/>
          </p:cNvPicPr>
          <p:nvPr/>
        </p:nvPicPr>
        <p:blipFill>
          <a:blip r:embed="rId4"/>
          <a:stretch>
            <a:fillRect/>
          </a:stretch>
        </p:blipFill>
        <p:spPr>
          <a:xfrm>
            <a:off x="969813" y="2112813"/>
            <a:ext cx="419527" cy="419527"/>
          </a:xfrm>
          <a:prstGeom prst="rect">
            <a:avLst/>
          </a:prstGeom>
        </p:spPr>
      </p:pic>
      <p:sp>
        <p:nvSpPr>
          <p:cNvPr id="7" name="Text 4"/>
          <p:cNvSpPr/>
          <p:nvPr/>
        </p:nvSpPr>
        <p:spPr>
          <a:xfrm>
            <a:off x="896112"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Climate Change</a:t>
            </a:r>
            <a:endParaRPr lang="en-US" sz="1500" dirty="0"/>
          </a:p>
        </p:txBody>
      </p:sp>
      <p:sp>
        <p:nvSpPr>
          <p:cNvPr id="8" name="Text 5"/>
          <p:cNvSpPr/>
          <p:nvPr/>
        </p:nvSpPr>
        <p:spPr>
          <a:xfrm>
            <a:off x="896112"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Long-term shifts in temperature and weather patterns, largely driven by human activity since the industrial era.</a:t>
            </a:r>
            <a:endParaRPr lang="en-US" sz="1050" dirty="0"/>
          </a:p>
        </p:txBody>
      </p:sp>
      <p:sp>
        <p:nvSpPr>
          <p:cNvPr id="9" name="Shape 6"/>
          <p:cNvSpPr/>
          <p:nvPr/>
        </p:nvSpPr>
        <p:spPr>
          <a:xfrm>
            <a:off x="4416552"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0" name="Shape 7"/>
          <p:cNvSpPr/>
          <p:nvPr/>
        </p:nvSpPr>
        <p:spPr>
          <a:xfrm>
            <a:off x="4672584" y="2039112"/>
            <a:ext cx="566928" cy="566928"/>
          </a:xfrm>
          <a:prstGeom prst="ellipse">
            <a:avLst/>
          </a:prstGeom>
          <a:solidFill>
            <a:srgbClr val="E8F6EE"/>
          </a:solidFill>
          <a:ln/>
        </p:spPr>
      </p:sp>
      <p:pic>
        <p:nvPicPr>
          <p:cNvPr id="11" name="Image 1" descr="/home/claude/carboncheck/icons/cloud.png"/>
          <p:cNvPicPr>
            <a:picLocks noChangeAspect="1"/>
          </p:cNvPicPr>
          <p:nvPr/>
        </p:nvPicPr>
        <p:blipFill>
          <a:blip r:embed="rId5"/>
          <a:stretch>
            <a:fillRect/>
          </a:stretch>
        </p:blipFill>
        <p:spPr>
          <a:xfrm>
            <a:off x="4746285" y="2112813"/>
            <a:ext cx="419527" cy="419527"/>
          </a:xfrm>
          <a:prstGeom prst="rect">
            <a:avLst/>
          </a:prstGeom>
        </p:spPr>
      </p:pic>
      <p:sp>
        <p:nvSpPr>
          <p:cNvPr id="12" name="Text 8"/>
          <p:cNvSpPr/>
          <p:nvPr/>
        </p:nvSpPr>
        <p:spPr>
          <a:xfrm>
            <a:off x="4672584"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Carbon Footprint</a:t>
            </a:r>
            <a:endParaRPr lang="en-US" sz="1500" dirty="0"/>
          </a:p>
        </p:txBody>
      </p:sp>
      <p:sp>
        <p:nvSpPr>
          <p:cNvPr id="13" name="Text 9"/>
          <p:cNvSpPr/>
          <p:nvPr/>
        </p:nvSpPr>
        <p:spPr>
          <a:xfrm>
            <a:off x="4672584"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The total greenhouse gas emissions caused directly and indirectly by an individual, household, or organization.</a:t>
            </a:r>
            <a:endParaRPr lang="en-US" sz="1050" dirty="0"/>
          </a:p>
        </p:txBody>
      </p:sp>
      <p:sp>
        <p:nvSpPr>
          <p:cNvPr id="14" name="Shape 10"/>
          <p:cNvSpPr/>
          <p:nvPr/>
        </p:nvSpPr>
        <p:spPr>
          <a:xfrm>
            <a:off x="8193024"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5" name="Shape 11"/>
          <p:cNvSpPr/>
          <p:nvPr/>
        </p:nvSpPr>
        <p:spPr>
          <a:xfrm>
            <a:off x="8449056" y="2039112"/>
            <a:ext cx="566928" cy="566928"/>
          </a:xfrm>
          <a:prstGeom prst="ellipse">
            <a:avLst/>
          </a:prstGeom>
          <a:solidFill>
            <a:srgbClr val="E8F6EE"/>
          </a:solidFill>
          <a:ln/>
        </p:spPr>
      </p:sp>
      <p:pic>
        <p:nvPicPr>
          <p:cNvPr id="16" name="Image 2" descr="/home/claude/carboncheck/icons/globe.png"/>
          <p:cNvPicPr>
            <a:picLocks noChangeAspect="1"/>
          </p:cNvPicPr>
          <p:nvPr/>
        </p:nvPicPr>
        <p:blipFill>
          <a:blip r:embed="rId6"/>
          <a:stretch>
            <a:fillRect/>
          </a:stretch>
        </p:blipFill>
        <p:spPr>
          <a:xfrm>
            <a:off x="8522757" y="2112813"/>
            <a:ext cx="419527" cy="419527"/>
          </a:xfrm>
          <a:prstGeom prst="rect">
            <a:avLst/>
          </a:prstGeom>
        </p:spPr>
      </p:pic>
      <p:sp>
        <p:nvSpPr>
          <p:cNvPr id="17" name="Text 12"/>
          <p:cNvSpPr/>
          <p:nvPr/>
        </p:nvSpPr>
        <p:spPr>
          <a:xfrm>
            <a:off x="8449056"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Global Warming</a:t>
            </a:r>
            <a:endParaRPr lang="en-US" sz="1500" dirty="0"/>
          </a:p>
        </p:txBody>
      </p:sp>
      <p:sp>
        <p:nvSpPr>
          <p:cNvPr id="18" name="Text 13"/>
          <p:cNvSpPr/>
          <p:nvPr/>
        </p:nvSpPr>
        <p:spPr>
          <a:xfrm>
            <a:off x="8449056"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The steady rise in Earth’s average surface temperature due to increasing concentrations of CO₂ and other gases.</a:t>
            </a:r>
            <a:endParaRPr lang="en-US" sz="1050" dirty="0"/>
          </a:p>
        </p:txBody>
      </p:sp>
      <p:sp>
        <p:nvSpPr>
          <p:cNvPr id="19" name="Shape 14"/>
          <p:cNvSpPr/>
          <p:nvPr/>
        </p:nvSpPr>
        <p:spPr>
          <a:xfrm>
            <a:off x="2528316" y="4005072"/>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0" name="Shape 15"/>
          <p:cNvSpPr/>
          <p:nvPr/>
        </p:nvSpPr>
        <p:spPr>
          <a:xfrm>
            <a:off x="2784348" y="4261104"/>
            <a:ext cx="566928" cy="566928"/>
          </a:xfrm>
          <a:prstGeom prst="ellipse">
            <a:avLst/>
          </a:prstGeom>
          <a:solidFill>
            <a:srgbClr val="E8F6EE"/>
          </a:solidFill>
          <a:ln/>
        </p:spPr>
      </p:sp>
      <p:pic>
        <p:nvPicPr>
          <p:cNvPr id="21" name="Image 3" descr="/home/claude/carboncheck/icons/leaf.png"/>
          <p:cNvPicPr>
            <a:picLocks noChangeAspect="1"/>
          </p:cNvPicPr>
          <p:nvPr/>
        </p:nvPicPr>
        <p:blipFill>
          <a:blip r:embed="rId7"/>
          <a:stretch>
            <a:fillRect/>
          </a:stretch>
        </p:blipFill>
        <p:spPr>
          <a:xfrm>
            <a:off x="2858049" y="4334805"/>
            <a:ext cx="419527" cy="419527"/>
          </a:xfrm>
          <a:prstGeom prst="rect">
            <a:avLst/>
          </a:prstGeom>
        </p:spPr>
      </p:pic>
      <p:sp>
        <p:nvSpPr>
          <p:cNvPr id="22" name="Text 16"/>
          <p:cNvSpPr/>
          <p:nvPr/>
        </p:nvSpPr>
        <p:spPr>
          <a:xfrm>
            <a:off x="2784348" y="4937760"/>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Sustainable Living</a:t>
            </a:r>
            <a:endParaRPr lang="en-US" sz="1500" dirty="0"/>
          </a:p>
        </p:txBody>
      </p:sp>
      <p:sp>
        <p:nvSpPr>
          <p:cNvPr id="23" name="Text 17"/>
          <p:cNvSpPr/>
          <p:nvPr/>
        </p:nvSpPr>
        <p:spPr>
          <a:xfrm>
            <a:off x="2784348" y="5285232"/>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Everyday choices in transport, energy, and consumption that reduce environmental impact over time.</a:t>
            </a:r>
            <a:endParaRPr lang="en-US" sz="1050" dirty="0"/>
          </a:p>
        </p:txBody>
      </p:sp>
      <p:sp>
        <p:nvSpPr>
          <p:cNvPr id="24" name="Shape 18"/>
          <p:cNvSpPr/>
          <p:nvPr/>
        </p:nvSpPr>
        <p:spPr>
          <a:xfrm>
            <a:off x="6304788" y="4005072"/>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9"/>
          <p:cNvSpPr/>
          <p:nvPr/>
        </p:nvSpPr>
        <p:spPr>
          <a:xfrm>
            <a:off x="6560820" y="4261104"/>
            <a:ext cx="566928" cy="566928"/>
          </a:xfrm>
          <a:prstGeom prst="ellipse">
            <a:avLst/>
          </a:prstGeom>
          <a:solidFill>
            <a:srgbClr val="E8F6EE"/>
          </a:solidFill>
          <a:ln/>
        </p:spPr>
      </p:sp>
      <p:pic>
        <p:nvPicPr>
          <p:cNvPr id="26" name="Image 4" descr="/home/claude/carboncheck/icons/brain.png"/>
          <p:cNvPicPr>
            <a:picLocks noChangeAspect="1"/>
          </p:cNvPicPr>
          <p:nvPr/>
        </p:nvPicPr>
        <p:blipFill>
          <a:blip r:embed="rId8"/>
          <a:stretch>
            <a:fillRect/>
          </a:stretch>
        </p:blipFill>
        <p:spPr>
          <a:xfrm>
            <a:off x="6634521" y="4334805"/>
            <a:ext cx="419527" cy="419527"/>
          </a:xfrm>
          <a:prstGeom prst="rect">
            <a:avLst/>
          </a:prstGeom>
        </p:spPr>
      </p:pic>
      <p:sp>
        <p:nvSpPr>
          <p:cNvPr id="27" name="Text 20"/>
          <p:cNvSpPr/>
          <p:nvPr/>
        </p:nvSpPr>
        <p:spPr>
          <a:xfrm>
            <a:off x="6560820" y="4937760"/>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AI for Sustainability</a:t>
            </a:r>
            <a:endParaRPr lang="en-US" sz="1500" dirty="0"/>
          </a:p>
        </p:txBody>
      </p:sp>
      <p:sp>
        <p:nvSpPr>
          <p:cNvPr id="28" name="Text 21"/>
          <p:cNvSpPr/>
          <p:nvPr/>
        </p:nvSpPr>
        <p:spPr>
          <a:xfrm>
            <a:off x="6560820" y="5285232"/>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Machine learning models that analyze lifestyle data to predict impact and recommend greener habits.</a:t>
            </a:r>
            <a:endParaRPr lang="en-US" sz="1050" dirty="0"/>
          </a:p>
        </p:txBody>
      </p:sp>
      <p:sp>
        <p:nvSpPr>
          <p:cNvPr id="29" name="Text 22"/>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0" name="Text 23"/>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PROBLEM STATEMENT</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Why Current Solutions Fall Short</a:t>
            </a:r>
            <a:endParaRPr lang="en-US" sz="3200" dirty="0"/>
          </a:p>
        </p:txBody>
      </p:sp>
      <p:sp>
        <p:nvSpPr>
          <p:cNvPr id="4" name="Shape 2"/>
          <p:cNvSpPr/>
          <p:nvPr/>
        </p:nvSpPr>
        <p:spPr>
          <a:xfrm>
            <a:off x="640080"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896112" y="2039112"/>
            <a:ext cx="566928" cy="566928"/>
          </a:xfrm>
          <a:prstGeom prst="ellipse">
            <a:avLst/>
          </a:prstGeom>
          <a:solidFill>
            <a:srgbClr val="E8F6EE"/>
          </a:solidFill>
          <a:ln/>
        </p:spPr>
      </p:sp>
      <p:pic>
        <p:nvPicPr>
          <p:cNvPr id="6" name="Image 0" descr="/home/claude/carboncheck/icons/triangle_warn.png"/>
          <p:cNvPicPr>
            <a:picLocks noChangeAspect="1"/>
          </p:cNvPicPr>
          <p:nvPr/>
        </p:nvPicPr>
        <p:blipFill>
          <a:blip r:embed="rId4"/>
          <a:stretch>
            <a:fillRect/>
          </a:stretch>
        </p:blipFill>
        <p:spPr>
          <a:xfrm>
            <a:off x="969813" y="2112813"/>
            <a:ext cx="419527" cy="419527"/>
          </a:xfrm>
          <a:prstGeom prst="rect">
            <a:avLst/>
          </a:prstGeom>
        </p:spPr>
      </p:pic>
      <p:sp>
        <p:nvSpPr>
          <p:cNvPr id="7" name="Text 4"/>
          <p:cNvSpPr/>
          <p:nvPr/>
        </p:nvSpPr>
        <p:spPr>
          <a:xfrm>
            <a:off x="896112"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Rising CO₂ Emissions</a:t>
            </a:r>
            <a:endParaRPr lang="en-US" sz="1500" dirty="0"/>
          </a:p>
        </p:txBody>
      </p:sp>
      <p:sp>
        <p:nvSpPr>
          <p:cNvPr id="8" name="Text 5"/>
          <p:cNvSpPr/>
          <p:nvPr/>
        </p:nvSpPr>
        <p:spPr>
          <a:xfrm>
            <a:off x="896112"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Global carbon output continues to climb, accelerating climate change impacts worldwide.</a:t>
            </a:r>
            <a:endParaRPr lang="en-US" sz="1050" dirty="0"/>
          </a:p>
        </p:txBody>
      </p:sp>
      <p:sp>
        <p:nvSpPr>
          <p:cNvPr id="9" name="Shape 6"/>
          <p:cNvSpPr/>
          <p:nvPr/>
        </p:nvSpPr>
        <p:spPr>
          <a:xfrm>
            <a:off x="4416552"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0" name="Shape 7"/>
          <p:cNvSpPr/>
          <p:nvPr/>
        </p:nvSpPr>
        <p:spPr>
          <a:xfrm>
            <a:off x="4672584" y="2039112"/>
            <a:ext cx="566928" cy="566928"/>
          </a:xfrm>
          <a:prstGeom prst="ellipse">
            <a:avLst/>
          </a:prstGeom>
          <a:solidFill>
            <a:srgbClr val="E8F6EE"/>
          </a:solidFill>
          <a:ln/>
        </p:spPr>
      </p:sp>
      <p:pic>
        <p:nvPicPr>
          <p:cNvPr id="11" name="Image 1" descr="/home/claude/carboncheck/icons/circle_info.png"/>
          <p:cNvPicPr>
            <a:picLocks noChangeAspect="1"/>
          </p:cNvPicPr>
          <p:nvPr/>
        </p:nvPicPr>
        <p:blipFill>
          <a:blip r:embed="rId5"/>
          <a:stretch>
            <a:fillRect/>
          </a:stretch>
        </p:blipFill>
        <p:spPr>
          <a:xfrm>
            <a:off x="4746285" y="2112813"/>
            <a:ext cx="419527" cy="419527"/>
          </a:xfrm>
          <a:prstGeom prst="rect">
            <a:avLst/>
          </a:prstGeom>
        </p:spPr>
      </p:pic>
      <p:sp>
        <p:nvSpPr>
          <p:cNvPr id="12" name="Text 8"/>
          <p:cNvSpPr/>
          <p:nvPr/>
        </p:nvSpPr>
        <p:spPr>
          <a:xfrm>
            <a:off x="4672584"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Lack of Awareness</a:t>
            </a:r>
            <a:endParaRPr lang="en-US" sz="1500" dirty="0"/>
          </a:p>
        </p:txBody>
      </p:sp>
      <p:sp>
        <p:nvSpPr>
          <p:cNvPr id="13" name="Text 9"/>
          <p:cNvSpPr/>
          <p:nvPr/>
        </p:nvSpPr>
        <p:spPr>
          <a:xfrm>
            <a:off x="4672584"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Most individuals have no clear visibility into their own daily carbon footprint.</a:t>
            </a:r>
            <a:endParaRPr lang="en-US" sz="1050" dirty="0"/>
          </a:p>
        </p:txBody>
      </p:sp>
      <p:sp>
        <p:nvSpPr>
          <p:cNvPr id="14" name="Shape 10"/>
          <p:cNvSpPr/>
          <p:nvPr/>
        </p:nvSpPr>
        <p:spPr>
          <a:xfrm>
            <a:off x="8193024"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5" name="Shape 11"/>
          <p:cNvSpPr/>
          <p:nvPr/>
        </p:nvSpPr>
        <p:spPr>
          <a:xfrm>
            <a:off x="8449056" y="2039112"/>
            <a:ext cx="566928" cy="566928"/>
          </a:xfrm>
          <a:prstGeom prst="ellipse">
            <a:avLst/>
          </a:prstGeom>
          <a:solidFill>
            <a:srgbClr val="E8F6EE"/>
          </a:solidFill>
          <a:ln/>
        </p:spPr>
      </p:sp>
      <p:pic>
        <p:nvPicPr>
          <p:cNvPr id="16" name="Image 2" descr="/home/claude/carboncheck/icons/gauge.png"/>
          <p:cNvPicPr>
            <a:picLocks noChangeAspect="1"/>
          </p:cNvPicPr>
          <p:nvPr/>
        </p:nvPicPr>
        <p:blipFill>
          <a:blip r:embed="rId6"/>
          <a:stretch>
            <a:fillRect/>
          </a:stretch>
        </p:blipFill>
        <p:spPr>
          <a:xfrm>
            <a:off x="8522757" y="2112813"/>
            <a:ext cx="419527" cy="419527"/>
          </a:xfrm>
          <a:prstGeom prst="rect">
            <a:avLst/>
          </a:prstGeom>
        </p:spPr>
      </p:pic>
      <p:sp>
        <p:nvSpPr>
          <p:cNvPr id="17" name="Text 12"/>
          <p:cNvSpPr/>
          <p:nvPr/>
        </p:nvSpPr>
        <p:spPr>
          <a:xfrm>
            <a:off x="8449056"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Generic Calculators</a:t>
            </a:r>
            <a:endParaRPr lang="en-US" sz="1500" dirty="0"/>
          </a:p>
        </p:txBody>
      </p:sp>
      <p:sp>
        <p:nvSpPr>
          <p:cNvPr id="18" name="Text 13"/>
          <p:cNvSpPr/>
          <p:nvPr/>
        </p:nvSpPr>
        <p:spPr>
          <a:xfrm>
            <a:off x="8449056"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Existing tools rely on static formulas that ignore real lifestyle context.</a:t>
            </a:r>
            <a:endParaRPr lang="en-US" sz="1050" dirty="0"/>
          </a:p>
        </p:txBody>
      </p:sp>
      <p:sp>
        <p:nvSpPr>
          <p:cNvPr id="19" name="Shape 14"/>
          <p:cNvSpPr/>
          <p:nvPr/>
        </p:nvSpPr>
        <p:spPr>
          <a:xfrm>
            <a:off x="2528316" y="4005072"/>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0" name="Shape 15"/>
          <p:cNvSpPr/>
          <p:nvPr/>
        </p:nvSpPr>
        <p:spPr>
          <a:xfrm>
            <a:off x="2784348" y="4261104"/>
            <a:ext cx="566928" cy="566928"/>
          </a:xfrm>
          <a:prstGeom prst="ellipse">
            <a:avLst/>
          </a:prstGeom>
          <a:solidFill>
            <a:srgbClr val="E8F6EE"/>
          </a:solidFill>
          <a:ln/>
        </p:spPr>
      </p:sp>
      <p:pic>
        <p:nvPicPr>
          <p:cNvPr id="21" name="Image 3" descr="/home/claude/carboncheck/icons/xmark.png"/>
          <p:cNvPicPr>
            <a:picLocks noChangeAspect="1"/>
          </p:cNvPicPr>
          <p:nvPr/>
        </p:nvPicPr>
        <p:blipFill>
          <a:blip r:embed="rId7"/>
          <a:stretch>
            <a:fillRect/>
          </a:stretch>
        </p:blipFill>
        <p:spPr>
          <a:xfrm>
            <a:off x="2858049" y="4334805"/>
            <a:ext cx="419527" cy="419527"/>
          </a:xfrm>
          <a:prstGeom prst="rect">
            <a:avLst/>
          </a:prstGeom>
        </p:spPr>
      </p:pic>
      <p:sp>
        <p:nvSpPr>
          <p:cNvPr id="22" name="Text 16"/>
          <p:cNvSpPr/>
          <p:nvPr/>
        </p:nvSpPr>
        <p:spPr>
          <a:xfrm>
            <a:off x="2784348" y="4937760"/>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No Personalization</a:t>
            </a:r>
            <a:endParaRPr lang="en-US" sz="1500" dirty="0"/>
          </a:p>
        </p:txBody>
      </p:sp>
      <p:sp>
        <p:nvSpPr>
          <p:cNvPr id="23" name="Text 17"/>
          <p:cNvSpPr/>
          <p:nvPr/>
        </p:nvSpPr>
        <p:spPr>
          <a:xfrm>
            <a:off x="2784348" y="5285232"/>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Users receive no tailored guidance on how to actually reduce their emissions.</a:t>
            </a:r>
            <a:endParaRPr lang="en-US" sz="1050" dirty="0"/>
          </a:p>
        </p:txBody>
      </p:sp>
      <p:sp>
        <p:nvSpPr>
          <p:cNvPr id="24" name="Shape 18"/>
          <p:cNvSpPr/>
          <p:nvPr/>
        </p:nvSpPr>
        <p:spPr>
          <a:xfrm>
            <a:off x="6304788" y="4005072"/>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9"/>
          <p:cNvSpPr/>
          <p:nvPr/>
        </p:nvSpPr>
        <p:spPr>
          <a:xfrm>
            <a:off x="6560820" y="4261104"/>
            <a:ext cx="566928" cy="566928"/>
          </a:xfrm>
          <a:prstGeom prst="ellipse">
            <a:avLst/>
          </a:prstGeom>
          <a:solidFill>
            <a:srgbClr val="E8F6EE"/>
          </a:solidFill>
          <a:ln/>
        </p:spPr>
      </p:sp>
      <p:pic>
        <p:nvPicPr>
          <p:cNvPr id="26" name="Image 4" descr="/home/claude/carboncheck/icons/brain.png"/>
          <p:cNvPicPr>
            <a:picLocks noChangeAspect="1"/>
          </p:cNvPicPr>
          <p:nvPr/>
        </p:nvPicPr>
        <p:blipFill>
          <a:blip r:embed="rId8"/>
          <a:stretch>
            <a:fillRect/>
          </a:stretch>
        </p:blipFill>
        <p:spPr>
          <a:xfrm>
            <a:off x="6634521" y="4334805"/>
            <a:ext cx="419527" cy="419527"/>
          </a:xfrm>
          <a:prstGeom prst="rect">
            <a:avLst/>
          </a:prstGeom>
        </p:spPr>
      </p:pic>
      <p:sp>
        <p:nvSpPr>
          <p:cNvPr id="27" name="Text 20"/>
          <p:cNvSpPr/>
          <p:nvPr/>
        </p:nvSpPr>
        <p:spPr>
          <a:xfrm>
            <a:off x="6560820" y="4937760"/>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Need for AI-Driven Solutions</a:t>
            </a:r>
            <a:endParaRPr lang="en-US" sz="1500" dirty="0"/>
          </a:p>
        </p:txBody>
      </p:sp>
      <p:sp>
        <p:nvSpPr>
          <p:cNvPr id="28" name="Text 21"/>
          <p:cNvSpPr/>
          <p:nvPr/>
        </p:nvSpPr>
        <p:spPr>
          <a:xfrm>
            <a:off x="6560820" y="5285232"/>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A smarter, data-driven approach is required to close this gap effectively.</a:t>
            </a:r>
            <a:endParaRPr lang="en-US" sz="1050" dirty="0"/>
          </a:p>
        </p:txBody>
      </p:sp>
      <p:sp>
        <p:nvSpPr>
          <p:cNvPr id="29" name="Text 22"/>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0" name="Text 23"/>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PROJECT GOALS</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Objectives</a:t>
            </a:r>
            <a:endParaRPr lang="en-US" sz="3200" dirty="0"/>
          </a:p>
        </p:txBody>
      </p:sp>
      <p:sp>
        <p:nvSpPr>
          <p:cNvPr id="4" name="Shape 2"/>
          <p:cNvSpPr/>
          <p:nvPr/>
        </p:nvSpPr>
        <p:spPr>
          <a:xfrm>
            <a:off x="640080"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896112" y="2039112"/>
            <a:ext cx="566928" cy="566928"/>
          </a:xfrm>
          <a:prstGeom prst="ellipse">
            <a:avLst/>
          </a:prstGeom>
          <a:solidFill>
            <a:srgbClr val="E8F6EE"/>
          </a:solidFill>
          <a:ln/>
        </p:spPr>
      </p:sp>
      <p:pic>
        <p:nvPicPr>
          <p:cNvPr id="6" name="Image 0" descr="/home/claude/carboncheck/icons/gauge.png"/>
          <p:cNvPicPr>
            <a:picLocks noChangeAspect="1"/>
          </p:cNvPicPr>
          <p:nvPr/>
        </p:nvPicPr>
        <p:blipFill>
          <a:blip r:embed="rId4"/>
          <a:stretch>
            <a:fillRect/>
          </a:stretch>
        </p:blipFill>
        <p:spPr>
          <a:xfrm>
            <a:off x="969813" y="2112813"/>
            <a:ext cx="419527" cy="419527"/>
          </a:xfrm>
          <a:prstGeom prst="rect">
            <a:avLst/>
          </a:prstGeom>
        </p:spPr>
      </p:pic>
      <p:sp>
        <p:nvSpPr>
          <p:cNvPr id="7" name="Text 4"/>
          <p:cNvSpPr/>
          <p:nvPr/>
        </p:nvSpPr>
        <p:spPr>
          <a:xfrm>
            <a:off x="896112"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Calculate Carbon Footprint</a:t>
            </a:r>
            <a:endParaRPr lang="en-US" sz="1500" dirty="0"/>
          </a:p>
        </p:txBody>
      </p:sp>
      <p:sp>
        <p:nvSpPr>
          <p:cNvPr id="8" name="Text 5"/>
          <p:cNvSpPr/>
          <p:nvPr/>
        </p:nvSpPr>
        <p:spPr>
          <a:xfrm>
            <a:off x="896112"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Provide an accurate, data-driven measurement of individual carbon output.</a:t>
            </a:r>
            <a:endParaRPr lang="en-US" sz="1050" dirty="0"/>
          </a:p>
        </p:txBody>
      </p:sp>
      <p:sp>
        <p:nvSpPr>
          <p:cNvPr id="9" name="Shape 6"/>
          <p:cNvSpPr/>
          <p:nvPr/>
        </p:nvSpPr>
        <p:spPr>
          <a:xfrm>
            <a:off x="4416552"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0" name="Shape 7"/>
          <p:cNvSpPr/>
          <p:nvPr/>
        </p:nvSpPr>
        <p:spPr>
          <a:xfrm>
            <a:off x="4672584" y="2039112"/>
            <a:ext cx="566928" cy="566928"/>
          </a:xfrm>
          <a:prstGeom prst="ellipse">
            <a:avLst/>
          </a:prstGeom>
          <a:solidFill>
            <a:srgbClr val="E8F6EE"/>
          </a:solidFill>
          <a:ln/>
        </p:spPr>
      </p:sp>
      <p:pic>
        <p:nvPicPr>
          <p:cNvPr id="11" name="Image 1" descr="/home/claude/carboncheck/icons/brain.png"/>
          <p:cNvPicPr>
            <a:picLocks noChangeAspect="1"/>
          </p:cNvPicPr>
          <p:nvPr/>
        </p:nvPicPr>
        <p:blipFill>
          <a:blip r:embed="rId5"/>
          <a:stretch>
            <a:fillRect/>
          </a:stretch>
        </p:blipFill>
        <p:spPr>
          <a:xfrm>
            <a:off x="4746285" y="2112813"/>
            <a:ext cx="419527" cy="419527"/>
          </a:xfrm>
          <a:prstGeom prst="rect">
            <a:avLst/>
          </a:prstGeom>
        </p:spPr>
      </p:pic>
      <p:sp>
        <p:nvSpPr>
          <p:cNvPr id="12" name="Text 8"/>
          <p:cNvSpPr/>
          <p:nvPr/>
        </p:nvSpPr>
        <p:spPr>
          <a:xfrm>
            <a:off x="4672584"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Predict Emission Level Using AI</a:t>
            </a:r>
            <a:endParaRPr lang="en-US" sz="1500" dirty="0"/>
          </a:p>
        </p:txBody>
      </p:sp>
      <p:sp>
        <p:nvSpPr>
          <p:cNvPr id="13" name="Text 9"/>
          <p:cNvSpPr/>
          <p:nvPr/>
        </p:nvSpPr>
        <p:spPr>
          <a:xfrm>
            <a:off x="4672584"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Apply machine learning to classify lifestyle emission levels reliably.</a:t>
            </a:r>
            <a:endParaRPr lang="en-US" sz="1050" dirty="0"/>
          </a:p>
        </p:txBody>
      </p:sp>
      <p:sp>
        <p:nvSpPr>
          <p:cNvPr id="14" name="Shape 10"/>
          <p:cNvSpPr/>
          <p:nvPr/>
        </p:nvSpPr>
        <p:spPr>
          <a:xfrm>
            <a:off x="8193024" y="1783080"/>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5" name="Shape 11"/>
          <p:cNvSpPr/>
          <p:nvPr/>
        </p:nvSpPr>
        <p:spPr>
          <a:xfrm>
            <a:off x="8449056" y="2039112"/>
            <a:ext cx="566928" cy="566928"/>
          </a:xfrm>
          <a:prstGeom prst="ellipse">
            <a:avLst/>
          </a:prstGeom>
          <a:solidFill>
            <a:srgbClr val="E8F6EE"/>
          </a:solidFill>
          <a:ln/>
        </p:spPr>
      </p:sp>
      <p:pic>
        <p:nvPicPr>
          <p:cNvPr id="16" name="Image 2" descr="/home/claude/carboncheck/icons/lightbulb.png"/>
          <p:cNvPicPr>
            <a:picLocks noChangeAspect="1"/>
          </p:cNvPicPr>
          <p:nvPr/>
        </p:nvPicPr>
        <p:blipFill>
          <a:blip r:embed="rId6"/>
          <a:stretch>
            <a:fillRect/>
          </a:stretch>
        </p:blipFill>
        <p:spPr>
          <a:xfrm>
            <a:off x="8522757" y="2112813"/>
            <a:ext cx="419527" cy="419527"/>
          </a:xfrm>
          <a:prstGeom prst="rect">
            <a:avLst/>
          </a:prstGeom>
        </p:spPr>
      </p:pic>
      <p:sp>
        <p:nvSpPr>
          <p:cNvPr id="17" name="Text 12"/>
          <p:cNvSpPr/>
          <p:nvPr/>
        </p:nvSpPr>
        <p:spPr>
          <a:xfrm>
            <a:off x="8449056" y="2715768"/>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Generate Personalized Suggestions</a:t>
            </a:r>
            <a:endParaRPr lang="en-US" sz="1500" dirty="0"/>
          </a:p>
        </p:txBody>
      </p:sp>
      <p:sp>
        <p:nvSpPr>
          <p:cNvPr id="18" name="Text 13"/>
          <p:cNvSpPr/>
          <p:nvPr/>
        </p:nvSpPr>
        <p:spPr>
          <a:xfrm>
            <a:off x="8449056" y="3063240"/>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Offer eco-friendly recommendations tailored to each user’s habits.</a:t>
            </a:r>
            <a:endParaRPr lang="en-US" sz="1050" dirty="0"/>
          </a:p>
        </p:txBody>
      </p:sp>
      <p:sp>
        <p:nvSpPr>
          <p:cNvPr id="19" name="Shape 14"/>
          <p:cNvSpPr/>
          <p:nvPr/>
        </p:nvSpPr>
        <p:spPr>
          <a:xfrm>
            <a:off x="2528316" y="4005072"/>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0" name="Shape 15"/>
          <p:cNvSpPr/>
          <p:nvPr/>
        </p:nvSpPr>
        <p:spPr>
          <a:xfrm>
            <a:off x="2784348" y="4261104"/>
            <a:ext cx="566928" cy="566928"/>
          </a:xfrm>
          <a:prstGeom prst="ellipse">
            <a:avLst/>
          </a:prstGeom>
          <a:solidFill>
            <a:srgbClr val="E8F6EE"/>
          </a:solidFill>
          <a:ln/>
        </p:spPr>
      </p:sp>
      <p:pic>
        <p:nvPicPr>
          <p:cNvPr id="21" name="Image 3" descr="/home/claude/carboncheck/icons/seedling.png"/>
          <p:cNvPicPr>
            <a:picLocks noChangeAspect="1"/>
          </p:cNvPicPr>
          <p:nvPr/>
        </p:nvPicPr>
        <p:blipFill>
          <a:blip r:embed="rId7"/>
          <a:stretch>
            <a:fillRect/>
          </a:stretch>
        </p:blipFill>
        <p:spPr>
          <a:xfrm>
            <a:off x="2858049" y="4334805"/>
            <a:ext cx="419527" cy="419527"/>
          </a:xfrm>
          <a:prstGeom prst="rect">
            <a:avLst/>
          </a:prstGeom>
        </p:spPr>
      </p:pic>
      <p:sp>
        <p:nvSpPr>
          <p:cNvPr id="22" name="Text 16"/>
          <p:cNvSpPr/>
          <p:nvPr/>
        </p:nvSpPr>
        <p:spPr>
          <a:xfrm>
            <a:off x="2784348" y="4937760"/>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Promote Sustainable Lifestyle</a:t>
            </a:r>
            <a:endParaRPr lang="en-US" sz="1500" dirty="0"/>
          </a:p>
        </p:txBody>
      </p:sp>
      <p:sp>
        <p:nvSpPr>
          <p:cNvPr id="23" name="Text 17"/>
          <p:cNvSpPr/>
          <p:nvPr/>
        </p:nvSpPr>
        <p:spPr>
          <a:xfrm>
            <a:off x="2784348" y="5285232"/>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Encourage long-term behavioral change toward greener living.</a:t>
            </a:r>
            <a:endParaRPr lang="en-US" sz="1050" dirty="0"/>
          </a:p>
        </p:txBody>
      </p:sp>
      <p:sp>
        <p:nvSpPr>
          <p:cNvPr id="24" name="Shape 18"/>
          <p:cNvSpPr/>
          <p:nvPr/>
        </p:nvSpPr>
        <p:spPr>
          <a:xfrm>
            <a:off x="6304788" y="4005072"/>
            <a:ext cx="352044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9"/>
          <p:cNvSpPr/>
          <p:nvPr/>
        </p:nvSpPr>
        <p:spPr>
          <a:xfrm>
            <a:off x="6560820" y="4261104"/>
            <a:ext cx="566928" cy="566928"/>
          </a:xfrm>
          <a:prstGeom prst="ellipse">
            <a:avLst/>
          </a:prstGeom>
          <a:solidFill>
            <a:srgbClr val="E8F6EE"/>
          </a:solidFill>
          <a:ln/>
        </p:spPr>
      </p:sp>
      <p:pic>
        <p:nvPicPr>
          <p:cNvPr id="26" name="Image 4" descr="/home/claude/carboncheck/icons/handshake.png"/>
          <p:cNvPicPr>
            <a:picLocks noChangeAspect="1"/>
          </p:cNvPicPr>
          <p:nvPr/>
        </p:nvPicPr>
        <p:blipFill>
          <a:blip r:embed="rId8"/>
          <a:stretch>
            <a:fillRect/>
          </a:stretch>
        </p:blipFill>
        <p:spPr>
          <a:xfrm>
            <a:off x="6634521" y="4334805"/>
            <a:ext cx="419527" cy="419527"/>
          </a:xfrm>
          <a:prstGeom prst="rect">
            <a:avLst/>
          </a:prstGeom>
        </p:spPr>
      </p:pic>
      <p:sp>
        <p:nvSpPr>
          <p:cNvPr id="27" name="Text 20"/>
          <p:cNvSpPr/>
          <p:nvPr/>
        </p:nvSpPr>
        <p:spPr>
          <a:xfrm>
            <a:off x="6560820" y="4937760"/>
            <a:ext cx="3008376" cy="329184"/>
          </a:xfrm>
          <a:prstGeom prst="rect">
            <a:avLst/>
          </a:prstGeom>
          <a:noFill/>
          <a:ln/>
        </p:spPr>
        <p:txBody>
          <a:bodyPr wrap="square" rtlCol="0" anchor="ctr"/>
          <a:lstStyle/>
          <a:p>
            <a:pPr marL="0" indent="0">
              <a:buNone/>
            </a:pPr>
            <a:r>
              <a:rPr lang="en-US" sz="1500" b="1" dirty="0">
                <a:solidFill>
                  <a:srgbClr val="1B4332"/>
                </a:solidFill>
                <a:latin typeface="Poppins" pitchFamily="34" charset="0"/>
                <a:ea typeface="Poppins" pitchFamily="34" charset="-122"/>
                <a:cs typeface="Poppins" pitchFamily="34" charset="-120"/>
              </a:rPr>
              <a:t>Support SDG Goals</a:t>
            </a:r>
            <a:endParaRPr lang="en-US" sz="1500" dirty="0"/>
          </a:p>
        </p:txBody>
      </p:sp>
      <p:sp>
        <p:nvSpPr>
          <p:cNvPr id="28" name="Text 21"/>
          <p:cNvSpPr/>
          <p:nvPr/>
        </p:nvSpPr>
        <p:spPr>
          <a:xfrm>
            <a:off x="6560820" y="5285232"/>
            <a:ext cx="3008376" cy="548640"/>
          </a:xfrm>
          <a:prstGeom prst="rect">
            <a:avLst/>
          </a:prstGeom>
          <a:noFill/>
          <a:ln/>
        </p:spPr>
        <p:txBody>
          <a:bodyPr wrap="square" rtlCol="0" anchor="ctr"/>
          <a:lstStyle/>
          <a:p>
            <a:pPr marL="0" indent="0">
              <a:lnSpc>
                <a:spcPct val="115000"/>
              </a:lnSpc>
              <a:buNone/>
            </a:pPr>
            <a:r>
              <a:rPr lang="en-US" sz="1050" dirty="0">
                <a:solidFill>
                  <a:srgbClr val="5C6E64"/>
                </a:solidFill>
                <a:latin typeface="Arial" pitchFamily="34" charset="0"/>
                <a:ea typeface="Arial" pitchFamily="34" charset="-122"/>
                <a:cs typeface="Arial" pitchFamily="34" charset="-120"/>
              </a:rPr>
              <a:t>Align platform outcomes with global sustainable development targets.</a:t>
            </a:r>
            <a:endParaRPr lang="en-US" sz="1050" dirty="0"/>
          </a:p>
        </p:txBody>
      </p:sp>
      <p:sp>
        <p:nvSpPr>
          <p:cNvPr id="29" name="Text 22"/>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0" name="Text 23"/>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GLOBAL IMPACT</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Sustainable Development Goals</a:t>
            </a:r>
            <a:endParaRPr lang="en-US" sz="3200" dirty="0"/>
          </a:p>
        </p:txBody>
      </p:sp>
      <p:sp>
        <p:nvSpPr>
          <p:cNvPr id="4" name="Text 2"/>
          <p:cNvSpPr/>
          <p:nvPr/>
        </p:nvSpPr>
        <p:spPr>
          <a:xfrm>
            <a:off x="640080" y="1481328"/>
            <a:ext cx="9144000" cy="292608"/>
          </a:xfrm>
          <a:prstGeom prst="rect">
            <a:avLst/>
          </a:prstGeom>
          <a:noFill/>
          <a:ln/>
        </p:spPr>
        <p:txBody>
          <a:bodyPr wrap="square" rtlCol="0" anchor="ctr"/>
          <a:lstStyle/>
          <a:p>
            <a:pPr marL="0" indent="0">
              <a:buNone/>
            </a:pPr>
            <a:r>
              <a:rPr lang="en-US" sz="1250" dirty="0">
                <a:solidFill>
                  <a:srgbClr val="5C6E64"/>
                </a:solidFill>
                <a:latin typeface="Arial" pitchFamily="34" charset="0"/>
                <a:ea typeface="Arial" pitchFamily="34" charset="-122"/>
                <a:cs typeface="Arial" pitchFamily="34" charset="-120"/>
              </a:rPr>
              <a:t>CarbonCheck contributes directly to five United Nations Sustainable Development Goals</a:t>
            </a:r>
            <a:endParaRPr lang="en-US" sz="1250" dirty="0"/>
          </a:p>
        </p:txBody>
      </p:sp>
      <p:sp>
        <p:nvSpPr>
          <p:cNvPr id="5" name="Shape 3"/>
          <p:cNvSpPr/>
          <p:nvPr/>
        </p:nvSpPr>
        <p:spPr>
          <a:xfrm>
            <a:off x="640080" y="2057400"/>
            <a:ext cx="2084832" cy="3566160"/>
          </a:xfrm>
          <a:prstGeom prst="roundRect">
            <a:avLst>
              <a:gd name="adj" fmla="val 7018"/>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6" name="Shape 4"/>
          <p:cNvSpPr/>
          <p:nvPr/>
        </p:nvSpPr>
        <p:spPr>
          <a:xfrm>
            <a:off x="859536" y="2331720"/>
            <a:ext cx="1645920" cy="1645920"/>
          </a:xfrm>
          <a:prstGeom prst="roundRect">
            <a:avLst>
              <a:gd name="adj" fmla="val 5556"/>
            </a:avLst>
          </a:prstGeom>
          <a:solidFill>
            <a:srgbClr val="FCC30E"/>
          </a:solidFill>
          <a:ln/>
        </p:spPr>
      </p:sp>
      <p:sp>
        <p:nvSpPr>
          <p:cNvPr id="7" name="Text 5"/>
          <p:cNvSpPr/>
          <p:nvPr/>
        </p:nvSpPr>
        <p:spPr>
          <a:xfrm>
            <a:off x="859536" y="4023360"/>
            <a:ext cx="1645920" cy="365760"/>
          </a:xfrm>
          <a:prstGeom prst="rect">
            <a:avLst/>
          </a:prstGeom>
          <a:noFill/>
          <a:ln/>
        </p:spPr>
        <p:txBody>
          <a:bodyPr wrap="square" rtlCol="0" anchor="ctr"/>
          <a:lstStyle/>
          <a:p>
            <a:pPr marL="0" indent="0" algn="ctr">
              <a:buNone/>
            </a:pPr>
            <a:r>
              <a:rPr lang="en-US" sz="1500" b="1" dirty="0">
                <a:solidFill>
                  <a:srgbClr val="1B4332"/>
                </a:solidFill>
                <a:latin typeface="Poppins" pitchFamily="34" charset="0"/>
                <a:ea typeface="Poppins" pitchFamily="34" charset="-122"/>
                <a:cs typeface="Poppins" pitchFamily="34" charset="-120"/>
              </a:rPr>
              <a:t>SDG 7</a:t>
            </a:r>
            <a:endParaRPr lang="en-US" sz="1500" dirty="0"/>
          </a:p>
        </p:txBody>
      </p:sp>
      <p:sp>
        <p:nvSpPr>
          <p:cNvPr id="8" name="Text 6"/>
          <p:cNvSpPr/>
          <p:nvPr/>
        </p:nvSpPr>
        <p:spPr>
          <a:xfrm>
            <a:off x="841248" y="4434840"/>
            <a:ext cx="1682496" cy="1005840"/>
          </a:xfrm>
          <a:prstGeom prst="rect">
            <a:avLst/>
          </a:prstGeom>
          <a:noFill/>
          <a:ln/>
        </p:spPr>
        <p:txBody>
          <a:bodyPr wrap="square" rtlCol="0" anchor="ctr"/>
          <a:lstStyle/>
          <a:p>
            <a:pPr marL="0" indent="0" algn="ctr">
              <a:buNone/>
            </a:pPr>
            <a:r>
              <a:rPr lang="en-US" sz="1150" dirty="0">
                <a:solidFill>
                  <a:srgbClr val="5C6E64"/>
                </a:solidFill>
                <a:latin typeface="Arial" pitchFamily="34" charset="0"/>
                <a:ea typeface="Arial" pitchFamily="34" charset="-122"/>
                <a:cs typeface="Arial" pitchFamily="34" charset="-120"/>
              </a:rPr>
              <a:t>Affordable &amp; Clean Energy</a:t>
            </a:r>
            <a:endParaRPr lang="en-US" sz="1150" dirty="0"/>
          </a:p>
        </p:txBody>
      </p:sp>
      <p:sp>
        <p:nvSpPr>
          <p:cNvPr id="9" name="Shape 7"/>
          <p:cNvSpPr/>
          <p:nvPr/>
        </p:nvSpPr>
        <p:spPr>
          <a:xfrm>
            <a:off x="2944368" y="2057400"/>
            <a:ext cx="2084832" cy="3566160"/>
          </a:xfrm>
          <a:prstGeom prst="roundRect">
            <a:avLst>
              <a:gd name="adj" fmla="val 7018"/>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0" name="Shape 8"/>
          <p:cNvSpPr/>
          <p:nvPr/>
        </p:nvSpPr>
        <p:spPr>
          <a:xfrm>
            <a:off x="3163824" y="2331720"/>
            <a:ext cx="1645920" cy="1645920"/>
          </a:xfrm>
          <a:prstGeom prst="roundRect">
            <a:avLst>
              <a:gd name="adj" fmla="val 5556"/>
            </a:avLst>
          </a:prstGeom>
          <a:solidFill>
            <a:srgbClr val="F99D26"/>
          </a:solidFill>
          <a:ln/>
        </p:spPr>
      </p:sp>
      <p:sp>
        <p:nvSpPr>
          <p:cNvPr id="11" name="Text 9"/>
          <p:cNvSpPr/>
          <p:nvPr/>
        </p:nvSpPr>
        <p:spPr>
          <a:xfrm>
            <a:off x="3163824" y="4023360"/>
            <a:ext cx="1645920" cy="365760"/>
          </a:xfrm>
          <a:prstGeom prst="rect">
            <a:avLst/>
          </a:prstGeom>
          <a:noFill/>
          <a:ln/>
        </p:spPr>
        <p:txBody>
          <a:bodyPr wrap="square" rtlCol="0" anchor="ctr"/>
          <a:lstStyle/>
          <a:p>
            <a:pPr marL="0" indent="0" algn="ctr">
              <a:buNone/>
            </a:pPr>
            <a:r>
              <a:rPr lang="en-US" sz="1500" b="1" dirty="0">
                <a:solidFill>
                  <a:srgbClr val="1B4332"/>
                </a:solidFill>
                <a:latin typeface="Poppins" pitchFamily="34" charset="0"/>
                <a:ea typeface="Poppins" pitchFamily="34" charset="-122"/>
                <a:cs typeface="Poppins" pitchFamily="34" charset="-120"/>
              </a:rPr>
              <a:t>SDG 11</a:t>
            </a:r>
            <a:endParaRPr lang="en-US" sz="1500" dirty="0"/>
          </a:p>
        </p:txBody>
      </p:sp>
      <p:sp>
        <p:nvSpPr>
          <p:cNvPr id="12" name="Text 10"/>
          <p:cNvSpPr/>
          <p:nvPr/>
        </p:nvSpPr>
        <p:spPr>
          <a:xfrm>
            <a:off x="3145536" y="4434840"/>
            <a:ext cx="1682496" cy="1005840"/>
          </a:xfrm>
          <a:prstGeom prst="rect">
            <a:avLst/>
          </a:prstGeom>
          <a:noFill/>
          <a:ln/>
        </p:spPr>
        <p:txBody>
          <a:bodyPr wrap="square" rtlCol="0" anchor="ctr"/>
          <a:lstStyle/>
          <a:p>
            <a:pPr marL="0" indent="0" algn="ctr">
              <a:buNone/>
            </a:pPr>
            <a:r>
              <a:rPr lang="en-US" sz="1150" dirty="0">
                <a:solidFill>
                  <a:srgbClr val="5C6E64"/>
                </a:solidFill>
                <a:latin typeface="Arial" pitchFamily="34" charset="0"/>
                <a:ea typeface="Arial" pitchFamily="34" charset="-122"/>
                <a:cs typeface="Arial" pitchFamily="34" charset="-120"/>
              </a:rPr>
              <a:t>Sustainable Cities</a:t>
            </a:r>
            <a:endParaRPr lang="en-US" sz="1150" dirty="0"/>
          </a:p>
        </p:txBody>
      </p:sp>
      <p:sp>
        <p:nvSpPr>
          <p:cNvPr id="13" name="Shape 11"/>
          <p:cNvSpPr/>
          <p:nvPr/>
        </p:nvSpPr>
        <p:spPr>
          <a:xfrm>
            <a:off x="5248656" y="2057400"/>
            <a:ext cx="2084832" cy="3566160"/>
          </a:xfrm>
          <a:prstGeom prst="roundRect">
            <a:avLst>
              <a:gd name="adj" fmla="val 7018"/>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4" name="Shape 12"/>
          <p:cNvSpPr/>
          <p:nvPr/>
        </p:nvSpPr>
        <p:spPr>
          <a:xfrm>
            <a:off x="5468112" y="2331720"/>
            <a:ext cx="1645920" cy="1645920"/>
          </a:xfrm>
          <a:prstGeom prst="roundRect">
            <a:avLst>
              <a:gd name="adj" fmla="val 5556"/>
            </a:avLst>
          </a:prstGeom>
          <a:solidFill>
            <a:srgbClr val="BF8B2E"/>
          </a:solidFill>
          <a:ln/>
        </p:spPr>
      </p:sp>
      <p:sp>
        <p:nvSpPr>
          <p:cNvPr id="15" name="Text 13"/>
          <p:cNvSpPr/>
          <p:nvPr/>
        </p:nvSpPr>
        <p:spPr>
          <a:xfrm>
            <a:off x="5468112" y="4023360"/>
            <a:ext cx="1645920" cy="365760"/>
          </a:xfrm>
          <a:prstGeom prst="rect">
            <a:avLst/>
          </a:prstGeom>
          <a:noFill/>
          <a:ln/>
        </p:spPr>
        <p:txBody>
          <a:bodyPr wrap="square" rtlCol="0" anchor="ctr"/>
          <a:lstStyle/>
          <a:p>
            <a:pPr marL="0" indent="0" algn="ctr">
              <a:buNone/>
            </a:pPr>
            <a:r>
              <a:rPr lang="en-US" sz="1500" b="1" dirty="0">
                <a:solidFill>
                  <a:srgbClr val="1B4332"/>
                </a:solidFill>
                <a:latin typeface="Poppins" pitchFamily="34" charset="0"/>
                <a:ea typeface="Poppins" pitchFamily="34" charset="-122"/>
                <a:cs typeface="Poppins" pitchFamily="34" charset="-120"/>
              </a:rPr>
              <a:t>SDG 12</a:t>
            </a:r>
            <a:endParaRPr lang="en-US" sz="1500" dirty="0"/>
          </a:p>
        </p:txBody>
      </p:sp>
      <p:sp>
        <p:nvSpPr>
          <p:cNvPr id="16" name="Text 14"/>
          <p:cNvSpPr/>
          <p:nvPr/>
        </p:nvSpPr>
        <p:spPr>
          <a:xfrm>
            <a:off x="5449824" y="4434840"/>
            <a:ext cx="1682496" cy="1005840"/>
          </a:xfrm>
          <a:prstGeom prst="rect">
            <a:avLst/>
          </a:prstGeom>
          <a:noFill/>
          <a:ln/>
        </p:spPr>
        <p:txBody>
          <a:bodyPr wrap="square" rtlCol="0" anchor="ctr"/>
          <a:lstStyle/>
          <a:p>
            <a:pPr marL="0" indent="0" algn="ctr">
              <a:buNone/>
            </a:pPr>
            <a:r>
              <a:rPr lang="en-US" sz="1150" dirty="0">
                <a:solidFill>
                  <a:srgbClr val="5C6E64"/>
                </a:solidFill>
                <a:latin typeface="Arial" pitchFamily="34" charset="0"/>
                <a:ea typeface="Arial" pitchFamily="34" charset="-122"/>
                <a:cs typeface="Arial" pitchFamily="34" charset="-120"/>
              </a:rPr>
              <a:t>Responsible Consumption</a:t>
            </a:r>
            <a:endParaRPr lang="en-US" sz="1150" dirty="0"/>
          </a:p>
        </p:txBody>
      </p:sp>
      <p:sp>
        <p:nvSpPr>
          <p:cNvPr id="17" name="Shape 15"/>
          <p:cNvSpPr/>
          <p:nvPr/>
        </p:nvSpPr>
        <p:spPr>
          <a:xfrm>
            <a:off x="7552944" y="2057400"/>
            <a:ext cx="2084832" cy="3566160"/>
          </a:xfrm>
          <a:prstGeom prst="roundRect">
            <a:avLst>
              <a:gd name="adj" fmla="val 7018"/>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8" name="Shape 16"/>
          <p:cNvSpPr/>
          <p:nvPr/>
        </p:nvSpPr>
        <p:spPr>
          <a:xfrm>
            <a:off x="7772400" y="2331720"/>
            <a:ext cx="1645920" cy="1645920"/>
          </a:xfrm>
          <a:prstGeom prst="roundRect">
            <a:avLst>
              <a:gd name="adj" fmla="val 5556"/>
            </a:avLst>
          </a:prstGeom>
          <a:solidFill>
            <a:srgbClr val="407F46"/>
          </a:solidFill>
          <a:ln/>
        </p:spPr>
      </p:sp>
      <p:sp>
        <p:nvSpPr>
          <p:cNvPr id="19" name="Text 17"/>
          <p:cNvSpPr/>
          <p:nvPr/>
        </p:nvSpPr>
        <p:spPr>
          <a:xfrm>
            <a:off x="7772400" y="4023360"/>
            <a:ext cx="1645920" cy="365760"/>
          </a:xfrm>
          <a:prstGeom prst="rect">
            <a:avLst/>
          </a:prstGeom>
          <a:noFill/>
          <a:ln/>
        </p:spPr>
        <p:txBody>
          <a:bodyPr wrap="square" rtlCol="0" anchor="ctr"/>
          <a:lstStyle/>
          <a:p>
            <a:pPr marL="0" indent="0" algn="ctr">
              <a:buNone/>
            </a:pPr>
            <a:r>
              <a:rPr lang="en-US" sz="1500" b="1" dirty="0">
                <a:solidFill>
                  <a:srgbClr val="1B4332"/>
                </a:solidFill>
                <a:latin typeface="Poppins" pitchFamily="34" charset="0"/>
                <a:ea typeface="Poppins" pitchFamily="34" charset="-122"/>
                <a:cs typeface="Poppins" pitchFamily="34" charset="-120"/>
              </a:rPr>
              <a:t>SDG 13</a:t>
            </a:r>
            <a:endParaRPr lang="en-US" sz="1500" dirty="0"/>
          </a:p>
        </p:txBody>
      </p:sp>
      <p:sp>
        <p:nvSpPr>
          <p:cNvPr id="20" name="Text 18"/>
          <p:cNvSpPr/>
          <p:nvPr/>
        </p:nvSpPr>
        <p:spPr>
          <a:xfrm>
            <a:off x="7754112" y="4434840"/>
            <a:ext cx="1682496" cy="1005840"/>
          </a:xfrm>
          <a:prstGeom prst="rect">
            <a:avLst/>
          </a:prstGeom>
          <a:noFill/>
          <a:ln/>
        </p:spPr>
        <p:txBody>
          <a:bodyPr wrap="square" rtlCol="0" anchor="ctr"/>
          <a:lstStyle/>
          <a:p>
            <a:pPr marL="0" indent="0" algn="ctr">
              <a:buNone/>
            </a:pPr>
            <a:r>
              <a:rPr lang="en-US" sz="1150" dirty="0">
                <a:solidFill>
                  <a:srgbClr val="5C6E64"/>
                </a:solidFill>
                <a:latin typeface="Arial" pitchFamily="34" charset="0"/>
                <a:ea typeface="Arial" pitchFamily="34" charset="-122"/>
                <a:cs typeface="Arial" pitchFamily="34" charset="-120"/>
              </a:rPr>
              <a:t>Climate Action</a:t>
            </a:r>
            <a:endParaRPr lang="en-US" sz="1150" dirty="0"/>
          </a:p>
        </p:txBody>
      </p:sp>
      <p:sp>
        <p:nvSpPr>
          <p:cNvPr id="21" name="Shape 19"/>
          <p:cNvSpPr/>
          <p:nvPr/>
        </p:nvSpPr>
        <p:spPr>
          <a:xfrm>
            <a:off x="9857232" y="2057400"/>
            <a:ext cx="2084832" cy="3566160"/>
          </a:xfrm>
          <a:prstGeom prst="roundRect">
            <a:avLst>
              <a:gd name="adj" fmla="val 7018"/>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2" name="Shape 20"/>
          <p:cNvSpPr/>
          <p:nvPr/>
        </p:nvSpPr>
        <p:spPr>
          <a:xfrm>
            <a:off x="10076688" y="2331720"/>
            <a:ext cx="1645920" cy="1645920"/>
          </a:xfrm>
          <a:prstGeom prst="roundRect">
            <a:avLst>
              <a:gd name="adj" fmla="val 5556"/>
            </a:avLst>
          </a:prstGeom>
          <a:solidFill>
            <a:srgbClr val="19486A"/>
          </a:solidFill>
          <a:ln/>
        </p:spPr>
      </p:sp>
      <p:sp>
        <p:nvSpPr>
          <p:cNvPr id="23" name="Text 21"/>
          <p:cNvSpPr/>
          <p:nvPr/>
        </p:nvSpPr>
        <p:spPr>
          <a:xfrm>
            <a:off x="10076688" y="4023360"/>
            <a:ext cx="1645920" cy="365760"/>
          </a:xfrm>
          <a:prstGeom prst="rect">
            <a:avLst/>
          </a:prstGeom>
          <a:noFill/>
          <a:ln/>
        </p:spPr>
        <p:txBody>
          <a:bodyPr wrap="square" rtlCol="0" anchor="ctr"/>
          <a:lstStyle/>
          <a:p>
            <a:pPr marL="0" indent="0" algn="ctr">
              <a:buNone/>
            </a:pPr>
            <a:r>
              <a:rPr lang="en-US" sz="1500" b="1" dirty="0">
                <a:solidFill>
                  <a:srgbClr val="1B4332"/>
                </a:solidFill>
                <a:latin typeface="Poppins" pitchFamily="34" charset="0"/>
                <a:ea typeface="Poppins" pitchFamily="34" charset="-122"/>
                <a:cs typeface="Poppins" pitchFamily="34" charset="-120"/>
              </a:rPr>
              <a:t>SDG 17</a:t>
            </a:r>
            <a:endParaRPr lang="en-US" sz="1500" dirty="0"/>
          </a:p>
        </p:txBody>
      </p:sp>
      <p:sp>
        <p:nvSpPr>
          <p:cNvPr id="24" name="Text 22"/>
          <p:cNvSpPr/>
          <p:nvPr/>
        </p:nvSpPr>
        <p:spPr>
          <a:xfrm>
            <a:off x="10058400" y="4434840"/>
            <a:ext cx="1682496" cy="1005840"/>
          </a:xfrm>
          <a:prstGeom prst="rect">
            <a:avLst/>
          </a:prstGeom>
          <a:noFill/>
          <a:ln/>
        </p:spPr>
        <p:txBody>
          <a:bodyPr wrap="square" rtlCol="0" anchor="ctr"/>
          <a:lstStyle/>
          <a:p>
            <a:pPr marL="0" indent="0" algn="ctr">
              <a:buNone/>
            </a:pPr>
            <a:r>
              <a:rPr lang="en-US" sz="1150" dirty="0">
                <a:solidFill>
                  <a:srgbClr val="5C6E64"/>
                </a:solidFill>
                <a:latin typeface="Arial" pitchFamily="34" charset="0"/>
                <a:ea typeface="Arial" pitchFamily="34" charset="-122"/>
                <a:cs typeface="Arial" pitchFamily="34" charset="-120"/>
              </a:rPr>
              <a:t>Partnerships for Goals</a:t>
            </a:r>
            <a:endParaRPr lang="en-US" sz="1150" dirty="0"/>
          </a:p>
        </p:txBody>
      </p:sp>
      <p:sp>
        <p:nvSpPr>
          <p:cNvPr id="25" name="Text 23"/>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26" name="Text 24"/>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EXISTING SYSTEM</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Limitations of Current Carbon Calculators</a:t>
            </a:r>
            <a:endParaRPr lang="en-US" sz="3200" dirty="0"/>
          </a:p>
        </p:txBody>
      </p:sp>
      <p:sp>
        <p:nvSpPr>
          <p:cNvPr id="4" name="Shape 2"/>
          <p:cNvSpPr/>
          <p:nvPr/>
        </p:nvSpPr>
        <p:spPr>
          <a:xfrm>
            <a:off x="640080" y="1828800"/>
            <a:ext cx="10911535" cy="566928"/>
          </a:xfrm>
          <a:prstGeom prst="roundRect">
            <a:avLst>
              <a:gd name="adj" fmla="val 16129"/>
            </a:avLst>
          </a:prstGeom>
          <a:solidFill>
            <a:srgbClr val="1B4332"/>
          </a:solidFill>
          <a:ln w="12700">
            <a:solidFill>
              <a:srgbClr val="1B4332"/>
            </a:solidFill>
            <a:prstDash val="solid"/>
          </a:ln>
        </p:spPr>
      </p:sp>
      <p:sp>
        <p:nvSpPr>
          <p:cNvPr id="5" name="Text 3"/>
          <p:cNvSpPr/>
          <p:nvPr/>
        </p:nvSpPr>
        <p:spPr>
          <a:xfrm>
            <a:off x="868680" y="1828800"/>
            <a:ext cx="2468880" cy="566928"/>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CRITERIA</a:t>
            </a:r>
            <a:endParaRPr lang="en-US" sz="1200" dirty="0"/>
          </a:p>
        </p:txBody>
      </p:sp>
      <p:pic>
        <p:nvPicPr>
          <p:cNvPr id="6" name="Image 0" descr="/home/claude/carboncheck/icons/xmark.png"/>
          <p:cNvPicPr>
            <a:picLocks noChangeAspect="1"/>
          </p:cNvPicPr>
          <p:nvPr/>
        </p:nvPicPr>
        <p:blipFill>
          <a:blip r:embed="rId4"/>
          <a:stretch>
            <a:fillRect/>
          </a:stretch>
        </p:blipFill>
        <p:spPr>
          <a:xfrm>
            <a:off x="3566160" y="1965960"/>
            <a:ext cx="292608" cy="292608"/>
          </a:xfrm>
          <a:prstGeom prst="rect">
            <a:avLst/>
          </a:prstGeom>
        </p:spPr>
      </p:pic>
      <p:sp>
        <p:nvSpPr>
          <p:cNvPr id="7" name="Text 4"/>
          <p:cNvSpPr/>
          <p:nvPr/>
        </p:nvSpPr>
        <p:spPr>
          <a:xfrm>
            <a:off x="3950208" y="1828800"/>
            <a:ext cx="3535528" cy="566928"/>
          </a:xfrm>
          <a:prstGeom prst="rect">
            <a:avLst/>
          </a:prstGeom>
          <a:noFill/>
          <a:ln/>
        </p:spPr>
        <p:txBody>
          <a:bodyPr wrap="square" rtlCol="0" anchor="ctr"/>
          <a:lstStyle/>
          <a:p>
            <a:pPr marL="0" indent="0">
              <a:buNone/>
            </a:pPr>
            <a:r>
              <a:rPr lang="en-US" sz="1200" b="1" dirty="0">
                <a:solidFill>
                  <a:srgbClr val="FFFFFF"/>
                </a:solidFill>
                <a:latin typeface="Arial" pitchFamily="34" charset="0"/>
                <a:ea typeface="Arial" pitchFamily="34" charset="-122"/>
                <a:cs typeface="Arial" pitchFamily="34" charset="-120"/>
              </a:rPr>
              <a:t>EXISTING SYSTEMS</a:t>
            </a:r>
            <a:endParaRPr lang="en-US" sz="1200" dirty="0"/>
          </a:p>
        </p:txBody>
      </p:sp>
      <p:pic>
        <p:nvPicPr>
          <p:cNvPr id="8" name="Image 1" descr="/home/claude/carboncheck/icons/check_white.png"/>
          <p:cNvPicPr>
            <a:picLocks noChangeAspect="1"/>
          </p:cNvPicPr>
          <p:nvPr/>
        </p:nvPicPr>
        <p:blipFill>
          <a:blip r:embed="rId5"/>
          <a:stretch>
            <a:fillRect/>
          </a:stretch>
        </p:blipFill>
        <p:spPr>
          <a:xfrm>
            <a:off x="7650328" y="1965960"/>
            <a:ext cx="292608" cy="292608"/>
          </a:xfrm>
          <a:prstGeom prst="rect">
            <a:avLst/>
          </a:prstGeom>
        </p:spPr>
      </p:pic>
      <p:sp>
        <p:nvSpPr>
          <p:cNvPr id="9" name="Text 5"/>
          <p:cNvSpPr/>
          <p:nvPr/>
        </p:nvSpPr>
        <p:spPr>
          <a:xfrm>
            <a:off x="8034376" y="1828800"/>
            <a:ext cx="3535528" cy="566928"/>
          </a:xfrm>
          <a:prstGeom prst="rect">
            <a:avLst/>
          </a:prstGeom>
          <a:noFill/>
          <a:ln/>
        </p:spPr>
        <p:txBody>
          <a:bodyPr wrap="square" rtlCol="0" anchor="ctr"/>
          <a:lstStyle/>
          <a:p>
            <a:pPr marL="0" indent="0">
              <a:buNone/>
            </a:pPr>
            <a:r>
              <a:rPr lang="en-US" sz="1200" b="1" dirty="0">
                <a:solidFill>
                  <a:srgbClr val="52D68D"/>
                </a:solidFill>
                <a:latin typeface="Arial" pitchFamily="34" charset="0"/>
                <a:ea typeface="Arial" pitchFamily="34" charset="-122"/>
                <a:cs typeface="Arial" pitchFamily="34" charset="-120"/>
              </a:rPr>
              <a:t>CARBONCHECK (PROPOSED)</a:t>
            </a:r>
            <a:endParaRPr lang="en-US" sz="1200" dirty="0"/>
          </a:p>
        </p:txBody>
      </p:sp>
      <p:sp>
        <p:nvSpPr>
          <p:cNvPr id="10" name="Shape 6"/>
          <p:cNvSpPr/>
          <p:nvPr/>
        </p:nvSpPr>
        <p:spPr>
          <a:xfrm>
            <a:off x="640080" y="2395728"/>
            <a:ext cx="10911535" cy="658368"/>
          </a:xfrm>
          <a:prstGeom prst="rect">
            <a:avLst/>
          </a:prstGeom>
          <a:solidFill>
            <a:srgbClr val="FFFFFF"/>
          </a:solidFill>
          <a:ln w="9525">
            <a:solidFill>
              <a:srgbClr val="DCEBE2"/>
            </a:solidFill>
            <a:prstDash val="solid"/>
          </a:ln>
        </p:spPr>
      </p:sp>
      <p:sp>
        <p:nvSpPr>
          <p:cNvPr id="11" name="Text 7"/>
          <p:cNvSpPr/>
          <p:nvPr/>
        </p:nvSpPr>
        <p:spPr>
          <a:xfrm>
            <a:off x="868680" y="2395728"/>
            <a:ext cx="2468880" cy="65836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Calculation Method</a:t>
            </a:r>
            <a:endParaRPr lang="en-US" sz="1250" dirty="0"/>
          </a:p>
        </p:txBody>
      </p:sp>
      <p:sp>
        <p:nvSpPr>
          <p:cNvPr id="12" name="Text 8"/>
          <p:cNvSpPr/>
          <p:nvPr/>
        </p:nvSpPr>
        <p:spPr>
          <a:xfrm>
            <a:off x="3611880" y="2395728"/>
            <a:ext cx="3718408" cy="658368"/>
          </a:xfrm>
          <a:prstGeom prst="rect">
            <a:avLst/>
          </a:prstGeom>
          <a:noFill/>
          <a:ln/>
        </p:spPr>
        <p:txBody>
          <a:bodyPr wrap="square" rtlCol="0" anchor="ctr"/>
          <a:lstStyle/>
          <a:p>
            <a:pPr marL="0" indent="0">
              <a:buNone/>
            </a:pPr>
            <a:r>
              <a:rPr lang="en-US" sz="1150" dirty="0">
                <a:solidFill>
                  <a:srgbClr val="5C6E64"/>
                </a:solidFill>
                <a:latin typeface="Arial" pitchFamily="34" charset="0"/>
                <a:ea typeface="Arial" pitchFamily="34" charset="-122"/>
                <a:cs typeface="Arial" pitchFamily="34" charset="-120"/>
              </a:rPr>
              <a:t>Manual, formula-based entry</a:t>
            </a:r>
            <a:endParaRPr lang="en-US" sz="1150" dirty="0"/>
          </a:p>
        </p:txBody>
      </p:sp>
      <p:sp>
        <p:nvSpPr>
          <p:cNvPr id="13" name="Text 9"/>
          <p:cNvSpPr/>
          <p:nvPr/>
        </p:nvSpPr>
        <p:spPr>
          <a:xfrm>
            <a:off x="7696048" y="2395728"/>
            <a:ext cx="3718408" cy="658368"/>
          </a:xfrm>
          <a:prstGeom prst="rect">
            <a:avLst/>
          </a:prstGeom>
          <a:noFill/>
          <a:ln/>
        </p:spPr>
        <p:txBody>
          <a:bodyPr wrap="square" rtlCol="0" anchor="ctr"/>
          <a:lstStyle/>
          <a:p>
            <a:pPr marL="0" indent="0">
              <a:buNone/>
            </a:pPr>
            <a:r>
              <a:rPr lang="en-US" sz="1150" b="1" dirty="0">
                <a:solidFill>
                  <a:srgbClr val="2D6A4F"/>
                </a:solidFill>
                <a:latin typeface="Arial" pitchFamily="34" charset="0"/>
                <a:ea typeface="Arial" pitchFamily="34" charset="-122"/>
                <a:cs typeface="Arial" pitchFamily="34" charset="-120"/>
              </a:rPr>
              <a:t>Automated AI-based prediction</a:t>
            </a:r>
            <a:endParaRPr lang="en-US" sz="1150" dirty="0"/>
          </a:p>
        </p:txBody>
      </p:sp>
      <p:sp>
        <p:nvSpPr>
          <p:cNvPr id="14" name="Shape 10"/>
          <p:cNvSpPr/>
          <p:nvPr/>
        </p:nvSpPr>
        <p:spPr>
          <a:xfrm>
            <a:off x="640080" y="3054096"/>
            <a:ext cx="10911535" cy="658368"/>
          </a:xfrm>
          <a:prstGeom prst="rect">
            <a:avLst/>
          </a:prstGeom>
          <a:solidFill>
            <a:srgbClr val="FBFDFC"/>
          </a:solidFill>
          <a:ln w="9525">
            <a:solidFill>
              <a:srgbClr val="DCEBE2"/>
            </a:solidFill>
            <a:prstDash val="solid"/>
          </a:ln>
        </p:spPr>
      </p:sp>
      <p:sp>
        <p:nvSpPr>
          <p:cNvPr id="15" name="Text 11"/>
          <p:cNvSpPr/>
          <p:nvPr/>
        </p:nvSpPr>
        <p:spPr>
          <a:xfrm>
            <a:off x="868680" y="3054096"/>
            <a:ext cx="2468880" cy="65836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Analytics Depth</a:t>
            </a:r>
            <a:endParaRPr lang="en-US" sz="1250" dirty="0"/>
          </a:p>
        </p:txBody>
      </p:sp>
      <p:sp>
        <p:nvSpPr>
          <p:cNvPr id="16" name="Text 12"/>
          <p:cNvSpPr/>
          <p:nvPr/>
        </p:nvSpPr>
        <p:spPr>
          <a:xfrm>
            <a:off x="3611880" y="3054096"/>
            <a:ext cx="3718408" cy="658368"/>
          </a:xfrm>
          <a:prstGeom prst="rect">
            <a:avLst/>
          </a:prstGeom>
          <a:noFill/>
          <a:ln/>
        </p:spPr>
        <p:txBody>
          <a:bodyPr wrap="square" rtlCol="0" anchor="ctr"/>
          <a:lstStyle/>
          <a:p>
            <a:pPr marL="0" indent="0">
              <a:buNone/>
            </a:pPr>
            <a:r>
              <a:rPr lang="en-US" sz="1150" dirty="0">
                <a:solidFill>
                  <a:srgbClr val="5C6E64"/>
                </a:solidFill>
                <a:latin typeface="Arial" pitchFamily="34" charset="0"/>
                <a:ea typeface="Arial" pitchFamily="34" charset="-122"/>
                <a:cs typeface="Arial" pitchFamily="34" charset="-120"/>
              </a:rPr>
              <a:t>Limited, one-dimensional output</a:t>
            </a:r>
            <a:endParaRPr lang="en-US" sz="1150" dirty="0"/>
          </a:p>
        </p:txBody>
      </p:sp>
      <p:sp>
        <p:nvSpPr>
          <p:cNvPr id="17" name="Text 13"/>
          <p:cNvSpPr/>
          <p:nvPr/>
        </p:nvSpPr>
        <p:spPr>
          <a:xfrm>
            <a:off x="7696048" y="3054096"/>
            <a:ext cx="3718408" cy="658368"/>
          </a:xfrm>
          <a:prstGeom prst="rect">
            <a:avLst/>
          </a:prstGeom>
          <a:noFill/>
          <a:ln/>
        </p:spPr>
        <p:txBody>
          <a:bodyPr wrap="square" rtlCol="0" anchor="ctr"/>
          <a:lstStyle/>
          <a:p>
            <a:pPr marL="0" indent="0">
              <a:buNone/>
            </a:pPr>
            <a:r>
              <a:rPr lang="en-US" sz="1150" b="1" dirty="0">
                <a:solidFill>
                  <a:srgbClr val="2D6A4F"/>
                </a:solidFill>
                <a:latin typeface="Arial" pitchFamily="34" charset="0"/>
                <a:ea typeface="Arial" pitchFamily="34" charset="-122"/>
                <a:cs typeface="Arial" pitchFamily="34" charset="-120"/>
              </a:rPr>
              <a:t>Rich multi-factor analytics</a:t>
            </a:r>
            <a:endParaRPr lang="en-US" sz="1150" dirty="0"/>
          </a:p>
        </p:txBody>
      </p:sp>
      <p:sp>
        <p:nvSpPr>
          <p:cNvPr id="18" name="Shape 14"/>
          <p:cNvSpPr/>
          <p:nvPr/>
        </p:nvSpPr>
        <p:spPr>
          <a:xfrm>
            <a:off x="640080" y="3712464"/>
            <a:ext cx="10911535" cy="658368"/>
          </a:xfrm>
          <a:prstGeom prst="rect">
            <a:avLst/>
          </a:prstGeom>
          <a:solidFill>
            <a:srgbClr val="FFFFFF"/>
          </a:solidFill>
          <a:ln w="9525">
            <a:solidFill>
              <a:srgbClr val="DCEBE2"/>
            </a:solidFill>
            <a:prstDash val="solid"/>
          </a:ln>
        </p:spPr>
      </p:sp>
      <p:sp>
        <p:nvSpPr>
          <p:cNvPr id="19" name="Text 15"/>
          <p:cNvSpPr/>
          <p:nvPr/>
        </p:nvSpPr>
        <p:spPr>
          <a:xfrm>
            <a:off x="868680" y="3712464"/>
            <a:ext cx="2468880" cy="65836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Intelligence</a:t>
            </a:r>
            <a:endParaRPr lang="en-US" sz="1250" dirty="0"/>
          </a:p>
        </p:txBody>
      </p:sp>
      <p:sp>
        <p:nvSpPr>
          <p:cNvPr id="20" name="Text 16"/>
          <p:cNvSpPr/>
          <p:nvPr/>
        </p:nvSpPr>
        <p:spPr>
          <a:xfrm>
            <a:off x="3611880" y="3712464"/>
            <a:ext cx="3718408" cy="658368"/>
          </a:xfrm>
          <a:prstGeom prst="rect">
            <a:avLst/>
          </a:prstGeom>
          <a:noFill/>
          <a:ln/>
        </p:spPr>
        <p:txBody>
          <a:bodyPr wrap="square" rtlCol="0" anchor="ctr"/>
          <a:lstStyle/>
          <a:p>
            <a:pPr marL="0" indent="0">
              <a:buNone/>
            </a:pPr>
            <a:r>
              <a:rPr lang="en-US" sz="1150" dirty="0">
                <a:solidFill>
                  <a:srgbClr val="5C6E64"/>
                </a:solidFill>
                <a:latin typeface="Arial" pitchFamily="34" charset="0"/>
                <a:ea typeface="Arial" pitchFamily="34" charset="-122"/>
                <a:cs typeface="Arial" pitchFamily="34" charset="-120"/>
              </a:rPr>
              <a:t>No AI or machine learning</a:t>
            </a:r>
            <a:endParaRPr lang="en-US" sz="1150" dirty="0"/>
          </a:p>
        </p:txBody>
      </p:sp>
      <p:sp>
        <p:nvSpPr>
          <p:cNvPr id="21" name="Text 17"/>
          <p:cNvSpPr/>
          <p:nvPr/>
        </p:nvSpPr>
        <p:spPr>
          <a:xfrm>
            <a:off x="7696048" y="3712464"/>
            <a:ext cx="3718408" cy="658368"/>
          </a:xfrm>
          <a:prstGeom prst="rect">
            <a:avLst/>
          </a:prstGeom>
          <a:noFill/>
          <a:ln/>
        </p:spPr>
        <p:txBody>
          <a:bodyPr wrap="square" rtlCol="0" anchor="ctr"/>
          <a:lstStyle/>
          <a:p>
            <a:pPr marL="0" indent="0">
              <a:buNone/>
            </a:pPr>
            <a:r>
              <a:rPr lang="en-US" sz="1150" b="1" dirty="0">
                <a:solidFill>
                  <a:srgbClr val="2D6A4F"/>
                </a:solidFill>
                <a:latin typeface="Arial" pitchFamily="34" charset="0"/>
                <a:ea typeface="Arial" pitchFamily="34" charset="-122"/>
                <a:cs typeface="Arial" pitchFamily="34" charset="-120"/>
              </a:rPr>
              <a:t>Scikit-Learn classification model</a:t>
            </a:r>
            <a:endParaRPr lang="en-US" sz="1150" dirty="0"/>
          </a:p>
        </p:txBody>
      </p:sp>
      <p:sp>
        <p:nvSpPr>
          <p:cNvPr id="22" name="Shape 18"/>
          <p:cNvSpPr/>
          <p:nvPr/>
        </p:nvSpPr>
        <p:spPr>
          <a:xfrm>
            <a:off x="640080" y="4370832"/>
            <a:ext cx="10911535" cy="658368"/>
          </a:xfrm>
          <a:prstGeom prst="rect">
            <a:avLst/>
          </a:prstGeom>
          <a:solidFill>
            <a:srgbClr val="FBFDFC"/>
          </a:solidFill>
          <a:ln w="9525">
            <a:solidFill>
              <a:srgbClr val="DCEBE2"/>
            </a:solidFill>
            <a:prstDash val="solid"/>
          </a:ln>
        </p:spPr>
      </p:sp>
      <p:sp>
        <p:nvSpPr>
          <p:cNvPr id="23" name="Text 19"/>
          <p:cNvSpPr/>
          <p:nvPr/>
        </p:nvSpPr>
        <p:spPr>
          <a:xfrm>
            <a:off x="868680" y="4370832"/>
            <a:ext cx="2468880" cy="65836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Recommendations</a:t>
            </a:r>
            <a:endParaRPr lang="en-US" sz="1250" dirty="0"/>
          </a:p>
        </p:txBody>
      </p:sp>
      <p:sp>
        <p:nvSpPr>
          <p:cNvPr id="24" name="Text 20"/>
          <p:cNvSpPr/>
          <p:nvPr/>
        </p:nvSpPr>
        <p:spPr>
          <a:xfrm>
            <a:off x="3611880" y="4370832"/>
            <a:ext cx="3718408" cy="658368"/>
          </a:xfrm>
          <a:prstGeom prst="rect">
            <a:avLst/>
          </a:prstGeom>
          <a:noFill/>
          <a:ln/>
        </p:spPr>
        <p:txBody>
          <a:bodyPr wrap="square" rtlCol="0" anchor="ctr"/>
          <a:lstStyle/>
          <a:p>
            <a:pPr marL="0" indent="0">
              <a:buNone/>
            </a:pPr>
            <a:r>
              <a:rPr lang="en-US" sz="1150" dirty="0">
                <a:solidFill>
                  <a:srgbClr val="5C6E64"/>
                </a:solidFill>
                <a:latin typeface="Arial" pitchFamily="34" charset="0"/>
                <a:ea typeface="Arial" pitchFamily="34" charset="-122"/>
                <a:cs typeface="Arial" pitchFamily="34" charset="-120"/>
              </a:rPr>
              <a:t>Generic, one-size-fits-all tips</a:t>
            </a:r>
            <a:endParaRPr lang="en-US" sz="1150" dirty="0"/>
          </a:p>
        </p:txBody>
      </p:sp>
      <p:sp>
        <p:nvSpPr>
          <p:cNvPr id="25" name="Text 21"/>
          <p:cNvSpPr/>
          <p:nvPr/>
        </p:nvSpPr>
        <p:spPr>
          <a:xfrm>
            <a:off x="7696048" y="4370832"/>
            <a:ext cx="3718408" cy="658368"/>
          </a:xfrm>
          <a:prstGeom prst="rect">
            <a:avLst/>
          </a:prstGeom>
          <a:noFill/>
          <a:ln/>
        </p:spPr>
        <p:txBody>
          <a:bodyPr wrap="square" rtlCol="0" anchor="ctr"/>
          <a:lstStyle/>
          <a:p>
            <a:pPr marL="0" indent="0">
              <a:buNone/>
            </a:pPr>
            <a:r>
              <a:rPr lang="en-US" sz="1150" b="1" dirty="0">
                <a:solidFill>
                  <a:srgbClr val="2D6A4F"/>
                </a:solidFill>
                <a:latin typeface="Arial" pitchFamily="34" charset="0"/>
                <a:ea typeface="Arial" pitchFamily="34" charset="-122"/>
                <a:cs typeface="Arial" pitchFamily="34" charset="-120"/>
              </a:rPr>
              <a:t>Personalized eco-suggestions</a:t>
            </a:r>
            <a:endParaRPr lang="en-US" sz="1150" dirty="0"/>
          </a:p>
        </p:txBody>
      </p:sp>
      <p:sp>
        <p:nvSpPr>
          <p:cNvPr id="26" name="Shape 22"/>
          <p:cNvSpPr/>
          <p:nvPr/>
        </p:nvSpPr>
        <p:spPr>
          <a:xfrm>
            <a:off x="640080" y="5029200"/>
            <a:ext cx="10911535" cy="658368"/>
          </a:xfrm>
          <a:prstGeom prst="rect">
            <a:avLst/>
          </a:prstGeom>
          <a:solidFill>
            <a:srgbClr val="FFFFFF"/>
          </a:solidFill>
          <a:ln w="9525">
            <a:solidFill>
              <a:srgbClr val="DCEBE2"/>
            </a:solidFill>
            <a:prstDash val="solid"/>
          </a:ln>
        </p:spPr>
      </p:sp>
      <p:sp>
        <p:nvSpPr>
          <p:cNvPr id="27" name="Text 23"/>
          <p:cNvSpPr/>
          <p:nvPr/>
        </p:nvSpPr>
        <p:spPr>
          <a:xfrm>
            <a:off x="868680" y="5029200"/>
            <a:ext cx="2468880" cy="65836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Visualization</a:t>
            </a:r>
            <a:endParaRPr lang="en-US" sz="1250" dirty="0"/>
          </a:p>
        </p:txBody>
      </p:sp>
      <p:sp>
        <p:nvSpPr>
          <p:cNvPr id="28" name="Text 24"/>
          <p:cNvSpPr/>
          <p:nvPr/>
        </p:nvSpPr>
        <p:spPr>
          <a:xfrm>
            <a:off x="3611880" y="5029200"/>
            <a:ext cx="3718408" cy="658368"/>
          </a:xfrm>
          <a:prstGeom prst="rect">
            <a:avLst/>
          </a:prstGeom>
          <a:noFill/>
          <a:ln/>
        </p:spPr>
        <p:txBody>
          <a:bodyPr wrap="square" rtlCol="0" anchor="ctr"/>
          <a:lstStyle/>
          <a:p>
            <a:pPr marL="0" indent="0">
              <a:buNone/>
            </a:pPr>
            <a:r>
              <a:rPr lang="en-US" sz="1150" dirty="0">
                <a:solidFill>
                  <a:srgbClr val="5C6E64"/>
                </a:solidFill>
                <a:latin typeface="Arial" pitchFamily="34" charset="0"/>
                <a:ea typeface="Arial" pitchFamily="34" charset="-122"/>
                <a:cs typeface="Arial" pitchFamily="34" charset="-120"/>
              </a:rPr>
              <a:t>Poor or no visualization</a:t>
            </a:r>
            <a:endParaRPr lang="en-US" sz="1150" dirty="0"/>
          </a:p>
        </p:txBody>
      </p:sp>
      <p:sp>
        <p:nvSpPr>
          <p:cNvPr id="29" name="Text 25"/>
          <p:cNvSpPr/>
          <p:nvPr/>
        </p:nvSpPr>
        <p:spPr>
          <a:xfrm>
            <a:off x="7696048" y="5029200"/>
            <a:ext cx="3718408" cy="658368"/>
          </a:xfrm>
          <a:prstGeom prst="rect">
            <a:avLst/>
          </a:prstGeom>
          <a:noFill/>
          <a:ln/>
        </p:spPr>
        <p:txBody>
          <a:bodyPr wrap="square" rtlCol="0" anchor="ctr"/>
          <a:lstStyle/>
          <a:p>
            <a:pPr marL="0" indent="0">
              <a:buNone/>
            </a:pPr>
            <a:r>
              <a:rPr lang="en-US" sz="1150" b="1" dirty="0">
                <a:solidFill>
                  <a:srgbClr val="2D6A4F"/>
                </a:solidFill>
                <a:latin typeface="Arial" pitchFamily="34" charset="0"/>
                <a:ea typeface="Arial" pitchFamily="34" charset="-122"/>
                <a:cs typeface="Arial" pitchFamily="34" charset="-120"/>
              </a:rPr>
              <a:t>Interactive dashboard &amp; charts</a:t>
            </a:r>
            <a:endParaRPr lang="en-US" sz="1150" dirty="0"/>
          </a:p>
        </p:txBody>
      </p:sp>
      <p:sp>
        <p:nvSpPr>
          <p:cNvPr id="30" name="Text 26"/>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1" name="Text 2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07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PROPOSED SYSTEM</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End-to-End Workflow</a:t>
            </a:r>
            <a:endParaRPr lang="en-US" sz="3200" dirty="0"/>
          </a:p>
        </p:txBody>
      </p:sp>
      <p:sp>
        <p:nvSpPr>
          <p:cNvPr id="4" name="Shape 2"/>
          <p:cNvSpPr/>
          <p:nvPr/>
        </p:nvSpPr>
        <p:spPr>
          <a:xfrm>
            <a:off x="640080" y="1965960"/>
            <a:ext cx="2254682"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5" name="Image 0" descr="/home/claude/carboncheck/icons/users.png"/>
          <p:cNvPicPr>
            <a:picLocks noChangeAspect="1"/>
          </p:cNvPicPr>
          <p:nvPr/>
        </p:nvPicPr>
        <p:blipFill>
          <a:blip r:embed="rId4"/>
          <a:stretch>
            <a:fillRect/>
          </a:stretch>
        </p:blipFill>
        <p:spPr>
          <a:xfrm>
            <a:off x="1529677" y="2112264"/>
            <a:ext cx="475488" cy="475488"/>
          </a:xfrm>
          <a:prstGeom prst="rect">
            <a:avLst/>
          </a:prstGeom>
        </p:spPr>
      </p:pic>
      <p:sp>
        <p:nvSpPr>
          <p:cNvPr id="6" name="Text 3"/>
          <p:cNvSpPr/>
          <p:nvPr/>
        </p:nvSpPr>
        <p:spPr>
          <a:xfrm>
            <a:off x="713232" y="3136392"/>
            <a:ext cx="2108378"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User</a:t>
            </a:r>
            <a:endParaRPr lang="en-US" sz="1050" dirty="0"/>
          </a:p>
        </p:txBody>
      </p:sp>
      <p:pic>
        <p:nvPicPr>
          <p:cNvPr id="7" name="Image 1" descr="/home/claude/carboncheck/icons/arrow_right.png"/>
          <p:cNvPicPr>
            <a:picLocks noChangeAspect="1"/>
          </p:cNvPicPr>
          <p:nvPr/>
        </p:nvPicPr>
        <p:blipFill>
          <a:blip r:embed="rId5"/>
          <a:stretch>
            <a:fillRect/>
          </a:stretch>
        </p:blipFill>
        <p:spPr>
          <a:xfrm>
            <a:off x="2910764" y="2706624"/>
            <a:ext cx="256032" cy="256032"/>
          </a:xfrm>
          <a:prstGeom prst="rect">
            <a:avLst/>
          </a:prstGeom>
        </p:spPr>
      </p:pic>
      <p:sp>
        <p:nvSpPr>
          <p:cNvPr id="8" name="Shape 4"/>
          <p:cNvSpPr/>
          <p:nvPr/>
        </p:nvSpPr>
        <p:spPr>
          <a:xfrm>
            <a:off x="3525698" y="1965960"/>
            <a:ext cx="2254682"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9" name="Image 2" descr="/home/claude/carboncheck/icons/code.png"/>
          <p:cNvPicPr>
            <a:picLocks noChangeAspect="1"/>
          </p:cNvPicPr>
          <p:nvPr/>
        </p:nvPicPr>
        <p:blipFill>
          <a:blip r:embed="rId6"/>
          <a:stretch>
            <a:fillRect/>
          </a:stretch>
        </p:blipFill>
        <p:spPr>
          <a:xfrm>
            <a:off x="4415295" y="2112264"/>
            <a:ext cx="475488" cy="475488"/>
          </a:xfrm>
          <a:prstGeom prst="rect">
            <a:avLst/>
          </a:prstGeom>
        </p:spPr>
      </p:pic>
      <p:sp>
        <p:nvSpPr>
          <p:cNvPr id="10" name="Text 5"/>
          <p:cNvSpPr/>
          <p:nvPr/>
        </p:nvSpPr>
        <p:spPr>
          <a:xfrm>
            <a:off x="3598850" y="3136392"/>
            <a:ext cx="2108378"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Enter Lifestyle Data</a:t>
            </a:r>
            <a:endParaRPr lang="en-US" sz="1050" dirty="0"/>
          </a:p>
        </p:txBody>
      </p:sp>
      <p:pic>
        <p:nvPicPr>
          <p:cNvPr id="11" name="Image 3" descr="/home/claude/carboncheck/icons/arrow_right.png"/>
          <p:cNvPicPr>
            <a:picLocks noChangeAspect="1"/>
          </p:cNvPicPr>
          <p:nvPr/>
        </p:nvPicPr>
        <p:blipFill>
          <a:blip r:embed="rId5"/>
          <a:stretch>
            <a:fillRect/>
          </a:stretch>
        </p:blipFill>
        <p:spPr>
          <a:xfrm>
            <a:off x="5796382" y="2706624"/>
            <a:ext cx="256032" cy="256032"/>
          </a:xfrm>
          <a:prstGeom prst="rect">
            <a:avLst/>
          </a:prstGeom>
        </p:spPr>
      </p:pic>
      <p:sp>
        <p:nvSpPr>
          <p:cNvPr id="12" name="Shape 6"/>
          <p:cNvSpPr/>
          <p:nvPr/>
        </p:nvSpPr>
        <p:spPr>
          <a:xfrm>
            <a:off x="6411316" y="1965960"/>
            <a:ext cx="2254682"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13" name="Image 4" descr="/home/claude/carboncheck/icons/server.png"/>
          <p:cNvPicPr>
            <a:picLocks noChangeAspect="1"/>
          </p:cNvPicPr>
          <p:nvPr/>
        </p:nvPicPr>
        <p:blipFill>
          <a:blip r:embed="rId7"/>
          <a:stretch>
            <a:fillRect/>
          </a:stretch>
        </p:blipFill>
        <p:spPr>
          <a:xfrm>
            <a:off x="7300913" y="2112264"/>
            <a:ext cx="475488" cy="475488"/>
          </a:xfrm>
          <a:prstGeom prst="rect">
            <a:avLst/>
          </a:prstGeom>
        </p:spPr>
      </p:pic>
      <p:sp>
        <p:nvSpPr>
          <p:cNvPr id="14" name="Text 7"/>
          <p:cNvSpPr/>
          <p:nvPr/>
        </p:nvSpPr>
        <p:spPr>
          <a:xfrm>
            <a:off x="6484468" y="3136392"/>
            <a:ext cx="2108378"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FastAPI Backend</a:t>
            </a:r>
            <a:endParaRPr lang="en-US" sz="1050" dirty="0"/>
          </a:p>
        </p:txBody>
      </p:sp>
      <p:pic>
        <p:nvPicPr>
          <p:cNvPr id="15" name="Image 5" descr="/home/claude/carboncheck/icons/arrow_right.png"/>
          <p:cNvPicPr>
            <a:picLocks noChangeAspect="1"/>
          </p:cNvPicPr>
          <p:nvPr/>
        </p:nvPicPr>
        <p:blipFill>
          <a:blip r:embed="rId5"/>
          <a:stretch>
            <a:fillRect/>
          </a:stretch>
        </p:blipFill>
        <p:spPr>
          <a:xfrm>
            <a:off x="8681999" y="2706624"/>
            <a:ext cx="256032" cy="256032"/>
          </a:xfrm>
          <a:prstGeom prst="rect">
            <a:avLst/>
          </a:prstGeom>
        </p:spPr>
      </p:pic>
      <p:sp>
        <p:nvSpPr>
          <p:cNvPr id="16" name="Shape 8"/>
          <p:cNvSpPr/>
          <p:nvPr/>
        </p:nvSpPr>
        <p:spPr>
          <a:xfrm>
            <a:off x="9296933" y="1965960"/>
            <a:ext cx="2254682"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17" name="Image 6" descr="/home/claude/carboncheck/icons/brain.png"/>
          <p:cNvPicPr>
            <a:picLocks noChangeAspect="1"/>
          </p:cNvPicPr>
          <p:nvPr/>
        </p:nvPicPr>
        <p:blipFill>
          <a:blip r:embed="rId8"/>
          <a:stretch>
            <a:fillRect/>
          </a:stretch>
        </p:blipFill>
        <p:spPr>
          <a:xfrm>
            <a:off x="10186530" y="2112264"/>
            <a:ext cx="475488" cy="475488"/>
          </a:xfrm>
          <a:prstGeom prst="rect">
            <a:avLst/>
          </a:prstGeom>
        </p:spPr>
      </p:pic>
      <p:sp>
        <p:nvSpPr>
          <p:cNvPr id="18" name="Text 9"/>
          <p:cNvSpPr/>
          <p:nvPr/>
        </p:nvSpPr>
        <p:spPr>
          <a:xfrm>
            <a:off x="9370085" y="3136392"/>
            <a:ext cx="2108378"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ML Prediction</a:t>
            </a:r>
            <a:endParaRPr lang="en-US" sz="1050" dirty="0"/>
          </a:p>
        </p:txBody>
      </p:sp>
      <p:pic>
        <p:nvPicPr>
          <p:cNvPr id="19" name="Image 7" descr="/home/claude/carboncheck/icons/arrow_down.png"/>
          <p:cNvPicPr>
            <a:picLocks noChangeAspect="1"/>
          </p:cNvPicPr>
          <p:nvPr/>
        </p:nvPicPr>
        <p:blipFill>
          <a:blip r:embed="rId9"/>
          <a:stretch>
            <a:fillRect/>
          </a:stretch>
        </p:blipFill>
        <p:spPr>
          <a:xfrm>
            <a:off x="5949544" y="3794760"/>
            <a:ext cx="292608" cy="292608"/>
          </a:xfrm>
          <a:prstGeom prst="rect">
            <a:avLst/>
          </a:prstGeom>
        </p:spPr>
      </p:pic>
      <p:sp>
        <p:nvSpPr>
          <p:cNvPr id="20" name="Shape 10"/>
          <p:cNvSpPr/>
          <p:nvPr/>
        </p:nvSpPr>
        <p:spPr>
          <a:xfrm>
            <a:off x="2004022" y="4251960"/>
            <a:ext cx="2307260"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21" name="Image 8" descr="/home/claude/carboncheck/icons/gauge.png"/>
          <p:cNvPicPr>
            <a:picLocks noChangeAspect="1"/>
          </p:cNvPicPr>
          <p:nvPr/>
        </p:nvPicPr>
        <p:blipFill>
          <a:blip r:embed="rId10"/>
          <a:stretch>
            <a:fillRect/>
          </a:stretch>
        </p:blipFill>
        <p:spPr>
          <a:xfrm>
            <a:off x="2919908" y="4398264"/>
            <a:ext cx="475488" cy="475488"/>
          </a:xfrm>
          <a:prstGeom prst="rect">
            <a:avLst/>
          </a:prstGeom>
        </p:spPr>
      </p:pic>
      <p:sp>
        <p:nvSpPr>
          <p:cNvPr id="22" name="Text 11"/>
          <p:cNvSpPr/>
          <p:nvPr/>
        </p:nvSpPr>
        <p:spPr>
          <a:xfrm>
            <a:off x="2077174" y="5422392"/>
            <a:ext cx="2160956"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Carbon Score</a:t>
            </a:r>
            <a:endParaRPr lang="en-US" sz="1050" dirty="0"/>
          </a:p>
        </p:txBody>
      </p:sp>
      <p:pic>
        <p:nvPicPr>
          <p:cNvPr id="23" name="Image 9" descr="/home/claude/carboncheck/icons/arrow_right.png"/>
          <p:cNvPicPr>
            <a:picLocks noChangeAspect="1"/>
          </p:cNvPicPr>
          <p:nvPr/>
        </p:nvPicPr>
        <p:blipFill>
          <a:blip r:embed="rId5"/>
          <a:stretch>
            <a:fillRect/>
          </a:stretch>
        </p:blipFill>
        <p:spPr>
          <a:xfrm>
            <a:off x="4327284" y="4992624"/>
            <a:ext cx="256032" cy="256032"/>
          </a:xfrm>
          <a:prstGeom prst="rect">
            <a:avLst/>
          </a:prstGeom>
        </p:spPr>
      </p:pic>
      <p:sp>
        <p:nvSpPr>
          <p:cNvPr id="24" name="Shape 12"/>
          <p:cNvSpPr/>
          <p:nvPr/>
        </p:nvSpPr>
        <p:spPr>
          <a:xfrm>
            <a:off x="4942218" y="4251960"/>
            <a:ext cx="2307260"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25" name="Image 10" descr="/home/claude/carboncheck/icons/chart.png"/>
          <p:cNvPicPr>
            <a:picLocks noChangeAspect="1"/>
          </p:cNvPicPr>
          <p:nvPr/>
        </p:nvPicPr>
        <p:blipFill>
          <a:blip r:embed="rId11"/>
          <a:stretch>
            <a:fillRect/>
          </a:stretch>
        </p:blipFill>
        <p:spPr>
          <a:xfrm>
            <a:off x="5858104" y="4398264"/>
            <a:ext cx="475488" cy="475488"/>
          </a:xfrm>
          <a:prstGeom prst="rect">
            <a:avLst/>
          </a:prstGeom>
        </p:spPr>
      </p:pic>
      <p:sp>
        <p:nvSpPr>
          <p:cNvPr id="26" name="Text 13"/>
          <p:cNvSpPr/>
          <p:nvPr/>
        </p:nvSpPr>
        <p:spPr>
          <a:xfrm>
            <a:off x="5015370" y="5422392"/>
            <a:ext cx="2160956"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Dashboard</a:t>
            </a:r>
            <a:endParaRPr lang="en-US" sz="1050" dirty="0"/>
          </a:p>
        </p:txBody>
      </p:sp>
      <p:pic>
        <p:nvPicPr>
          <p:cNvPr id="27" name="Image 11" descr="/home/claude/carboncheck/icons/arrow_right.png"/>
          <p:cNvPicPr>
            <a:picLocks noChangeAspect="1"/>
          </p:cNvPicPr>
          <p:nvPr/>
        </p:nvPicPr>
        <p:blipFill>
          <a:blip r:embed="rId5"/>
          <a:stretch>
            <a:fillRect/>
          </a:stretch>
        </p:blipFill>
        <p:spPr>
          <a:xfrm>
            <a:off x="7265480" y="4992624"/>
            <a:ext cx="256032" cy="256032"/>
          </a:xfrm>
          <a:prstGeom prst="rect">
            <a:avLst/>
          </a:prstGeom>
        </p:spPr>
      </p:pic>
      <p:sp>
        <p:nvSpPr>
          <p:cNvPr id="28" name="Shape 14"/>
          <p:cNvSpPr/>
          <p:nvPr/>
        </p:nvSpPr>
        <p:spPr>
          <a:xfrm>
            <a:off x="7880413" y="4251960"/>
            <a:ext cx="2307260" cy="1737360"/>
          </a:xfrm>
          <a:prstGeom prst="roundRect">
            <a:avLst>
              <a:gd name="adj" fmla="val 631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29" name="Image 12" descr="/home/claude/carboncheck/icons/lightbulb.png"/>
          <p:cNvPicPr>
            <a:picLocks noChangeAspect="1"/>
          </p:cNvPicPr>
          <p:nvPr/>
        </p:nvPicPr>
        <p:blipFill>
          <a:blip r:embed="rId12"/>
          <a:stretch>
            <a:fillRect/>
          </a:stretch>
        </p:blipFill>
        <p:spPr>
          <a:xfrm>
            <a:off x="8796299" y="4398264"/>
            <a:ext cx="475488" cy="475488"/>
          </a:xfrm>
          <a:prstGeom prst="rect">
            <a:avLst/>
          </a:prstGeom>
        </p:spPr>
      </p:pic>
      <p:sp>
        <p:nvSpPr>
          <p:cNvPr id="30" name="Text 15"/>
          <p:cNvSpPr/>
          <p:nvPr/>
        </p:nvSpPr>
        <p:spPr>
          <a:xfrm>
            <a:off x="7953565" y="5422392"/>
            <a:ext cx="2160956" cy="502920"/>
          </a:xfrm>
          <a:prstGeom prst="rect">
            <a:avLst/>
          </a:prstGeom>
          <a:noFill/>
          <a:ln/>
        </p:spPr>
        <p:txBody>
          <a:bodyPr wrap="square" rtlCol="0" anchor="t"/>
          <a:lstStyle/>
          <a:p>
            <a:pPr marL="0" indent="0" algn="ctr">
              <a:buNone/>
            </a:pPr>
            <a:r>
              <a:rPr lang="en-US" sz="1050" b="1" dirty="0">
                <a:solidFill>
                  <a:srgbClr val="1B4332"/>
                </a:solidFill>
                <a:latin typeface="Arial" pitchFamily="34" charset="0"/>
                <a:ea typeface="Arial" pitchFamily="34" charset="-122"/>
                <a:cs typeface="Arial" pitchFamily="34" charset="-120"/>
              </a:rPr>
              <a:t>Personalized Suggestions</a:t>
            </a:r>
            <a:endParaRPr lang="en-US" sz="1050" dirty="0"/>
          </a:p>
        </p:txBody>
      </p:sp>
      <p:sp>
        <p:nvSpPr>
          <p:cNvPr id="31" name="Text 16"/>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2" name="Text 1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08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TECHNOLOGY STACK</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Tools &amp; Frameworks Used</a:t>
            </a:r>
            <a:endParaRPr lang="en-US" sz="3200" dirty="0"/>
          </a:p>
        </p:txBody>
      </p:sp>
      <p:sp>
        <p:nvSpPr>
          <p:cNvPr id="4" name="Shape 2"/>
          <p:cNvSpPr/>
          <p:nvPr/>
        </p:nvSpPr>
        <p:spPr>
          <a:xfrm>
            <a:off x="640080" y="1828800"/>
            <a:ext cx="2651760" cy="4160520"/>
          </a:xfrm>
          <a:prstGeom prst="roundRect">
            <a:avLst>
              <a:gd name="adj" fmla="val 551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1577340" y="2139696"/>
            <a:ext cx="777240" cy="777240"/>
          </a:xfrm>
          <a:prstGeom prst="ellipse">
            <a:avLst/>
          </a:prstGeom>
          <a:solidFill>
            <a:srgbClr val="E8F6EE"/>
          </a:solidFill>
          <a:ln/>
        </p:spPr>
      </p:sp>
      <p:pic>
        <p:nvPicPr>
          <p:cNvPr id="6" name="Image 0" descr="/home/claude/carboncheck/icons/react_logo.png"/>
          <p:cNvPicPr>
            <a:picLocks noChangeAspect="1"/>
          </p:cNvPicPr>
          <p:nvPr/>
        </p:nvPicPr>
        <p:blipFill>
          <a:blip r:embed="rId4"/>
          <a:stretch>
            <a:fillRect/>
          </a:stretch>
        </p:blipFill>
        <p:spPr>
          <a:xfrm>
            <a:off x="1678381" y="2240737"/>
            <a:ext cx="575158" cy="575158"/>
          </a:xfrm>
          <a:prstGeom prst="rect">
            <a:avLst/>
          </a:prstGeom>
        </p:spPr>
      </p:pic>
      <p:sp>
        <p:nvSpPr>
          <p:cNvPr id="7" name="Text 4"/>
          <p:cNvSpPr/>
          <p:nvPr/>
        </p:nvSpPr>
        <p:spPr>
          <a:xfrm>
            <a:off x="822960" y="3063240"/>
            <a:ext cx="2286000" cy="365760"/>
          </a:xfrm>
          <a:prstGeom prst="rect">
            <a:avLst/>
          </a:prstGeom>
          <a:noFill/>
          <a:ln/>
        </p:spPr>
        <p:txBody>
          <a:bodyPr wrap="square" rtlCol="0" anchor="ctr"/>
          <a:lstStyle/>
          <a:p>
            <a:pPr marL="0" indent="0" algn="ctr">
              <a:buNone/>
            </a:pPr>
            <a:r>
              <a:rPr lang="en-US" sz="1600" b="1" dirty="0">
                <a:solidFill>
                  <a:srgbClr val="1B4332"/>
                </a:solidFill>
                <a:latin typeface="Poppins" pitchFamily="34" charset="0"/>
                <a:ea typeface="Poppins" pitchFamily="34" charset="-122"/>
                <a:cs typeface="Poppins" pitchFamily="34" charset="-120"/>
              </a:rPr>
              <a:t>Frontend</a:t>
            </a:r>
            <a:endParaRPr lang="en-US" sz="1600" dirty="0"/>
          </a:p>
        </p:txBody>
      </p:sp>
      <p:sp>
        <p:nvSpPr>
          <p:cNvPr id="8" name="Shape 5"/>
          <p:cNvSpPr/>
          <p:nvPr/>
        </p:nvSpPr>
        <p:spPr>
          <a:xfrm>
            <a:off x="932688" y="3621024"/>
            <a:ext cx="82296" cy="82296"/>
          </a:xfrm>
          <a:prstGeom prst="ellipse">
            <a:avLst/>
          </a:prstGeom>
          <a:solidFill>
            <a:srgbClr val="2D9C6F"/>
          </a:solidFill>
          <a:ln/>
        </p:spPr>
      </p:sp>
      <p:sp>
        <p:nvSpPr>
          <p:cNvPr id="9" name="Text 6"/>
          <p:cNvSpPr/>
          <p:nvPr/>
        </p:nvSpPr>
        <p:spPr>
          <a:xfrm>
            <a:off x="1115568" y="3566160"/>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React.js</a:t>
            </a:r>
            <a:endParaRPr lang="en-US" sz="1200" dirty="0"/>
          </a:p>
        </p:txBody>
      </p:sp>
      <p:sp>
        <p:nvSpPr>
          <p:cNvPr id="10" name="Shape 7"/>
          <p:cNvSpPr/>
          <p:nvPr/>
        </p:nvSpPr>
        <p:spPr>
          <a:xfrm>
            <a:off x="932688" y="4059936"/>
            <a:ext cx="82296" cy="82296"/>
          </a:xfrm>
          <a:prstGeom prst="ellipse">
            <a:avLst/>
          </a:prstGeom>
          <a:solidFill>
            <a:srgbClr val="2D9C6F"/>
          </a:solidFill>
          <a:ln/>
        </p:spPr>
      </p:sp>
      <p:sp>
        <p:nvSpPr>
          <p:cNvPr id="11" name="Text 8"/>
          <p:cNvSpPr/>
          <p:nvPr/>
        </p:nvSpPr>
        <p:spPr>
          <a:xfrm>
            <a:off x="1115568" y="4005072"/>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Tailwind CSS</a:t>
            </a:r>
            <a:endParaRPr lang="en-US" sz="1200" dirty="0"/>
          </a:p>
        </p:txBody>
      </p:sp>
      <p:sp>
        <p:nvSpPr>
          <p:cNvPr id="12" name="Shape 9"/>
          <p:cNvSpPr/>
          <p:nvPr/>
        </p:nvSpPr>
        <p:spPr>
          <a:xfrm>
            <a:off x="932688" y="4498848"/>
            <a:ext cx="82296" cy="82296"/>
          </a:xfrm>
          <a:prstGeom prst="ellipse">
            <a:avLst/>
          </a:prstGeom>
          <a:solidFill>
            <a:srgbClr val="2D9C6F"/>
          </a:solidFill>
          <a:ln/>
        </p:spPr>
      </p:sp>
      <p:sp>
        <p:nvSpPr>
          <p:cNvPr id="13" name="Text 10"/>
          <p:cNvSpPr/>
          <p:nvPr/>
        </p:nvSpPr>
        <p:spPr>
          <a:xfrm>
            <a:off x="1115568" y="4443984"/>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Framer Motion</a:t>
            </a:r>
            <a:endParaRPr lang="en-US" sz="1200" dirty="0"/>
          </a:p>
        </p:txBody>
      </p:sp>
      <p:sp>
        <p:nvSpPr>
          <p:cNvPr id="14" name="Shape 11"/>
          <p:cNvSpPr/>
          <p:nvPr/>
        </p:nvSpPr>
        <p:spPr>
          <a:xfrm>
            <a:off x="932688" y="4937760"/>
            <a:ext cx="82296" cy="82296"/>
          </a:xfrm>
          <a:prstGeom prst="ellipse">
            <a:avLst/>
          </a:prstGeom>
          <a:solidFill>
            <a:srgbClr val="2D9C6F"/>
          </a:solidFill>
          <a:ln/>
        </p:spPr>
      </p:sp>
      <p:sp>
        <p:nvSpPr>
          <p:cNvPr id="15" name="Text 12"/>
          <p:cNvSpPr/>
          <p:nvPr/>
        </p:nvSpPr>
        <p:spPr>
          <a:xfrm>
            <a:off x="1115568" y="4882896"/>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React Router</a:t>
            </a:r>
            <a:endParaRPr lang="en-US" sz="1200" dirty="0"/>
          </a:p>
        </p:txBody>
      </p:sp>
      <p:sp>
        <p:nvSpPr>
          <p:cNvPr id="16" name="Shape 13"/>
          <p:cNvSpPr/>
          <p:nvPr/>
        </p:nvSpPr>
        <p:spPr>
          <a:xfrm>
            <a:off x="932688" y="5376672"/>
            <a:ext cx="82296" cy="82296"/>
          </a:xfrm>
          <a:prstGeom prst="ellipse">
            <a:avLst/>
          </a:prstGeom>
          <a:solidFill>
            <a:srgbClr val="2D9C6F"/>
          </a:solidFill>
          <a:ln/>
        </p:spPr>
      </p:sp>
      <p:sp>
        <p:nvSpPr>
          <p:cNvPr id="17" name="Text 14"/>
          <p:cNvSpPr/>
          <p:nvPr/>
        </p:nvSpPr>
        <p:spPr>
          <a:xfrm>
            <a:off x="1115568" y="5321808"/>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Recharts</a:t>
            </a:r>
            <a:endParaRPr lang="en-US" sz="1200" dirty="0"/>
          </a:p>
        </p:txBody>
      </p:sp>
      <p:sp>
        <p:nvSpPr>
          <p:cNvPr id="18" name="Shape 15"/>
          <p:cNvSpPr/>
          <p:nvPr/>
        </p:nvSpPr>
        <p:spPr>
          <a:xfrm>
            <a:off x="3547872" y="1828800"/>
            <a:ext cx="2651760" cy="4160520"/>
          </a:xfrm>
          <a:prstGeom prst="roundRect">
            <a:avLst>
              <a:gd name="adj" fmla="val 551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9" name="Shape 16"/>
          <p:cNvSpPr/>
          <p:nvPr/>
        </p:nvSpPr>
        <p:spPr>
          <a:xfrm>
            <a:off x="4485132" y="2139696"/>
            <a:ext cx="777240" cy="777240"/>
          </a:xfrm>
          <a:prstGeom prst="ellipse">
            <a:avLst/>
          </a:prstGeom>
          <a:solidFill>
            <a:srgbClr val="E8F6EE"/>
          </a:solidFill>
          <a:ln/>
        </p:spPr>
      </p:sp>
      <p:pic>
        <p:nvPicPr>
          <p:cNvPr id="20" name="Image 1" descr="/home/claude/carboncheck/icons/server.png"/>
          <p:cNvPicPr>
            <a:picLocks noChangeAspect="1"/>
          </p:cNvPicPr>
          <p:nvPr/>
        </p:nvPicPr>
        <p:blipFill>
          <a:blip r:embed="rId5"/>
          <a:stretch>
            <a:fillRect/>
          </a:stretch>
        </p:blipFill>
        <p:spPr>
          <a:xfrm>
            <a:off x="4586173" y="2240737"/>
            <a:ext cx="575158" cy="575158"/>
          </a:xfrm>
          <a:prstGeom prst="rect">
            <a:avLst/>
          </a:prstGeom>
        </p:spPr>
      </p:pic>
      <p:sp>
        <p:nvSpPr>
          <p:cNvPr id="21" name="Text 17"/>
          <p:cNvSpPr/>
          <p:nvPr/>
        </p:nvSpPr>
        <p:spPr>
          <a:xfrm>
            <a:off x="3730752" y="3063240"/>
            <a:ext cx="2286000" cy="365760"/>
          </a:xfrm>
          <a:prstGeom prst="rect">
            <a:avLst/>
          </a:prstGeom>
          <a:noFill/>
          <a:ln/>
        </p:spPr>
        <p:txBody>
          <a:bodyPr wrap="square" rtlCol="0" anchor="ctr"/>
          <a:lstStyle/>
          <a:p>
            <a:pPr marL="0" indent="0" algn="ctr">
              <a:buNone/>
            </a:pPr>
            <a:r>
              <a:rPr lang="en-US" sz="1600" b="1" dirty="0">
                <a:solidFill>
                  <a:srgbClr val="1B4332"/>
                </a:solidFill>
                <a:latin typeface="Poppins" pitchFamily="34" charset="0"/>
                <a:ea typeface="Poppins" pitchFamily="34" charset="-122"/>
                <a:cs typeface="Poppins" pitchFamily="34" charset="-120"/>
              </a:rPr>
              <a:t>Backend</a:t>
            </a:r>
            <a:endParaRPr lang="en-US" sz="1600" dirty="0"/>
          </a:p>
        </p:txBody>
      </p:sp>
      <p:sp>
        <p:nvSpPr>
          <p:cNvPr id="22" name="Shape 18"/>
          <p:cNvSpPr/>
          <p:nvPr/>
        </p:nvSpPr>
        <p:spPr>
          <a:xfrm>
            <a:off x="3840480" y="3621024"/>
            <a:ext cx="82296" cy="82296"/>
          </a:xfrm>
          <a:prstGeom prst="ellipse">
            <a:avLst/>
          </a:prstGeom>
          <a:solidFill>
            <a:srgbClr val="2D9C6F"/>
          </a:solidFill>
          <a:ln/>
        </p:spPr>
      </p:sp>
      <p:sp>
        <p:nvSpPr>
          <p:cNvPr id="23" name="Text 19"/>
          <p:cNvSpPr/>
          <p:nvPr/>
        </p:nvSpPr>
        <p:spPr>
          <a:xfrm>
            <a:off x="4023360" y="3566160"/>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Python</a:t>
            </a:r>
            <a:endParaRPr lang="en-US" sz="1200" dirty="0"/>
          </a:p>
        </p:txBody>
      </p:sp>
      <p:sp>
        <p:nvSpPr>
          <p:cNvPr id="24" name="Shape 20"/>
          <p:cNvSpPr/>
          <p:nvPr/>
        </p:nvSpPr>
        <p:spPr>
          <a:xfrm>
            <a:off x="3840480" y="4059936"/>
            <a:ext cx="82296" cy="82296"/>
          </a:xfrm>
          <a:prstGeom prst="ellipse">
            <a:avLst/>
          </a:prstGeom>
          <a:solidFill>
            <a:srgbClr val="2D9C6F"/>
          </a:solidFill>
          <a:ln/>
        </p:spPr>
      </p:sp>
      <p:sp>
        <p:nvSpPr>
          <p:cNvPr id="25" name="Text 21"/>
          <p:cNvSpPr/>
          <p:nvPr/>
        </p:nvSpPr>
        <p:spPr>
          <a:xfrm>
            <a:off x="4023360" y="4005072"/>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FastAPI</a:t>
            </a:r>
            <a:endParaRPr lang="en-US" sz="1200" dirty="0"/>
          </a:p>
        </p:txBody>
      </p:sp>
      <p:sp>
        <p:nvSpPr>
          <p:cNvPr id="26" name="Shape 22"/>
          <p:cNvSpPr/>
          <p:nvPr/>
        </p:nvSpPr>
        <p:spPr>
          <a:xfrm>
            <a:off x="6455664" y="1828800"/>
            <a:ext cx="2651760" cy="4160520"/>
          </a:xfrm>
          <a:prstGeom prst="roundRect">
            <a:avLst>
              <a:gd name="adj" fmla="val 551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7" name="Shape 23"/>
          <p:cNvSpPr/>
          <p:nvPr/>
        </p:nvSpPr>
        <p:spPr>
          <a:xfrm>
            <a:off x="7392924" y="2139696"/>
            <a:ext cx="777240" cy="777240"/>
          </a:xfrm>
          <a:prstGeom prst="ellipse">
            <a:avLst/>
          </a:prstGeom>
          <a:solidFill>
            <a:srgbClr val="E8F6EE"/>
          </a:solidFill>
          <a:ln/>
        </p:spPr>
      </p:sp>
      <p:pic>
        <p:nvPicPr>
          <p:cNvPr id="28" name="Image 2" descr="/home/claude/carboncheck/icons/database.png"/>
          <p:cNvPicPr>
            <a:picLocks noChangeAspect="1"/>
          </p:cNvPicPr>
          <p:nvPr/>
        </p:nvPicPr>
        <p:blipFill>
          <a:blip r:embed="rId6"/>
          <a:stretch>
            <a:fillRect/>
          </a:stretch>
        </p:blipFill>
        <p:spPr>
          <a:xfrm>
            <a:off x="7493965" y="2240737"/>
            <a:ext cx="575158" cy="575158"/>
          </a:xfrm>
          <a:prstGeom prst="rect">
            <a:avLst/>
          </a:prstGeom>
        </p:spPr>
      </p:pic>
      <p:sp>
        <p:nvSpPr>
          <p:cNvPr id="29" name="Text 24"/>
          <p:cNvSpPr/>
          <p:nvPr/>
        </p:nvSpPr>
        <p:spPr>
          <a:xfrm>
            <a:off x="6638544" y="3063240"/>
            <a:ext cx="2286000" cy="365760"/>
          </a:xfrm>
          <a:prstGeom prst="rect">
            <a:avLst/>
          </a:prstGeom>
          <a:noFill/>
          <a:ln/>
        </p:spPr>
        <p:txBody>
          <a:bodyPr wrap="square" rtlCol="0" anchor="ctr"/>
          <a:lstStyle/>
          <a:p>
            <a:pPr marL="0" indent="0" algn="ctr">
              <a:buNone/>
            </a:pPr>
            <a:r>
              <a:rPr lang="en-US" sz="1600" b="1" dirty="0">
                <a:solidFill>
                  <a:srgbClr val="1B4332"/>
                </a:solidFill>
                <a:latin typeface="Poppins" pitchFamily="34" charset="0"/>
                <a:ea typeface="Poppins" pitchFamily="34" charset="-122"/>
                <a:cs typeface="Poppins" pitchFamily="34" charset="-120"/>
              </a:rPr>
              <a:t>Database</a:t>
            </a:r>
            <a:endParaRPr lang="en-US" sz="1600" dirty="0"/>
          </a:p>
        </p:txBody>
      </p:sp>
      <p:sp>
        <p:nvSpPr>
          <p:cNvPr id="30" name="Shape 25"/>
          <p:cNvSpPr/>
          <p:nvPr/>
        </p:nvSpPr>
        <p:spPr>
          <a:xfrm>
            <a:off x="6748272" y="3621024"/>
            <a:ext cx="82296" cy="82296"/>
          </a:xfrm>
          <a:prstGeom prst="ellipse">
            <a:avLst/>
          </a:prstGeom>
          <a:solidFill>
            <a:srgbClr val="2D9C6F"/>
          </a:solidFill>
          <a:ln/>
        </p:spPr>
      </p:sp>
      <p:sp>
        <p:nvSpPr>
          <p:cNvPr id="31" name="Text 26"/>
          <p:cNvSpPr/>
          <p:nvPr/>
        </p:nvSpPr>
        <p:spPr>
          <a:xfrm>
            <a:off x="6931152" y="3566160"/>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SQLite</a:t>
            </a:r>
            <a:endParaRPr lang="en-US" sz="1200" dirty="0"/>
          </a:p>
        </p:txBody>
      </p:sp>
      <p:sp>
        <p:nvSpPr>
          <p:cNvPr id="32" name="Shape 27"/>
          <p:cNvSpPr/>
          <p:nvPr/>
        </p:nvSpPr>
        <p:spPr>
          <a:xfrm>
            <a:off x="9363456" y="1828800"/>
            <a:ext cx="2651760" cy="4160520"/>
          </a:xfrm>
          <a:prstGeom prst="roundRect">
            <a:avLst>
              <a:gd name="adj" fmla="val 551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33" name="Shape 28"/>
          <p:cNvSpPr/>
          <p:nvPr/>
        </p:nvSpPr>
        <p:spPr>
          <a:xfrm>
            <a:off x="10300716" y="2139696"/>
            <a:ext cx="777240" cy="777240"/>
          </a:xfrm>
          <a:prstGeom prst="ellipse">
            <a:avLst/>
          </a:prstGeom>
          <a:solidFill>
            <a:srgbClr val="E8F6EE"/>
          </a:solidFill>
          <a:ln/>
        </p:spPr>
      </p:sp>
      <p:pic>
        <p:nvPicPr>
          <p:cNvPr id="34" name="Image 3" descr="/home/claude/carboncheck/icons/flask.png"/>
          <p:cNvPicPr>
            <a:picLocks noChangeAspect="1"/>
          </p:cNvPicPr>
          <p:nvPr/>
        </p:nvPicPr>
        <p:blipFill>
          <a:blip r:embed="rId7"/>
          <a:stretch>
            <a:fillRect/>
          </a:stretch>
        </p:blipFill>
        <p:spPr>
          <a:xfrm>
            <a:off x="10401757" y="2240737"/>
            <a:ext cx="575158" cy="575158"/>
          </a:xfrm>
          <a:prstGeom prst="rect">
            <a:avLst/>
          </a:prstGeom>
        </p:spPr>
      </p:pic>
      <p:sp>
        <p:nvSpPr>
          <p:cNvPr id="35" name="Text 29"/>
          <p:cNvSpPr/>
          <p:nvPr/>
        </p:nvSpPr>
        <p:spPr>
          <a:xfrm>
            <a:off x="9546336" y="3063240"/>
            <a:ext cx="2286000" cy="365760"/>
          </a:xfrm>
          <a:prstGeom prst="rect">
            <a:avLst/>
          </a:prstGeom>
          <a:noFill/>
          <a:ln/>
        </p:spPr>
        <p:txBody>
          <a:bodyPr wrap="square" rtlCol="0" anchor="ctr"/>
          <a:lstStyle/>
          <a:p>
            <a:pPr marL="0" indent="0" algn="ctr">
              <a:buNone/>
            </a:pPr>
            <a:r>
              <a:rPr lang="en-US" sz="1600" b="1" dirty="0">
                <a:solidFill>
                  <a:srgbClr val="1B4332"/>
                </a:solidFill>
                <a:latin typeface="Poppins" pitchFamily="34" charset="0"/>
                <a:ea typeface="Poppins" pitchFamily="34" charset="-122"/>
                <a:cs typeface="Poppins" pitchFamily="34" charset="-120"/>
              </a:rPr>
              <a:t>AI / ML</a:t>
            </a:r>
            <a:endParaRPr lang="en-US" sz="1600" dirty="0"/>
          </a:p>
        </p:txBody>
      </p:sp>
      <p:sp>
        <p:nvSpPr>
          <p:cNvPr id="36" name="Shape 30"/>
          <p:cNvSpPr/>
          <p:nvPr/>
        </p:nvSpPr>
        <p:spPr>
          <a:xfrm>
            <a:off x="9656064" y="3621024"/>
            <a:ext cx="82296" cy="82296"/>
          </a:xfrm>
          <a:prstGeom prst="ellipse">
            <a:avLst/>
          </a:prstGeom>
          <a:solidFill>
            <a:srgbClr val="2D9C6F"/>
          </a:solidFill>
          <a:ln/>
        </p:spPr>
      </p:sp>
      <p:sp>
        <p:nvSpPr>
          <p:cNvPr id="37" name="Text 31"/>
          <p:cNvSpPr/>
          <p:nvPr/>
        </p:nvSpPr>
        <p:spPr>
          <a:xfrm>
            <a:off x="9838944" y="3566160"/>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Scikit-Learn</a:t>
            </a:r>
            <a:endParaRPr lang="en-US" sz="1200" dirty="0"/>
          </a:p>
        </p:txBody>
      </p:sp>
      <p:sp>
        <p:nvSpPr>
          <p:cNvPr id="38" name="Shape 32"/>
          <p:cNvSpPr/>
          <p:nvPr/>
        </p:nvSpPr>
        <p:spPr>
          <a:xfrm>
            <a:off x="9656064" y="4059936"/>
            <a:ext cx="82296" cy="82296"/>
          </a:xfrm>
          <a:prstGeom prst="ellipse">
            <a:avLst/>
          </a:prstGeom>
          <a:solidFill>
            <a:srgbClr val="2D9C6F"/>
          </a:solidFill>
          <a:ln/>
        </p:spPr>
      </p:sp>
      <p:sp>
        <p:nvSpPr>
          <p:cNvPr id="39" name="Text 33"/>
          <p:cNvSpPr/>
          <p:nvPr/>
        </p:nvSpPr>
        <p:spPr>
          <a:xfrm>
            <a:off x="9838944" y="4005072"/>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Pandas</a:t>
            </a:r>
            <a:endParaRPr lang="en-US" sz="1200" dirty="0"/>
          </a:p>
        </p:txBody>
      </p:sp>
      <p:sp>
        <p:nvSpPr>
          <p:cNvPr id="40" name="Shape 34"/>
          <p:cNvSpPr/>
          <p:nvPr/>
        </p:nvSpPr>
        <p:spPr>
          <a:xfrm>
            <a:off x="9656064" y="4498848"/>
            <a:ext cx="82296" cy="82296"/>
          </a:xfrm>
          <a:prstGeom prst="ellipse">
            <a:avLst/>
          </a:prstGeom>
          <a:solidFill>
            <a:srgbClr val="2D9C6F"/>
          </a:solidFill>
          <a:ln/>
        </p:spPr>
      </p:sp>
      <p:sp>
        <p:nvSpPr>
          <p:cNvPr id="41" name="Text 35"/>
          <p:cNvSpPr/>
          <p:nvPr/>
        </p:nvSpPr>
        <p:spPr>
          <a:xfrm>
            <a:off x="9838944" y="4443984"/>
            <a:ext cx="2011680" cy="365760"/>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NumPy</a:t>
            </a:r>
            <a:endParaRPr lang="en-US" sz="1200" dirty="0"/>
          </a:p>
        </p:txBody>
      </p:sp>
      <p:sp>
        <p:nvSpPr>
          <p:cNvPr id="42" name="Text 36"/>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43" name="Text 3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09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SYSTEM DESIGN</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System Architecture</a:t>
            </a:r>
            <a:endParaRPr lang="en-US" sz="3200" dirty="0"/>
          </a:p>
        </p:txBody>
      </p:sp>
      <p:sp>
        <p:nvSpPr>
          <p:cNvPr id="4" name="Shape 2"/>
          <p:cNvSpPr/>
          <p:nvPr/>
        </p:nvSpPr>
        <p:spPr>
          <a:xfrm>
            <a:off x="3992728" y="2386584"/>
            <a:ext cx="4206240" cy="512064"/>
          </a:xfrm>
          <a:prstGeom prst="roundRect">
            <a:avLst>
              <a:gd name="adj" fmla="val 89286"/>
            </a:avLst>
          </a:prstGeom>
          <a:solidFill>
            <a:srgbClr val="1B4332"/>
          </a:solidFill>
          <a:ln w="12700">
            <a:solidFill>
              <a:srgbClr val="DCEBE2"/>
            </a:solidFill>
            <a:prstDash val="solid"/>
          </a:ln>
          <a:effectLst>
            <a:outerShdw blurRad="127000" dist="38100" dir="5400000" algn="bl" rotWithShape="0">
              <a:srgbClr val="1B4332">
                <a:alpha val="10000"/>
              </a:srgbClr>
            </a:outerShdw>
          </a:effectLst>
        </p:spPr>
      </p:sp>
      <p:pic>
        <p:nvPicPr>
          <p:cNvPr id="5" name="Image 0" descr="/home/claude/carboncheck/icons/users_white.png"/>
          <p:cNvPicPr>
            <a:picLocks noChangeAspect="1"/>
          </p:cNvPicPr>
          <p:nvPr/>
        </p:nvPicPr>
        <p:blipFill>
          <a:blip r:embed="rId4"/>
          <a:stretch>
            <a:fillRect/>
          </a:stretch>
        </p:blipFill>
        <p:spPr>
          <a:xfrm>
            <a:off x="4193896" y="2487168"/>
            <a:ext cx="310896" cy="310896"/>
          </a:xfrm>
          <a:prstGeom prst="rect">
            <a:avLst/>
          </a:prstGeom>
        </p:spPr>
      </p:pic>
      <p:sp>
        <p:nvSpPr>
          <p:cNvPr id="6" name="Text 3"/>
          <p:cNvSpPr/>
          <p:nvPr/>
        </p:nvSpPr>
        <p:spPr>
          <a:xfrm>
            <a:off x="4632808" y="2386584"/>
            <a:ext cx="3383280" cy="512064"/>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User</a:t>
            </a:r>
            <a:endParaRPr lang="en-US" sz="1300" dirty="0"/>
          </a:p>
        </p:txBody>
      </p:sp>
      <p:pic>
        <p:nvPicPr>
          <p:cNvPr id="7" name="Image 1" descr="/home/claude/carboncheck/icons/arrow_down.png"/>
          <p:cNvPicPr>
            <a:picLocks noChangeAspect="1"/>
          </p:cNvPicPr>
          <p:nvPr/>
        </p:nvPicPr>
        <p:blipFill>
          <a:blip r:embed="rId5"/>
          <a:stretch>
            <a:fillRect/>
          </a:stretch>
        </p:blipFill>
        <p:spPr>
          <a:xfrm>
            <a:off x="6004408" y="2916936"/>
            <a:ext cx="182880" cy="182880"/>
          </a:xfrm>
          <a:prstGeom prst="rect">
            <a:avLst/>
          </a:prstGeom>
        </p:spPr>
      </p:pic>
      <p:sp>
        <p:nvSpPr>
          <p:cNvPr id="8" name="Shape 4"/>
          <p:cNvSpPr/>
          <p:nvPr/>
        </p:nvSpPr>
        <p:spPr>
          <a:xfrm>
            <a:off x="3992728" y="3044952"/>
            <a:ext cx="4206240" cy="512064"/>
          </a:xfrm>
          <a:prstGeom prst="roundRect">
            <a:avLst>
              <a:gd name="adj" fmla="val 8928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9" name="Image 2" descr="/home/claude/carboncheck/icons/react_logo.png"/>
          <p:cNvPicPr>
            <a:picLocks noChangeAspect="1"/>
          </p:cNvPicPr>
          <p:nvPr/>
        </p:nvPicPr>
        <p:blipFill>
          <a:blip r:embed="rId6"/>
          <a:stretch>
            <a:fillRect/>
          </a:stretch>
        </p:blipFill>
        <p:spPr>
          <a:xfrm>
            <a:off x="4193896" y="3145536"/>
            <a:ext cx="310896" cy="310896"/>
          </a:xfrm>
          <a:prstGeom prst="rect">
            <a:avLst/>
          </a:prstGeom>
        </p:spPr>
      </p:pic>
      <p:sp>
        <p:nvSpPr>
          <p:cNvPr id="10" name="Text 5"/>
          <p:cNvSpPr/>
          <p:nvPr/>
        </p:nvSpPr>
        <p:spPr>
          <a:xfrm>
            <a:off x="4632808" y="3044952"/>
            <a:ext cx="3383280" cy="512064"/>
          </a:xfrm>
          <a:prstGeom prst="rect">
            <a:avLst/>
          </a:prstGeom>
          <a:noFill/>
          <a:ln/>
        </p:spPr>
        <p:txBody>
          <a:bodyPr wrap="square" rtlCol="0" anchor="ctr"/>
          <a:lstStyle/>
          <a:p>
            <a:pPr marL="0" indent="0">
              <a:buNone/>
            </a:pPr>
            <a:r>
              <a:rPr lang="en-US" sz="1300" b="1" dirty="0">
                <a:solidFill>
                  <a:srgbClr val="1C2B23"/>
                </a:solidFill>
                <a:latin typeface="Arial" pitchFamily="34" charset="0"/>
                <a:ea typeface="Arial" pitchFamily="34" charset="-122"/>
                <a:cs typeface="Arial" pitchFamily="34" charset="-120"/>
              </a:rPr>
              <a:t>React Frontend</a:t>
            </a:r>
            <a:endParaRPr lang="en-US" sz="1300" dirty="0"/>
          </a:p>
        </p:txBody>
      </p:sp>
      <p:pic>
        <p:nvPicPr>
          <p:cNvPr id="11" name="Image 3" descr="/home/claude/carboncheck/icons/arrow_down.png"/>
          <p:cNvPicPr>
            <a:picLocks noChangeAspect="1"/>
          </p:cNvPicPr>
          <p:nvPr/>
        </p:nvPicPr>
        <p:blipFill>
          <a:blip r:embed="rId5"/>
          <a:stretch>
            <a:fillRect/>
          </a:stretch>
        </p:blipFill>
        <p:spPr>
          <a:xfrm>
            <a:off x="6004408" y="3575304"/>
            <a:ext cx="182880" cy="182880"/>
          </a:xfrm>
          <a:prstGeom prst="rect">
            <a:avLst/>
          </a:prstGeom>
        </p:spPr>
      </p:pic>
      <p:sp>
        <p:nvSpPr>
          <p:cNvPr id="12" name="Shape 6"/>
          <p:cNvSpPr/>
          <p:nvPr/>
        </p:nvSpPr>
        <p:spPr>
          <a:xfrm>
            <a:off x="3992728" y="3703320"/>
            <a:ext cx="4206240" cy="512064"/>
          </a:xfrm>
          <a:prstGeom prst="roundRect">
            <a:avLst>
              <a:gd name="adj" fmla="val 8928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13" name="Image 4" descr="/home/claude/carboncheck/icons/server.png"/>
          <p:cNvPicPr>
            <a:picLocks noChangeAspect="1"/>
          </p:cNvPicPr>
          <p:nvPr/>
        </p:nvPicPr>
        <p:blipFill>
          <a:blip r:embed="rId7"/>
          <a:stretch>
            <a:fillRect/>
          </a:stretch>
        </p:blipFill>
        <p:spPr>
          <a:xfrm>
            <a:off x="4193896" y="3803904"/>
            <a:ext cx="310896" cy="310896"/>
          </a:xfrm>
          <a:prstGeom prst="rect">
            <a:avLst/>
          </a:prstGeom>
        </p:spPr>
      </p:pic>
      <p:sp>
        <p:nvSpPr>
          <p:cNvPr id="14" name="Text 7"/>
          <p:cNvSpPr/>
          <p:nvPr/>
        </p:nvSpPr>
        <p:spPr>
          <a:xfrm>
            <a:off x="4632808" y="3703320"/>
            <a:ext cx="3383280" cy="512064"/>
          </a:xfrm>
          <a:prstGeom prst="rect">
            <a:avLst/>
          </a:prstGeom>
          <a:noFill/>
          <a:ln/>
        </p:spPr>
        <p:txBody>
          <a:bodyPr wrap="square" rtlCol="0" anchor="ctr"/>
          <a:lstStyle/>
          <a:p>
            <a:pPr marL="0" indent="0">
              <a:buNone/>
            </a:pPr>
            <a:r>
              <a:rPr lang="en-US" sz="1300" b="1" dirty="0">
                <a:solidFill>
                  <a:srgbClr val="1C2B23"/>
                </a:solidFill>
                <a:latin typeface="Arial" pitchFamily="34" charset="0"/>
                <a:ea typeface="Arial" pitchFamily="34" charset="-122"/>
                <a:cs typeface="Arial" pitchFamily="34" charset="-120"/>
              </a:rPr>
              <a:t>FastAPI Backend</a:t>
            </a:r>
            <a:endParaRPr lang="en-US" sz="1300" dirty="0"/>
          </a:p>
        </p:txBody>
      </p:sp>
      <p:pic>
        <p:nvPicPr>
          <p:cNvPr id="15" name="Image 5" descr="/home/claude/carboncheck/icons/arrow_down.png"/>
          <p:cNvPicPr>
            <a:picLocks noChangeAspect="1"/>
          </p:cNvPicPr>
          <p:nvPr/>
        </p:nvPicPr>
        <p:blipFill>
          <a:blip r:embed="rId5"/>
          <a:stretch>
            <a:fillRect/>
          </a:stretch>
        </p:blipFill>
        <p:spPr>
          <a:xfrm>
            <a:off x="6004408" y="4233672"/>
            <a:ext cx="182880" cy="182880"/>
          </a:xfrm>
          <a:prstGeom prst="rect">
            <a:avLst/>
          </a:prstGeom>
        </p:spPr>
      </p:pic>
      <p:sp>
        <p:nvSpPr>
          <p:cNvPr id="16" name="Shape 8"/>
          <p:cNvSpPr/>
          <p:nvPr/>
        </p:nvSpPr>
        <p:spPr>
          <a:xfrm>
            <a:off x="3992728" y="4361688"/>
            <a:ext cx="4206240" cy="512064"/>
          </a:xfrm>
          <a:prstGeom prst="roundRect">
            <a:avLst>
              <a:gd name="adj" fmla="val 8928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17" name="Image 6" descr="/home/claude/carboncheck/icons/database.png"/>
          <p:cNvPicPr>
            <a:picLocks noChangeAspect="1"/>
          </p:cNvPicPr>
          <p:nvPr/>
        </p:nvPicPr>
        <p:blipFill>
          <a:blip r:embed="rId8"/>
          <a:stretch>
            <a:fillRect/>
          </a:stretch>
        </p:blipFill>
        <p:spPr>
          <a:xfrm>
            <a:off x="4193896" y="4462272"/>
            <a:ext cx="310896" cy="310896"/>
          </a:xfrm>
          <a:prstGeom prst="rect">
            <a:avLst/>
          </a:prstGeom>
        </p:spPr>
      </p:pic>
      <p:sp>
        <p:nvSpPr>
          <p:cNvPr id="18" name="Text 9"/>
          <p:cNvSpPr/>
          <p:nvPr/>
        </p:nvSpPr>
        <p:spPr>
          <a:xfrm>
            <a:off x="4632808" y="4361688"/>
            <a:ext cx="3383280" cy="512064"/>
          </a:xfrm>
          <a:prstGeom prst="rect">
            <a:avLst/>
          </a:prstGeom>
          <a:noFill/>
          <a:ln/>
        </p:spPr>
        <p:txBody>
          <a:bodyPr wrap="square" rtlCol="0" anchor="ctr"/>
          <a:lstStyle/>
          <a:p>
            <a:pPr marL="0" indent="0">
              <a:buNone/>
            </a:pPr>
            <a:r>
              <a:rPr lang="en-US" sz="1300" b="1" dirty="0">
                <a:solidFill>
                  <a:srgbClr val="1C2B23"/>
                </a:solidFill>
                <a:latin typeface="Arial" pitchFamily="34" charset="0"/>
                <a:ea typeface="Arial" pitchFamily="34" charset="-122"/>
                <a:cs typeface="Arial" pitchFamily="34" charset="-120"/>
              </a:rPr>
              <a:t>SQLite Database</a:t>
            </a:r>
            <a:endParaRPr lang="en-US" sz="1300" dirty="0"/>
          </a:p>
        </p:txBody>
      </p:sp>
      <p:pic>
        <p:nvPicPr>
          <p:cNvPr id="19" name="Image 7" descr="/home/claude/carboncheck/icons/arrow_down.png"/>
          <p:cNvPicPr>
            <a:picLocks noChangeAspect="1"/>
          </p:cNvPicPr>
          <p:nvPr/>
        </p:nvPicPr>
        <p:blipFill>
          <a:blip r:embed="rId5"/>
          <a:stretch>
            <a:fillRect/>
          </a:stretch>
        </p:blipFill>
        <p:spPr>
          <a:xfrm>
            <a:off x="6004408" y="4892040"/>
            <a:ext cx="182880" cy="182880"/>
          </a:xfrm>
          <a:prstGeom prst="rect">
            <a:avLst/>
          </a:prstGeom>
        </p:spPr>
      </p:pic>
      <p:sp>
        <p:nvSpPr>
          <p:cNvPr id="20" name="Shape 10"/>
          <p:cNvSpPr/>
          <p:nvPr/>
        </p:nvSpPr>
        <p:spPr>
          <a:xfrm>
            <a:off x="3992728" y="5020056"/>
            <a:ext cx="4206240" cy="512064"/>
          </a:xfrm>
          <a:prstGeom prst="roundRect">
            <a:avLst>
              <a:gd name="adj" fmla="val 8928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21" name="Image 8" descr="/home/claude/carboncheck/icons/brain.png"/>
          <p:cNvPicPr>
            <a:picLocks noChangeAspect="1"/>
          </p:cNvPicPr>
          <p:nvPr/>
        </p:nvPicPr>
        <p:blipFill>
          <a:blip r:embed="rId9"/>
          <a:stretch>
            <a:fillRect/>
          </a:stretch>
        </p:blipFill>
        <p:spPr>
          <a:xfrm>
            <a:off x="4193896" y="5120640"/>
            <a:ext cx="310896" cy="310896"/>
          </a:xfrm>
          <a:prstGeom prst="rect">
            <a:avLst/>
          </a:prstGeom>
        </p:spPr>
      </p:pic>
      <p:sp>
        <p:nvSpPr>
          <p:cNvPr id="22" name="Text 11"/>
          <p:cNvSpPr/>
          <p:nvPr/>
        </p:nvSpPr>
        <p:spPr>
          <a:xfrm>
            <a:off x="4632808" y="5020056"/>
            <a:ext cx="3383280" cy="512064"/>
          </a:xfrm>
          <a:prstGeom prst="rect">
            <a:avLst/>
          </a:prstGeom>
          <a:noFill/>
          <a:ln/>
        </p:spPr>
        <p:txBody>
          <a:bodyPr wrap="square" rtlCol="0" anchor="ctr"/>
          <a:lstStyle/>
          <a:p>
            <a:pPr marL="0" indent="0">
              <a:buNone/>
            </a:pPr>
            <a:r>
              <a:rPr lang="en-US" sz="1300" b="1" dirty="0">
                <a:solidFill>
                  <a:srgbClr val="1C2B23"/>
                </a:solidFill>
                <a:latin typeface="Arial" pitchFamily="34" charset="0"/>
                <a:ea typeface="Arial" pitchFamily="34" charset="-122"/>
                <a:cs typeface="Arial" pitchFamily="34" charset="-120"/>
              </a:rPr>
              <a:t>Machine Learning Model</a:t>
            </a:r>
            <a:endParaRPr lang="en-US" sz="1300" dirty="0"/>
          </a:p>
        </p:txBody>
      </p:sp>
      <p:pic>
        <p:nvPicPr>
          <p:cNvPr id="23" name="Image 9" descr="/home/claude/carboncheck/icons/arrow_down.png"/>
          <p:cNvPicPr>
            <a:picLocks noChangeAspect="1"/>
          </p:cNvPicPr>
          <p:nvPr/>
        </p:nvPicPr>
        <p:blipFill>
          <a:blip r:embed="rId5"/>
          <a:stretch>
            <a:fillRect/>
          </a:stretch>
        </p:blipFill>
        <p:spPr>
          <a:xfrm>
            <a:off x="6004408" y="5550408"/>
            <a:ext cx="182880" cy="182880"/>
          </a:xfrm>
          <a:prstGeom prst="rect">
            <a:avLst/>
          </a:prstGeom>
        </p:spPr>
      </p:pic>
      <p:sp>
        <p:nvSpPr>
          <p:cNvPr id="24" name="Shape 12"/>
          <p:cNvSpPr/>
          <p:nvPr/>
        </p:nvSpPr>
        <p:spPr>
          <a:xfrm>
            <a:off x="3992728" y="5678424"/>
            <a:ext cx="4206240" cy="512064"/>
          </a:xfrm>
          <a:prstGeom prst="roundRect">
            <a:avLst>
              <a:gd name="adj" fmla="val 89286"/>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25" name="Image 10" descr="/home/claude/carboncheck/icons/network.png"/>
          <p:cNvPicPr>
            <a:picLocks noChangeAspect="1"/>
          </p:cNvPicPr>
          <p:nvPr/>
        </p:nvPicPr>
        <p:blipFill>
          <a:blip r:embed="rId10"/>
          <a:stretch>
            <a:fillRect/>
          </a:stretch>
        </p:blipFill>
        <p:spPr>
          <a:xfrm>
            <a:off x="4193896" y="5779008"/>
            <a:ext cx="310896" cy="310896"/>
          </a:xfrm>
          <a:prstGeom prst="rect">
            <a:avLst/>
          </a:prstGeom>
        </p:spPr>
      </p:pic>
      <p:sp>
        <p:nvSpPr>
          <p:cNvPr id="26" name="Text 13"/>
          <p:cNvSpPr/>
          <p:nvPr/>
        </p:nvSpPr>
        <p:spPr>
          <a:xfrm>
            <a:off x="4632808" y="5678424"/>
            <a:ext cx="3383280" cy="512064"/>
          </a:xfrm>
          <a:prstGeom prst="rect">
            <a:avLst/>
          </a:prstGeom>
          <a:noFill/>
          <a:ln/>
        </p:spPr>
        <p:txBody>
          <a:bodyPr wrap="square" rtlCol="0" anchor="ctr"/>
          <a:lstStyle/>
          <a:p>
            <a:pPr marL="0" indent="0">
              <a:buNone/>
            </a:pPr>
            <a:r>
              <a:rPr lang="en-US" sz="1300" b="1" dirty="0">
                <a:solidFill>
                  <a:srgbClr val="1C2B23"/>
                </a:solidFill>
                <a:latin typeface="Arial" pitchFamily="34" charset="0"/>
                <a:ea typeface="Arial" pitchFamily="34" charset="-122"/>
                <a:cs typeface="Arial" pitchFamily="34" charset="-120"/>
              </a:rPr>
              <a:t>Prediction API</a:t>
            </a:r>
            <a:endParaRPr lang="en-US" sz="1300" dirty="0"/>
          </a:p>
        </p:txBody>
      </p:sp>
      <p:pic>
        <p:nvPicPr>
          <p:cNvPr id="27" name="Image 11" descr="/home/claude/carboncheck/icons/arrow_down.png"/>
          <p:cNvPicPr>
            <a:picLocks noChangeAspect="1"/>
          </p:cNvPicPr>
          <p:nvPr/>
        </p:nvPicPr>
        <p:blipFill>
          <a:blip r:embed="rId5"/>
          <a:stretch>
            <a:fillRect/>
          </a:stretch>
        </p:blipFill>
        <p:spPr>
          <a:xfrm>
            <a:off x="6004408" y="6208776"/>
            <a:ext cx="182880" cy="182880"/>
          </a:xfrm>
          <a:prstGeom prst="rect">
            <a:avLst/>
          </a:prstGeom>
        </p:spPr>
      </p:pic>
      <p:sp>
        <p:nvSpPr>
          <p:cNvPr id="28" name="Shape 14"/>
          <p:cNvSpPr/>
          <p:nvPr/>
        </p:nvSpPr>
        <p:spPr>
          <a:xfrm>
            <a:off x="3992728" y="6336792"/>
            <a:ext cx="4206240" cy="512064"/>
          </a:xfrm>
          <a:prstGeom prst="roundRect">
            <a:avLst>
              <a:gd name="adj" fmla="val 89286"/>
            </a:avLst>
          </a:prstGeom>
          <a:solidFill>
            <a:srgbClr val="1B4332"/>
          </a:solidFill>
          <a:ln w="12700">
            <a:solidFill>
              <a:srgbClr val="DCEBE2"/>
            </a:solidFill>
            <a:prstDash val="solid"/>
          </a:ln>
          <a:effectLst>
            <a:outerShdw blurRad="127000" dist="38100" dir="5400000" algn="bl" rotWithShape="0">
              <a:srgbClr val="1B4332">
                <a:alpha val="10000"/>
              </a:srgbClr>
            </a:outerShdw>
          </a:effectLst>
        </p:spPr>
      </p:sp>
      <p:pic>
        <p:nvPicPr>
          <p:cNvPr id="29" name="Image 12" descr="/home/claude/carboncheck/icons/chart_white.png"/>
          <p:cNvPicPr>
            <a:picLocks noChangeAspect="1"/>
          </p:cNvPicPr>
          <p:nvPr/>
        </p:nvPicPr>
        <p:blipFill>
          <a:blip r:embed="rId11"/>
          <a:stretch>
            <a:fillRect/>
          </a:stretch>
        </p:blipFill>
        <p:spPr>
          <a:xfrm>
            <a:off x="4193896" y="6437376"/>
            <a:ext cx="310896" cy="310896"/>
          </a:xfrm>
          <a:prstGeom prst="rect">
            <a:avLst/>
          </a:prstGeom>
        </p:spPr>
      </p:pic>
      <p:sp>
        <p:nvSpPr>
          <p:cNvPr id="30" name="Text 15"/>
          <p:cNvSpPr/>
          <p:nvPr/>
        </p:nvSpPr>
        <p:spPr>
          <a:xfrm>
            <a:off x="4632808" y="6336792"/>
            <a:ext cx="3383280" cy="512064"/>
          </a:xfrm>
          <a:prstGeom prst="rect">
            <a:avLst/>
          </a:prstGeom>
          <a:noFill/>
          <a:ln/>
        </p:spPr>
        <p:txBody>
          <a:bodyPr wrap="square" rtlCol="0" anchor="ctr"/>
          <a:lstStyle/>
          <a:p>
            <a:pPr marL="0" indent="0">
              <a:buNone/>
            </a:pPr>
            <a:r>
              <a:rPr lang="en-US" sz="1300" b="1" dirty="0">
                <a:solidFill>
                  <a:srgbClr val="FFFFFF"/>
                </a:solidFill>
                <a:latin typeface="Arial" pitchFamily="34" charset="0"/>
                <a:ea typeface="Arial" pitchFamily="34" charset="-122"/>
                <a:cs typeface="Arial" pitchFamily="34" charset="-120"/>
              </a:rPr>
              <a:t>Dashboard</a:t>
            </a:r>
            <a:endParaRPr lang="en-US" sz="1300" dirty="0"/>
          </a:p>
        </p:txBody>
      </p:sp>
      <p:sp>
        <p:nvSpPr>
          <p:cNvPr id="31" name="Text 16"/>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2" name="Text 1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10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PROCESS FLOW</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Application Workflow</a:t>
            </a:r>
            <a:endParaRPr lang="en-US" sz="3200" dirty="0"/>
          </a:p>
        </p:txBody>
      </p:sp>
      <p:sp>
        <p:nvSpPr>
          <p:cNvPr id="4" name="Shape 2"/>
          <p:cNvSpPr/>
          <p:nvPr/>
        </p:nvSpPr>
        <p:spPr>
          <a:xfrm>
            <a:off x="996696" y="1965960"/>
            <a:ext cx="0" cy="3730752"/>
          </a:xfrm>
          <a:prstGeom prst="line">
            <a:avLst/>
          </a:prstGeom>
          <a:noFill/>
          <a:ln w="25400">
            <a:solidFill>
              <a:srgbClr val="DCEBE2"/>
            </a:solidFill>
            <a:prstDash val="solid"/>
          </a:ln>
        </p:spPr>
      </p:sp>
      <p:sp>
        <p:nvSpPr>
          <p:cNvPr id="5" name="Shape 3"/>
          <p:cNvSpPr/>
          <p:nvPr/>
        </p:nvSpPr>
        <p:spPr>
          <a:xfrm>
            <a:off x="822960" y="1783080"/>
            <a:ext cx="365760" cy="365760"/>
          </a:xfrm>
          <a:prstGeom prst="ellipse">
            <a:avLst/>
          </a:prstGeom>
          <a:solidFill>
            <a:srgbClr val="2D9C6F"/>
          </a:solidFill>
          <a:ln/>
        </p:spPr>
      </p:sp>
      <p:sp>
        <p:nvSpPr>
          <p:cNvPr id="6" name="Text 4"/>
          <p:cNvSpPr/>
          <p:nvPr/>
        </p:nvSpPr>
        <p:spPr>
          <a:xfrm>
            <a:off x="822960" y="1783080"/>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Shape 5"/>
          <p:cNvSpPr/>
          <p:nvPr/>
        </p:nvSpPr>
        <p:spPr>
          <a:xfrm>
            <a:off x="1417320" y="1709928"/>
            <a:ext cx="10271455" cy="512064"/>
          </a:xfrm>
          <a:prstGeom prst="roundRect">
            <a:avLst>
              <a:gd name="adj" fmla="val 17857"/>
            </a:avLst>
          </a:prstGeom>
          <a:solidFill>
            <a:srgbClr val="FFFFFF"/>
          </a:solidFill>
          <a:ln w="12700">
            <a:solidFill>
              <a:srgbClr val="DCEBE2"/>
            </a:solidFill>
            <a:prstDash val="solid"/>
          </a:ln>
        </p:spPr>
      </p:sp>
      <p:sp>
        <p:nvSpPr>
          <p:cNvPr id="8" name="Text 6"/>
          <p:cNvSpPr/>
          <p:nvPr/>
        </p:nvSpPr>
        <p:spPr>
          <a:xfrm>
            <a:off x="1645920" y="1709928"/>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User opens the CarbonCheck website</a:t>
            </a:r>
            <a:endParaRPr lang="en-US" sz="1300" dirty="0"/>
          </a:p>
        </p:txBody>
      </p:sp>
      <p:sp>
        <p:nvSpPr>
          <p:cNvPr id="9" name="Shape 7"/>
          <p:cNvSpPr/>
          <p:nvPr/>
        </p:nvSpPr>
        <p:spPr>
          <a:xfrm>
            <a:off x="822960" y="2404872"/>
            <a:ext cx="365760" cy="365760"/>
          </a:xfrm>
          <a:prstGeom prst="ellipse">
            <a:avLst/>
          </a:prstGeom>
          <a:solidFill>
            <a:srgbClr val="2D9C6F"/>
          </a:solidFill>
          <a:ln/>
        </p:spPr>
      </p:sp>
      <p:sp>
        <p:nvSpPr>
          <p:cNvPr id="10" name="Text 8"/>
          <p:cNvSpPr/>
          <p:nvPr/>
        </p:nvSpPr>
        <p:spPr>
          <a:xfrm>
            <a:off x="822960" y="2404872"/>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Shape 9"/>
          <p:cNvSpPr/>
          <p:nvPr/>
        </p:nvSpPr>
        <p:spPr>
          <a:xfrm>
            <a:off x="1417320" y="2331720"/>
            <a:ext cx="10271455" cy="512064"/>
          </a:xfrm>
          <a:prstGeom prst="roundRect">
            <a:avLst>
              <a:gd name="adj" fmla="val 17857"/>
            </a:avLst>
          </a:prstGeom>
          <a:solidFill>
            <a:srgbClr val="FFFFFF"/>
          </a:solidFill>
          <a:ln w="12700">
            <a:solidFill>
              <a:srgbClr val="DCEBE2"/>
            </a:solidFill>
            <a:prstDash val="solid"/>
          </a:ln>
        </p:spPr>
      </p:sp>
      <p:sp>
        <p:nvSpPr>
          <p:cNvPr id="12" name="Text 10"/>
          <p:cNvSpPr/>
          <p:nvPr/>
        </p:nvSpPr>
        <p:spPr>
          <a:xfrm>
            <a:off x="1645920" y="2331720"/>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Inputs transportation, electricity, and lifestyle data</a:t>
            </a:r>
            <a:endParaRPr lang="en-US" sz="1300" dirty="0"/>
          </a:p>
        </p:txBody>
      </p:sp>
      <p:sp>
        <p:nvSpPr>
          <p:cNvPr id="13" name="Shape 11"/>
          <p:cNvSpPr/>
          <p:nvPr/>
        </p:nvSpPr>
        <p:spPr>
          <a:xfrm>
            <a:off x="822960" y="3026664"/>
            <a:ext cx="365760" cy="365760"/>
          </a:xfrm>
          <a:prstGeom prst="ellipse">
            <a:avLst/>
          </a:prstGeom>
          <a:solidFill>
            <a:srgbClr val="2D9C6F"/>
          </a:solidFill>
          <a:ln/>
        </p:spPr>
      </p:sp>
      <p:sp>
        <p:nvSpPr>
          <p:cNvPr id="14" name="Text 12"/>
          <p:cNvSpPr/>
          <p:nvPr/>
        </p:nvSpPr>
        <p:spPr>
          <a:xfrm>
            <a:off x="822960" y="3026664"/>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Shape 13"/>
          <p:cNvSpPr/>
          <p:nvPr/>
        </p:nvSpPr>
        <p:spPr>
          <a:xfrm>
            <a:off x="1417320" y="2953512"/>
            <a:ext cx="10271455" cy="512064"/>
          </a:xfrm>
          <a:prstGeom prst="roundRect">
            <a:avLst>
              <a:gd name="adj" fmla="val 17857"/>
            </a:avLst>
          </a:prstGeom>
          <a:solidFill>
            <a:srgbClr val="FFFFFF"/>
          </a:solidFill>
          <a:ln w="12700">
            <a:solidFill>
              <a:srgbClr val="DCEBE2"/>
            </a:solidFill>
            <a:prstDash val="solid"/>
          </a:ln>
        </p:spPr>
      </p:sp>
      <p:sp>
        <p:nvSpPr>
          <p:cNvPr id="16" name="Text 14"/>
          <p:cNvSpPr/>
          <p:nvPr/>
        </p:nvSpPr>
        <p:spPr>
          <a:xfrm>
            <a:off x="1645920" y="2953512"/>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FastAPI backend receives and processes the data</a:t>
            </a:r>
            <a:endParaRPr lang="en-US" sz="1300" dirty="0"/>
          </a:p>
        </p:txBody>
      </p:sp>
      <p:sp>
        <p:nvSpPr>
          <p:cNvPr id="17" name="Shape 15"/>
          <p:cNvSpPr/>
          <p:nvPr/>
        </p:nvSpPr>
        <p:spPr>
          <a:xfrm>
            <a:off x="822960" y="3648456"/>
            <a:ext cx="365760" cy="365760"/>
          </a:xfrm>
          <a:prstGeom prst="ellipse">
            <a:avLst/>
          </a:prstGeom>
          <a:solidFill>
            <a:srgbClr val="2D9C6F"/>
          </a:solidFill>
          <a:ln/>
        </p:spPr>
      </p:sp>
      <p:sp>
        <p:nvSpPr>
          <p:cNvPr id="18" name="Text 16"/>
          <p:cNvSpPr/>
          <p:nvPr/>
        </p:nvSpPr>
        <p:spPr>
          <a:xfrm>
            <a:off x="822960" y="3648456"/>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Shape 17"/>
          <p:cNvSpPr/>
          <p:nvPr/>
        </p:nvSpPr>
        <p:spPr>
          <a:xfrm>
            <a:off x="1417320" y="3575304"/>
            <a:ext cx="10271455" cy="512064"/>
          </a:xfrm>
          <a:prstGeom prst="roundRect">
            <a:avLst>
              <a:gd name="adj" fmla="val 17857"/>
            </a:avLst>
          </a:prstGeom>
          <a:solidFill>
            <a:srgbClr val="FFFFFF"/>
          </a:solidFill>
          <a:ln w="12700">
            <a:solidFill>
              <a:srgbClr val="DCEBE2"/>
            </a:solidFill>
            <a:prstDash val="solid"/>
          </a:ln>
        </p:spPr>
      </p:sp>
      <p:sp>
        <p:nvSpPr>
          <p:cNvPr id="20" name="Text 18"/>
          <p:cNvSpPr/>
          <p:nvPr/>
        </p:nvSpPr>
        <p:spPr>
          <a:xfrm>
            <a:off x="1645920" y="3575304"/>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ML model predicts the carbon emission level</a:t>
            </a:r>
            <a:endParaRPr lang="en-US" sz="1300" dirty="0"/>
          </a:p>
        </p:txBody>
      </p:sp>
      <p:sp>
        <p:nvSpPr>
          <p:cNvPr id="21" name="Shape 19"/>
          <p:cNvSpPr/>
          <p:nvPr/>
        </p:nvSpPr>
        <p:spPr>
          <a:xfrm>
            <a:off x="822960" y="4270248"/>
            <a:ext cx="365760" cy="365760"/>
          </a:xfrm>
          <a:prstGeom prst="ellipse">
            <a:avLst/>
          </a:prstGeom>
          <a:solidFill>
            <a:srgbClr val="2D9C6F"/>
          </a:solidFill>
          <a:ln/>
        </p:spPr>
      </p:sp>
      <p:sp>
        <p:nvSpPr>
          <p:cNvPr id="22" name="Text 20"/>
          <p:cNvSpPr/>
          <p:nvPr/>
        </p:nvSpPr>
        <p:spPr>
          <a:xfrm>
            <a:off x="822960" y="4270248"/>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3" name="Shape 21"/>
          <p:cNvSpPr/>
          <p:nvPr/>
        </p:nvSpPr>
        <p:spPr>
          <a:xfrm>
            <a:off x="1417320" y="4197096"/>
            <a:ext cx="10271455" cy="512064"/>
          </a:xfrm>
          <a:prstGeom prst="roundRect">
            <a:avLst>
              <a:gd name="adj" fmla="val 17857"/>
            </a:avLst>
          </a:prstGeom>
          <a:solidFill>
            <a:srgbClr val="FFFFFF"/>
          </a:solidFill>
          <a:ln w="12700">
            <a:solidFill>
              <a:srgbClr val="DCEBE2"/>
            </a:solidFill>
            <a:prstDash val="solid"/>
          </a:ln>
        </p:spPr>
      </p:sp>
      <p:sp>
        <p:nvSpPr>
          <p:cNvPr id="24" name="Text 22"/>
          <p:cNvSpPr/>
          <p:nvPr/>
        </p:nvSpPr>
        <p:spPr>
          <a:xfrm>
            <a:off x="1645920" y="4197096"/>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CO₂ emission value is calculated</a:t>
            </a:r>
            <a:endParaRPr lang="en-US" sz="1300" dirty="0"/>
          </a:p>
        </p:txBody>
      </p:sp>
      <p:sp>
        <p:nvSpPr>
          <p:cNvPr id="25" name="Shape 23"/>
          <p:cNvSpPr/>
          <p:nvPr/>
        </p:nvSpPr>
        <p:spPr>
          <a:xfrm>
            <a:off x="822960" y="4892040"/>
            <a:ext cx="365760" cy="365760"/>
          </a:xfrm>
          <a:prstGeom prst="ellipse">
            <a:avLst/>
          </a:prstGeom>
          <a:solidFill>
            <a:srgbClr val="2D9C6F"/>
          </a:solidFill>
          <a:ln/>
        </p:spPr>
      </p:sp>
      <p:sp>
        <p:nvSpPr>
          <p:cNvPr id="26" name="Text 24"/>
          <p:cNvSpPr/>
          <p:nvPr/>
        </p:nvSpPr>
        <p:spPr>
          <a:xfrm>
            <a:off x="822960" y="4892040"/>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7" name="Shape 25"/>
          <p:cNvSpPr/>
          <p:nvPr/>
        </p:nvSpPr>
        <p:spPr>
          <a:xfrm>
            <a:off x="1417320" y="4818888"/>
            <a:ext cx="10271455" cy="512064"/>
          </a:xfrm>
          <a:prstGeom prst="roundRect">
            <a:avLst>
              <a:gd name="adj" fmla="val 17857"/>
            </a:avLst>
          </a:prstGeom>
          <a:solidFill>
            <a:srgbClr val="FFFFFF"/>
          </a:solidFill>
          <a:ln w="12700">
            <a:solidFill>
              <a:srgbClr val="DCEBE2"/>
            </a:solidFill>
            <a:prstDash val="solid"/>
          </a:ln>
        </p:spPr>
      </p:sp>
      <p:sp>
        <p:nvSpPr>
          <p:cNvPr id="28" name="Text 26"/>
          <p:cNvSpPr/>
          <p:nvPr/>
        </p:nvSpPr>
        <p:spPr>
          <a:xfrm>
            <a:off x="1645920" y="4818888"/>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Interactive dashboard is generated</a:t>
            </a:r>
            <a:endParaRPr lang="en-US" sz="1300" dirty="0"/>
          </a:p>
        </p:txBody>
      </p:sp>
      <p:sp>
        <p:nvSpPr>
          <p:cNvPr id="29" name="Shape 27"/>
          <p:cNvSpPr/>
          <p:nvPr/>
        </p:nvSpPr>
        <p:spPr>
          <a:xfrm>
            <a:off x="822960" y="5513832"/>
            <a:ext cx="365760" cy="365760"/>
          </a:xfrm>
          <a:prstGeom prst="ellipse">
            <a:avLst/>
          </a:prstGeom>
          <a:solidFill>
            <a:srgbClr val="2D9C6F"/>
          </a:solidFill>
          <a:ln/>
        </p:spPr>
      </p:sp>
      <p:sp>
        <p:nvSpPr>
          <p:cNvPr id="30" name="Text 28"/>
          <p:cNvSpPr/>
          <p:nvPr/>
        </p:nvSpPr>
        <p:spPr>
          <a:xfrm>
            <a:off x="822960" y="5513832"/>
            <a:ext cx="365760" cy="365760"/>
          </a:xfrm>
          <a:prstGeom prst="rect">
            <a:avLst/>
          </a:prstGeom>
          <a:noFill/>
          <a:ln/>
        </p:spPr>
        <p:txBody>
          <a:bodyPr wrap="square"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31" name="Shape 29"/>
          <p:cNvSpPr/>
          <p:nvPr/>
        </p:nvSpPr>
        <p:spPr>
          <a:xfrm>
            <a:off x="1417320" y="5440680"/>
            <a:ext cx="10271455" cy="512064"/>
          </a:xfrm>
          <a:prstGeom prst="roundRect">
            <a:avLst>
              <a:gd name="adj" fmla="val 17857"/>
            </a:avLst>
          </a:prstGeom>
          <a:solidFill>
            <a:srgbClr val="FFFFFF"/>
          </a:solidFill>
          <a:ln w="12700">
            <a:solidFill>
              <a:srgbClr val="DCEBE2"/>
            </a:solidFill>
            <a:prstDash val="solid"/>
          </a:ln>
        </p:spPr>
      </p:sp>
      <p:sp>
        <p:nvSpPr>
          <p:cNvPr id="32" name="Text 30"/>
          <p:cNvSpPr/>
          <p:nvPr/>
        </p:nvSpPr>
        <p:spPr>
          <a:xfrm>
            <a:off x="1645920" y="5440680"/>
            <a:ext cx="9814255" cy="512064"/>
          </a:xfrm>
          <a:prstGeom prst="rect">
            <a:avLst/>
          </a:prstGeom>
          <a:noFill/>
          <a:ln/>
        </p:spPr>
        <p:txBody>
          <a:bodyPr wrap="square" rtlCol="0" anchor="ctr"/>
          <a:lstStyle/>
          <a:p>
            <a:pPr marL="0" indent="0">
              <a:buNone/>
            </a:pPr>
            <a:r>
              <a:rPr lang="en-US" sz="1300" dirty="0">
                <a:solidFill>
                  <a:srgbClr val="1C2B23"/>
                </a:solidFill>
                <a:latin typeface="Arial" pitchFamily="34" charset="0"/>
                <a:ea typeface="Arial" pitchFamily="34" charset="-122"/>
                <a:cs typeface="Arial" pitchFamily="34" charset="-120"/>
              </a:rPr>
              <a:t>AI-powered suggestions are displayed to the user</a:t>
            </a:r>
            <a:endParaRPr lang="en-US" sz="1300" dirty="0"/>
          </a:p>
        </p:txBody>
      </p:sp>
      <p:sp>
        <p:nvSpPr>
          <p:cNvPr id="33" name="Text 31"/>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4" name="Text 32"/>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11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MACHINE LEARNING</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AI Prediction Model</a:t>
            </a:r>
            <a:endParaRPr lang="en-US" sz="3200" dirty="0"/>
          </a:p>
        </p:txBody>
      </p:sp>
      <p:sp>
        <p:nvSpPr>
          <p:cNvPr id="4" name="Text 2"/>
          <p:cNvSpPr/>
          <p:nvPr/>
        </p:nvSpPr>
        <p:spPr>
          <a:xfrm>
            <a:off x="640080" y="1874520"/>
            <a:ext cx="3108960" cy="27432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INPUTS</a:t>
            </a:r>
            <a:endParaRPr lang="en-US" sz="1200" dirty="0"/>
          </a:p>
        </p:txBody>
      </p:sp>
      <p:sp>
        <p:nvSpPr>
          <p:cNvPr id="5" name="Shape 3"/>
          <p:cNvSpPr/>
          <p:nvPr/>
        </p:nvSpPr>
        <p:spPr>
          <a:xfrm>
            <a:off x="640080" y="2286000"/>
            <a:ext cx="3108960" cy="621792"/>
          </a:xfrm>
          <a:prstGeom prst="roundRect">
            <a:avLst>
              <a:gd name="adj" fmla="val 1764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6" name="Image 0" descr="/home/claude/carboncheck/icons/car.png"/>
          <p:cNvPicPr>
            <a:picLocks noChangeAspect="1"/>
          </p:cNvPicPr>
          <p:nvPr/>
        </p:nvPicPr>
        <p:blipFill>
          <a:blip r:embed="rId4"/>
          <a:stretch>
            <a:fillRect/>
          </a:stretch>
        </p:blipFill>
        <p:spPr>
          <a:xfrm>
            <a:off x="822960" y="2432304"/>
            <a:ext cx="329184" cy="329184"/>
          </a:xfrm>
          <a:prstGeom prst="rect">
            <a:avLst/>
          </a:prstGeom>
        </p:spPr>
      </p:pic>
      <p:sp>
        <p:nvSpPr>
          <p:cNvPr id="7" name="Text 4"/>
          <p:cNvSpPr/>
          <p:nvPr/>
        </p:nvSpPr>
        <p:spPr>
          <a:xfrm>
            <a:off x="1280160" y="2286000"/>
            <a:ext cx="2377440" cy="621792"/>
          </a:xfrm>
          <a:prstGeom prst="rect">
            <a:avLst/>
          </a:prstGeom>
          <a:noFill/>
          <a:ln/>
        </p:spPr>
        <p:txBody>
          <a:bodyPr wrap="square" rtlCol="0" anchor="ctr"/>
          <a:lstStyle/>
          <a:p>
            <a:pPr marL="0" indent="0">
              <a:buNone/>
            </a:pPr>
            <a:r>
              <a:rPr lang="en-US" sz="1350" b="1" dirty="0">
                <a:solidFill>
                  <a:srgbClr val="1C2B23"/>
                </a:solidFill>
                <a:latin typeface="Arial" pitchFamily="34" charset="0"/>
                <a:ea typeface="Arial" pitchFamily="34" charset="-122"/>
                <a:cs typeface="Arial" pitchFamily="34" charset="-120"/>
              </a:rPr>
              <a:t>Transportation</a:t>
            </a:r>
            <a:endParaRPr lang="en-US" sz="1350" dirty="0"/>
          </a:p>
        </p:txBody>
      </p:sp>
      <p:sp>
        <p:nvSpPr>
          <p:cNvPr id="8" name="Shape 5"/>
          <p:cNvSpPr/>
          <p:nvPr/>
        </p:nvSpPr>
        <p:spPr>
          <a:xfrm>
            <a:off x="640080" y="3063240"/>
            <a:ext cx="3108960" cy="621792"/>
          </a:xfrm>
          <a:prstGeom prst="roundRect">
            <a:avLst>
              <a:gd name="adj" fmla="val 1764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9" name="Image 1" descr="/home/claude/carboncheck/icons/bolt.png"/>
          <p:cNvPicPr>
            <a:picLocks noChangeAspect="1"/>
          </p:cNvPicPr>
          <p:nvPr/>
        </p:nvPicPr>
        <p:blipFill>
          <a:blip r:embed="rId5"/>
          <a:stretch>
            <a:fillRect/>
          </a:stretch>
        </p:blipFill>
        <p:spPr>
          <a:xfrm>
            <a:off x="822960" y="3209544"/>
            <a:ext cx="329184" cy="329184"/>
          </a:xfrm>
          <a:prstGeom prst="rect">
            <a:avLst/>
          </a:prstGeom>
        </p:spPr>
      </p:pic>
      <p:sp>
        <p:nvSpPr>
          <p:cNvPr id="10" name="Text 6"/>
          <p:cNvSpPr/>
          <p:nvPr/>
        </p:nvSpPr>
        <p:spPr>
          <a:xfrm>
            <a:off x="1280160" y="3063240"/>
            <a:ext cx="2377440" cy="621792"/>
          </a:xfrm>
          <a:prstGeom prst="rect">
            <a:avLst/>
          </a:prstGeom>
          <a:noFill/>
          <a:ln/>
        </p:spPr>
        <p:txBody>
          <a:bodyPr wrap="square" rtlCol="0" anchor="ctr"/>
          <a:lstStyle/>
          <a:p>
            <a:pPr marL="0" indent="0">
              <a:buNone/>
            </a:pPr>
            <a:r>
              <a:rPr lang="en-US" sz="1350" b="1" dirty="0">
                <a:solidFill>
                  <a:srgbClr val="1C2B23"/>
                </a:solidFill>
                <a:latin typeface="Arial" pitchFamily="34" charset="0"/>
                <a:ea typeface="Arial" pitchFamily="34" charset="-122"/>
                <a:cs typeface="Arial" pitchFamily="34" charset="-120"/>
              </a:rPr>
              <a:t>Electricity</a:t>
            </a:r>
            <a:endParaRPr lang="en-US" sz="1350" dirty="0"/>
          </a:p>
        </p:txBody>
      </p:sp>
      <p:sp>
        <p:nvSpPr>
          <p:cNvPr id="11" name="Shape 7"/>
          <p:cNvSpPr/>
          <p:nvPr/>
        </p:nvSpPr>
        <p:spPr>
          <a:xfrm>
            <a:off x="640080" y="3840480"/>
            <a:ext cx="3108960" cy="621792"/>
          </a:xfrm>
          <a:prstGeom prst="roundRect">
            <a:avLst>
              <a:gd name="adj" fmla="val 17647"/>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pic>
        <p:nvPicPr>
          <p:cNvPr id="12" name="Image 2" descr="/home/claude/carboncheck/icons/house.png"/>
          <p:cNvPicPr>
            <a:picLocks noChangeAspect="1"/>
          </p:cNvPicPr>
          <p:nvPr/>
        </p:nvPicPr>
        <p:blipFill>
          <a:blip r:embed="rId6"/>
          <a:stretch>
            <a:fillRect/>
          </a:stretch>
        </p:blipFill>
        <p:spPr>
          <a:xfrm>
            <a:off x="822960" y="3986784"/>
            <a:ext cx="329184" cy="329184"/>
          </a:xfrm>
          <a:prstGeom prst="rect">
            <a:avLst/>
          </a:prstGeom>
        </p:spPr>
      </p:pic>
      <p:sp>
        <p:nvSpPr>
          <p:cNvPr id="13" name="Text 8"/>
          <p:cNvSpPr/>
          <p:nvPr/>
        </p:nvSpPr>
        <p:spPr>
          <a:xfrm>
            <a:off x="1280160" y="3840480"/>
            <a:ext cx="2377440" cy="621792"/>
          </a:xfrm>
          <a:prstGeom prst="rect">
            <a:avLst/>
          </a:prstGeom>
          <a:noFill/>
          <a:ln/>
        </p:spPr>
        <p:txBody>
          <a:bodyPr wrap="square" rtlCol="0" anchor="ctr"/>
          <a:lstStyle/>
          <a:p>
            <a:pPr marL="0" indent="0">
              <a:buNone/>
            </a:pPr>
            <a:r>
              <a:rPr lang="en-US" sz="1350" b="1" dirty="0">
                <a:solidFill>
                  <a:srgbClr val="1C2B23"/>
                </a:solidFill>
                <a:latin typeface="Arial" pitchFamily="34" charset="0"/>
                <a:ea typeface="Arial" pitchFamily="34" charset="-122"/>
                <a:cs typeface="Arial" pitchFamily="34" charset="-120"/>
              </a:rPr>
              <a:t>Lifestyle</a:t>
            </a:r>
            <a:endParaRPr lang="en-US" sz="1350" dirty="0"/>
          </a:p>
        </p:txBody>
      </p:sp>
      <p:pic>
        <p:nvPicPr>
          <p:cNvPr id="14" name="Image 3" descr="/home/claude/carboncheck/icons/arrow_right.png"/>
          <p:cNvPicPr>
            <a:picLocks noChangeAspect="1"/>
          </p:cNvPicPr>
          <p:nvPr/>
        </p:nvPicPr>
        <p:blipFill>
          <a:blip r:embed="rId7"/>
          <a:stretch>
            <a:fillRect/>
          </a:stretch>
        </p:blipFill>
        <p:spPr>
          <a:xfrm>
            <a:off x="3840480" y="2788920"/>
            <a:ext cx="320040" cy="320040"/>
          </a:xfrm>
          <a:prstGeom prst="rect">
            <a:avLst/>
          </a:prstGeom>
        </p:spPr>
      </p:pic>
      <p:sp>
        <p:nvSpPr>
          <p:cNvPr id="15" name="Shape 9"/>
          <p:cNvSpPr/>
          <p:nvPr/>
        </p:nvSpPr>
        <p:spPr>
          <a:xfrm>
            <a:off x="4251960" y="1874520"/>
            <a:ext cx="2651760" cy="3291840"/>
          </a:xfrm>
          <a:prstGeom prst="roundRect">
            <a:avLst>
              <a:gd name="adj" fmla="val 6207"/>
            </a:avLst>
          </a:prstGeom>
          <a:solidFill>
            <a:srgbClr val="1B4332"/>
          </a:solidFill>
          <a:ln w="12700">
            <a:solidFill>
              <a:srgbClr val="DCEBE2"/>
            </a:solidFill>
            <a:prstDash val="solid"/>
          </a:ln>
          <a:effectLst>
            <a:outerShdw blurRad="127000" dist="38100" dir="5400000" algn="bl" rotWithShape="0">
              <a:srgbClr val="1B4332">
                <a:alpha val="10000"/>
              </a:srgbClr>
            </a:outerShdw>
          </a:effectLst>
        </p:spPr>
      </p:sp>
      <p:sp>
        <p:nvSpPr>
          <p:cNvPr id="16" name="Shape 10"/>
          <p:cNvSpPr/>
          <p:nvPr/>
        </p:nvSpPr>
        <p:spPr>
          <a:xfrm>
            <a:off x="5120640" y="2148840"/>
            <a:ext cx="914400" cy="914400"/>
          </a:xfrm>
          <a:prstGeom prst="ellipse">
            <a:avLst/>
          </a:prstGeom>
          <a:solidFill>
            <a:srgbClr val="2D9C6F"/>
          </a:solidFill>
          <a:ln/>
        </p:spPr>
      </p:sp>
      <p:pic>
        <p:nvPicPr>
          <p:cNvPr id="17" name="Image 4" descr="/home/claude/carboncheck/icons/brain_white.png"/>
          <p:cNvPicPr>
            <a:picLocks noChangeAspect="1"/>
          </p:cNvPicPr>
          <p:nvPr/>
        </p:nvPicPr>
        <p:blipFill>
          <a:blip r:embed="rId8"/>
          <a:stretch>
            <a:fillRect/>
          </a:stretch>
        </p:blipFill>
        <p:spPr>
          <a:xfrm>
            <a:off x="5239512" y="2267712"/>
            <a:ext cx="676656" cy="676656"/>
          </a:xfrm>
          <a:prstGeom prst="rect">
            <a:avLst/>
          </a:prstGeom>
        </p:spPr>
      </p:pic>
      <p:sp>
        <p:nvSpPr>
          <p:cNvPr id="18" name="Text 11"/>
          <p:cNvSpPr/>
          <p:nvPr/>
        </p:nvSpPr>
        <p:spPr>
          <a:xfrm>
            <a:off x="4389120" y="3246120"/>
            <a:ext cx="2377440" cy="320040"/>
          </a:xfrm>
          <a:prstGeom prst="rect">
            <a:avLst/>
          </a:prstGeom>
          <a:noFill/>
          <a:ln/>
        </p:spPr>
        <p:txBody>
          <a:bodyPr wrap="square" rtlCol="0" anchor="ctr"/>
          <a:lstStyle/>
          <a:p>
            <a:pPr marL="0" indent="0" algn="ctr">
              <a:buNone/>
            </a:pPr>
            <a:r>
              <a:rPr lang="en-US" sz="1500" b="1" dirty="0">
                <a:solidFill>
                  <a:srgbClr val="FFFFFF"/>
                </a:solidFill>
                <a:latin typeface="Poppins" pitchFamily="34" charset="0"/>
                <a:ea typeface="Poppins" pitchFamily="34" charset="-122"/>
                <a:cs typeface="Poppins" pitchFamily="34" charset="-120"/>
              </a:rPr>
              <a:t>Scikit-Learn</a:t>
            </a:r>
            <a:endParaRPr lang="en-US" sz="1500" dirty="0"/>
          </a:p>
        </p:txBody>
      </p:sp>
      <p:sp>
        <p:nvSpPr>
          <p:cNvPr id="19" name="Text 12"/>
          <p:cNvSpPr/>
          <p:nvPr/>
        </p:nvSpPr>
        <p:spPr>
          <a:xfrm>
            <a:off x="4389120" y="3566160"/>
            <a:ext cx="2377440" cy="320040"/>
          </a:xfrm>
          <a:prstGeom prst="rect">
            <a:avLst/>
          </a:prstGeom>
          <a:noFill/>
          <a:ln/>
        </p:spPr>
        <p:txBody>
          <a:bodyPr wrap="square" rtlCol="0" anchor="ctr"/>
          <a:lstStyle/>
          <a:p>
            <a:pPr marL="0" indent="0" algn="ctr">
              <a:buNone/>
            </a:pPr>
            <a:r>
              <a:rPr lang="en-US" sz="1200" dirty="0">
                <a:solidFill>
                  <a:srgbClr val="52D68D"/>
                </a:solidFill>
                <a:latin typeface="Arial" pitchFamily="34" charset="0"/>
                <a:ea typeface="Arial" pitchFamily="34" charset="-122"/>
                <a:cs typeface="Arial" pitchFamily="34" charset="-120"/>
              </a:rPr>
              <a:t>Classification Model</a:t>
            </a:r>
            <a:endParaRPr lang="en-US" sz="1200" dirty="0"/>
          </a:p>
        </p:txBody>
      </p:sp>
      <p:sp>
        <p:nvSpPr>
          <p:cNvPr id="20" name="Text 13"/>
          <p:cNvSpPr/>
          <p:nvPr/>
        </p:nvSpPr>
        <p:spPr>
          <a:xfrm>
            <a:off x="4480560" y="4023360"/>
            <a:ext cx="2194560" cy="1005840"/>
          </a:xfrm>
          <a:prstGeom prst="rect">
            <a:avLst/>
          </a:prstGeom>
          <a:noFill/>
          <a:ln/>
        </p:spPr>
        <p:txBody>
          <a:bodyPr wrap="square" rtlCol="0" anchor="ctr"/>
          <a:lstStyle/>
          <a:p>
            <a:pPr marL="0" indent="0" algn="ctr">
              <a:buNone/>
            </a:pPr>
            <a:r>
              <a:rPr lang="en-US" sz="1050" dirty="0">
                <a:solidFill>
                  <a:srgbClr val="DCEFE3"/>
                </a:solidFill>
                <a:latin typeface="Arial" pitchFamily="34" charset="0"/>
                <a:ea typeface="Arial" pitchFamily="34" charset="-122"/>
                <a:cs typeface="Arial" pitchFamily="34" charset="-120"/>
              </a:rPr>
              <a:t>Trained on lifestyle and consumption data to classify emission levels with a measurable confidence score.</a:t>
            </a:r>
            <a:endParaRPr lang="en-US" sz="1050" dirty="0"/>
          </a:p>
        </p:txBody>
      </p:sp>
      <p:pic>
        <p:nvPicPr>
          <p:cNvPr id="21" name="Image 5" descr="/home/claude/carboncheck/icons/arrow_right.png"/>
          <p:cNvPicPr>
            <a:picLocks noChangeAspect="1"/>
          </p:cNvPicPr>
          <p:nvPr/>
        </p:nvPicPr>
        <p:blipFill>
          <a:blip r:embed="rId7"/>
          <a:stretch>
            <a:fillRect/>
          </a:stretch>
        </p:blipFill>
        <p:spPr>
          <a:xfrm>
            <a:off x="6995160" y="2788920"/>
            <a:ext cx="320040" cy="320040"/>
          </a:xfrm>
          <a:prstGeom prst="rect">
            <a:avLst/>
          </a:prstGeom>
        </p:spPr>
      </p:pic>
      <p:sp>
        <p:nvSpPr>
          <p:cNvPr id="22" name="Text 14"/>
          <p:cNvSpPr/>
          <p:nvPr/>
        </p:nvSpPr>
        <p:spPr>
          <a:xfrm>
            <a:off x="7406640" y="1874520"/>
            <a:ext cx="2880360" cy="27432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OUTPUTS</a:t>
            </a:r>
            <a:endParaRPr lang="en-US" sz="1200" dirty="0"/>
          </a:p>
        </p:txBody>
      </p:sp>
      <p:sp>
        <p:nvSpPr>
          <p:cNvPr id="23" name="Shape 15"/>
          <p:cNvSpPr/>
          <p:nvPr/>
        </p:nvSpPr>
        <p:spPr>
          <a:xfrm>
            <a:off x="7406640" y="2286000"/>
            <a:ext cx="2880360" cy="457200"/>
          </a:xfrm>
          <a:prstGeom prst="roundRect">
            <a:avLst>
              <a:gd name="adj" fmla="val 50000"/>
            </a:avLst>
          </a:prstGeom>
          <a:solidFill>
            <a:srgbClr val="FFFFFF"/>
          </a:solidFill>
          <a:ln w="12700">
            <a:solidFill>
              <a:srgbClr val="DCEBE2"/>
            </a:solidFill>
            <a:prstDash val="solid"/>
          </a:ln>
        </p:spPr>
      </p:sp>
      <p:sp>
        <p:nvSpPr>
          <p:cNvPr id="24" name="Shape 16"/>
          <p:cNvSpPr/>
          <p:nvPr/>
        </p:nvSpPr>
        <p:spPr>
          <a:xfrm>
            <a:off x="7571232" y="2441448"/>
            <a:ext cx="146304" cy="146304"/>
          </a:xfrm>
          <a:prstGeom prst="ellipse">
            <a:avLst/>
          </a:prstGeom>
          <a:solidFill>
            <a:srgbClr val="2D9C6F"/>
          </a:solidFill>
          <a:ln/>
        </p:spPr>
      </p:sp>
      <p:sp>
        <p:nvSpPr>
          <p:cNvPr id="25" name="Text 17"/>
          <p:cNvSpPr/>
          <p:nvPr/>
        </p:nvSpPr>
        <p:spPr>
          <a:xfrm>
            <a:off x="7818120" y="2286000"/>
            <a:ext cx="2331720" cy="457200"/>
          </a:xfrm>
          <a:prstGeom prst="rect">
            <a:avLst/>
          </a:prstGeom>
          <a:noFill/>
          <a:ln/>
        </p:spPr>
        <p:txBody>
          <a:bodyPr wrap="square" rtlCol="0" anchor="ctr"/>
          <a:lstStyle/>
          <a:p>
            <a:pPr marL="0" indent="0">
              <a:buNone/>
            </a:pPr>
            <a:r>
              <a:rPr lang="en-US" sz="1150" b="1" dirty="0">
                <a:solidFill>
                  <a:srgbClr val="1C2B23"/>
                </a:solidFill>
                <a:latin typeface="Arial" pitchFamily="34" charset="0"/>
                <a:ea typeface="Arial" pitchFamily="34" charset="-122"/>
                <a:cs typeface="Arial" pitchFamily="34" charset="-120"/>
              </a:rPr>
              <a:t>Low Carbon</a:t>
            </a:r>
            <a:endParaRPr lang="en-US" sz="1150" dirty="0"/>
          </a:p>
        </p:txBody>
      </p:sp>
      <p:sp>
        <p:nvSpPr>
          <p:cNvPr id="26" name="Shape 18"/>
          <p:cNvSpPr/>
          <p:nvPr/>
        </p:nvSpPr>
        <p:spPr>
          <a:xfrm>
            <a:off x="7406640" y="2852928"/>
            <a:ext cx="2880360" cy="457200"/>
          </a:xfrm>
          <a:prstGeom prst="roundRect">
            <a:avLst>
              <a:gd name="adj" fmla="val 50000"/>
            </a:avLst>
          </a:prstGeom>
          <a:solidFill>
            <a:srgbClr val="FFFFFF"/>
          </a:solidFill>
          <a:ln w="12700">
            <a:solidFill>
              <a:srgbClr val="DCEBE2"/>
            </a:solidFill>
            <a:prstDash val="solid"/>
          </a:ln>
        </p:spPr>
      </p:sp>
      <p:sp>
        <p:nvSpPr>
          <p:cNvPr id="27" name="Shape 19"/>
          <p:cNvSpPr/>
          <p:nvPr/>
        </p:nvSpPr>
        <p:spPr>
          <a:xfrm>
            <a:off x="7571232" y="3008376"/>
            <a:ext cx="146304" cy="146304"/>
          </a:xfrm>
          <a:prstGeom prst="ellipse">
            <a:avLst/>
          </a:prstGeom>
          <a:solidFill>
            <a:srgbClr val="2D9C6F"/>
          </a:solidFill>
          <a:ln/>
        </p:spPr>
      </p:sp>
      <p:sp>
        <p:nvSpPr>
          <p:cNvPr id="28" name="Text 20"/>
          <p:cNvSpPr/>
          <p:nvPr/>
        </p:nvSpPr>
        <p:spPr>
          <a:xfrm>
            <a:off x="7818120" y="2852928"/>
            <a:ext cx="2331720" cy="457200"/>
          </a:xfrm>
          <a:prstGeom prst="rect">
            <a:avLst/>
          </a:prstGeom>
          <a:noFill/>
          <a:ln/>
        </p:spPr>
        <p:txBody>
          <a:bodyPr wrap="square" rtlCol="0" anchor="ctr"/>
          <a:lstStyle/>
          <a:p>
            <a:pPr marL="0" indent="0">
              <a:buNone/>
            </a:pPr>
            <a:r>
              <a:rPr lang="en-US" sz="1150" b="1" dirty="0">
                <a:solidFill>
                  <a:srgbClr val="1C2B23"/>
                </a:solidFill>
                <a:latin typeface="Arial" pitchFamily="34" charset="0"/>
                <a:ea typeface="Arial" pitchFamily="34" charset="-122"/>
                <a:cs typeface="Arial" pitchFamily="34" charset="-120"/>
              </a:rPr>
              <a:t>Medium Carbon</a:t>
            </a:r>
            <a:endParaRPr lang="en-US" sz="1150" dirty="0"/>
          </a:p>
        </p:txBody>
      </p:sp>
      <p:sp>
        <p:nvSpPr>
          <p:cNvPr id="29" name="Shape 21"/>
          <p:cNvSpPr/>
          <p:nvPr/>
        </p:nvSpPr>
        <p:spPr>
          <a:xfrm>
            <a:off x="7406640" y="3419856"/>
            <a:ext cx="2880360" cy="457200"/>
          </a:xfrm>
          <a:prstGeom prst="roundRect">
            <a:avLst>
              <a:gd name="adj" fmla="val 50000"/>
            </a:avLst>
          </a:prstGeom>
          <a:solidFill>
            <a:srgbClr val="FFFFFF"/>
          </a:solidFill>
          <a:ln w="12700">
            <a:solidFill>
              <a:srgbClr val="DCEBE2"/>
            </a:solidFill>
            <a:prstDash val="solid"/>
          </a:ln>
        </p:spPr>
      </p:sp>
      <p:sp>
        <p:nvSpPr>
          <p:cNvPr id="30" name="Shape 22"/>
          <p:cNvSpPr/>
          <p:nvPr/>
        </p:nvSpPr>
        <p:spPr>
          <a:xfrm>
            <a:off x="7571232" y="3575304"/>
            <a:ext cx="146304" cy="146304"/>
          </a:xfrm>
          <a:prstGeom prst="ellipse">
            <a:avLst/>
          </a:prstGeom>
          <a:solidFill>
            <a:srgbClr val="2D9C6F"/>
          </a:solidFill>
          <a:ln/>
        </p:spPr>
      </p:sp>
      <p:sp>
        <p:nvSpPr>
          <p:cNvPr id="31" name="Text 23"/>
          <p:cNvSpPr/>
          <p:nvPr/>
        </p:nvSpPr>
        <p:spPr>
          <a:xfrm>
            <a:off x="7818120" y="3419856"/>
            <a:ext cx="2331720" cy="457200"/>
          </a:xfrm>
          <a:prstGeom prst="rect">
            <a:avLst/>
          </a:prstGeom>
          <a:noFill/>
          <a:ln/>
        </p:spPr>
        <p:txBody>
          <a:bodyPr wrap="square" rtlCol="0" anchor="ctr"/>
          <a:lstStyle/>
          <a:p>
            <a:pPr marL="0" indent="0">
              <a:buNone/>
            </a:pPr>
            <a:r>
              <a:rPr lang="en-US" sz="1150" b="1" dirty="0">
                <a:solidFill>
                  <a:srgbClr val="1C2B23"/>
                </a:solidFill>
                <a:latin typeface="Arial" pitchFamily="34" charset="0"/>
                <a:ea typeface="Arial" pitchFamily="34" charset="-122"/>
                <a:cs typeface="Arial" pitchFamily="34" charset="-120"/>
              </a:rPr>
              <a:t>High Carbon</a:t>
            </a:r>
            <a:endParaRPr lang="en-US" sz="1150" dirty="0"/>
          </a:p>
        </p:txBody>
      </p:sp>
      <p:sp>
        <p:nvSpPr>
          <p:cNvPr id="32" name="Shape 24"/>
          <p:cNvSpPr/>
          <p:nvPr/>
        </p:nvSpPr>
        <p:spPr>
          <a:xfrm>
            <a:off x="7406640" y="3986784"/>
            <a:ext cx="2880360" cy="457200"/>
          </a:xfrm>
          <a:prstGeom prst="roundRect">
            <a:avLst>
              <a:gd name="adj" fmla="val 50000"/>
            </a:avLst>
          </a:prstGeom>
          <a:solidFill>
            <a:srgbClr val="FFFFFF"/>
          </a:solidFill>
          <a:ln w="12700">
            <a:solidFill>
              <a:srgbClr val="DCEBE2"/>
            </a:solidFill>
            <a:prstDash val="solid"/>
          </a:ln>
        </p:spPr>
      </p:sp>
      <p:sp>
        <p:nvSpPr>
          <p:cNvPr id="33" name="Shape 25"/>
          <p:cNvSpPr/>
          <p:nvPr/>
        </p:nvSpPr>
        <p:spPr>
          <a:xfrm>
            <a:off x="7571232" y="4142232"/>
            <a:ext cx="146304" cy="146304"/>
          </a:xfrm>
          <a:prstGeom prst="ellipse">
            <a:avLst/>
          </a:prstGeom>
          <a:solidFill>
            <a:srgbClr val="2D9C6F"/>
          </a:solidFill>
          <a:ln/>
        </p:spPr>
      </p:sp>
      <p:sp>
        <p:nvSpPr>
          <p:cNvPr id="34" name="Text 26"/>
          <p:cNvSpPr/>
          <p:nvPr/>
        </p:nvSpPr>
        <p:spPr>
          <a:xfrm>
            <a:off x="7818120" y="3986784"/>
            <a:ext cx="2331720" cy="457200"/>
          </a:xfrm>
          <a:prstGeom prst="rect">
            <a:avLst/>
          </a:prstGeom>
          <a:noFill/>
          <a:ln/>
        </p:spPr>
        <p:txBody>
          <a:bodyPr wrap="square" rtlCol="0" anchor="ctr"/>
          <a:lstStyle/>
          <a:p>
            <a:pPr marL="0" indent="0">
              <a:buNone/>
            </a:pPr>
            <a:r>
              <a:rPr lang="en-US" sz="1150" b="1" dirty="0">
                <a:solidFill>
                  <a:srgbClr val="1C2B23"/>
                </a:solidFill>
                <a:latin typeface="Arial" pitchFamily="34" charset="0"/>
                <a:ea typeface="Arial" pitchFamily="34" charset="-122"/>
                <a:cs typeface="Arial" pitchFamily="34" charset="-120"/>
              </a:rPr>
              <a:t>Confidence Score</a:t>
            </a:r>
            <a:endParaRPr lang="en-US" sz="1150" dirty="0"/>
          </a:p>
        </p:txBody>
      </p:sp>
      <p:sp>
        <p:nvSpPr>
          <p:cNvPr id="35" name="Shape 27"/>
          <p:cNvSpPr/>
          <p:nvPr/>
        </p:nvSpPr>
        <p:spPr>
          <a:xfrm>
            <a:off x="7406640" y="4553712"/>
            <a:ext cx="2880360" cy="457200"/>
          </a:xfrm>
          <a:prstGeom prst="roundRect">
            <a:avLst>
              <a:gd name="adj" fmla="val 50000"/>
            </a:avLst>
          </a:prstGeom>
          <a:solidFill>
            <a:srgbClr val="FFFFFF"/>
          </a:solidFill>
          <a:ln w="12700">
            <a:solidFill>
              <a:srgbClr val="DCEBE2"/>
            </a:solidFill>
            <a:prstDash val="solid"/>
          </a:ln>
        </p:spPr>
      </p:sp>
      <p:sp>
        <p:nvSpPr>
          <p:cNvPr id="36" name="Shape 28"/>
          <p:cNvSpPr/>
          <p:nvPr/>
        </p:nvSpPr>
        <p:spPr>
          <a:xfrm>
            <a:off x="7571232" y="4709160"/>
            <a:ext cx="146304" cy="146304"/>
          </a:xfrm>
          <a:prstGeom prst="ellipse">
            <a:avLst/>
          </a:prstGeom>
          <a:solidFill>
            <a:srgbClr val="2D9C6F"/>
          </a:solidFill>
          <a:ln/>
        </p:spPr>
      </p:sp>
      <p:sp>
        <p:nvSpPr>
          <p:cNvPr id="37" name="Text 29"/>
          <p:cNvSpPr/>
          <p:nvPr/>
        </p:nvSpPr>
        <p:spPr>
          <a:xfrm>
            <a:off x="7818120" y="4553712"/>
            <a:ext cx="2331720" cy="457200"/>
          </a:xfrm>
          <a:prstGeom prst="rect">
            <a:avLst/>
          </a:prstGeom>
          <a:noFill/>
          <a:ln/>
        </p:spPr>
        <p:txBody>
          <a:bodyPr wrap="square" rtlCol="0" anchor="ctr"/>
          <a:lstStyle/>
          <a:p>
            <a:pPr marL="0" indent="0">
              <a:buNone/>
            </a:pPr>
            <a:r>
              <a:rPr lang="en-US" sz="1150" b="1" dirty="0">
                <a:solidFill>
                  <a:srgbClr val="1C2B23"/>
                </a:solidFill>
                <a:latin typeface="Arial" pitchFamily="34" charset="0"/>
                <a:ea typeface="Arial" pitchFamily="34" charset="-122"/>
                <a:cs typeface="Arial" pitchFamily="34" charset="-120"/>
              </a:rPr>
              <a:t>Estimated CO₂ Emission</a:t>
            </a:r>
            <a:endParaRPr lang="en-US" sz="1150" dirty="0"/>
          </a:p>
        </p:txBody>
      </p:sp>
      <p:sp>
        <p:nvSpPr>
          <p:cNvPr id="38" name="Text 30"/>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9" name="Text 31"/>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12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FEATURE SET</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Key Features</a:t>
            </a:r>
            <a:endParaRPr lang="en-US" sz="3200" dirty="0"/>
          </a:p>
        </p:txBody>
      </p:sp>
      <p:sp>
        <p:nvSpPr>
          <p:cNvPr id="4" name="Shape 2"/>
          <p:cNvSpPr/>
          <p:nvPr/>
        </p:nvSpPr>
        <p:spPr>
          <a:xfrm>
            <a:off x="640080" y="1828800"/>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841248" y="2048256"/>
            <a:ext cx="475488" cy="475488"/>
          </a:xfrm>
          <a:prstGeom prst="ellipse">
            <a:avLst/>
          </a:prstGeom>
          <a:solidFill>
            <a:srgbClr val="E8F6EE"/>
          </a:solidFill>
          <a:ln/>
        </p:spPr>
      </p:sp>
      <p:pic>
        <p:nvPicPr>
          <p:cNvPr id="6" name="Image 0" descr="/home/claude/carboncheck/icons/house.png"/>
          <p:cNvPicPr>
            <a:picLocks noChangeAspect="1"/>
          </p:cNvPicPr>
          <p:nvPr/>
        </p:nvPicPr>
        <p:blipFill>
          <a:blip r:embed="rId4"/>
          <a:stretch>
            <a:fillRect/>
          </a:stretch>
        </p:blipFill>
        <p:spPr>
          <a:xfrm>
            <a:off x="903061" y="2110069"/>
            <a:ext cx="351861" cy="351861"/>
          </a:xfrm>
          <a:prstGeom prst="rect">
            <a:avLst/>
          </a:prstGeom>
        </p:spPr>
      </p:pic>
      <p:sp>
        <p:nvSpPr>
          <p:cNvPr id="7" name="Text 4"/>
          <p:cNvSpPr/>
          <p:nvPr/>
        </p:nvSpPr>
        <p:spPr>
          <a:xfrm>
            <a:off x="1463040" y="1828800"/>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Home Page</a:t>
            </a:r>
            <a:endParaRPr lang="en-US" sz="1250" dirty="0"/>
          </a:p>
        </p:txBody>
      </p:sp>
      <p:sp>
        <p:nvSpPr>
          <p:cNvPr id="8" name="Shape 5"/>
          <p:cNvSpPr/>
          <p:nvPr/>
        </p:nvSpPr>
        <p:spPr>
          <a:xfrm>
            <a:off x="3465576" y="1828800"/>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9" name="Shape 6"/>
          <p:cNvSpPr/>
          <p:nvPr/>
        </p:nvSpPr>
        <p:spPr>
          <a:xfrm>
            <a:off x="3666744" y="2048256"/>
            <a:ext cx="475488" cy="475488"/>
          </a:xfrm>
          <a:prstGeom prst="ellipse">
            <a:avLst/>
          </a:prstGeom>
          <a:solidFill>
            <a:srgbClr val="E8F6EE"/>
          </a:solidFill>
          <a:ln/>
        </p:spPr>
      </p:sp>
      <p:pic>
        <p:nvPicPr>
          <p:cNvPr id="10" name="Image 1" descr="/home/claude/carboncheck/icons/gauge.png"/>
          <p:cNvPicPr>
            <a:picLocks noChangeAspect="1"/>
          </p:cNvPicPr>
          <p:nvPr/>
        </p:nvPicPr>
        <p:blipFill>
          <a:blip r:embed="rId5"/>
          <a:stretch>
            <a:fillRect/>
          </a:stretch>
        </p:blipFill>
        <p:spPr>
          <a:xfrm>
            <a:off x="3728557" y="2110069"/>
            <a:ext cx="351861" cy="351861"/>
          </a:xfrm>
          <a:prstGeom prst="rect">
            <a:avLst/>
          </a:prstGeom>
        </p:spPr>
      </p:pic>
      <p:sp>
        <p:nvSpPr>
          <p:cNvPr id="11" name="Text 7"/>
          <p:cNvSpPr/>
          <p:nvPr/>
        </p:nvSpPr>
        <p:spPr>
          <a:xfrm>
            <a:off x="4288536" y="1828800"/>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Carbon Calculator</a:t>
            </a:r>
            <a:endParaRPr lang="en-US" sz="1250" dirty="0"/>
          </a:p>
        </p:txBody>
      </p:sp>
      <p:sp>
        <p:nvSpPr>
          <p:cNvPr id="12" name="Shape 8"/>
          <p:cNvSpPr/>
          <p:nvPr/>
        </p:nvSpPr>
        <p:spPr>
          <a:xfrm>
            <a:off x="6291072" y="1828800"/>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3" name="Shape 9"/>
          <p:cNvSpPr/>
          <p:nvPr/>
        </p:nvSpPr>
        <p:spPr>
          <a:xfrm>
            <a:off x="6492240" y="2048256"/>
            <a:ext cx="475488" cy="475488"/>
          </a:xfrm>
          <a:prstGeom prst="ellipse">
            <a:avLst/>
          </a:prstGeom>
          <a:solidFill>
            <a:srgbClr val="E8F6EE"/>
          </a:solidFill>
          <a:ln/>
        </p:spPr>
      </p:sp>
      <p:pic>
        <p:nvPicPr>
          <p:cNvPr id="14" name="Image 2" descr="/home/claude/carboncheck/icons/brain.png"/>
          <p:cNvPicPr>
            <a:picLocks noChangeAspect="1"/>
          </p:cNvPicPr>
          <p:nvPr/>
        </p:nvPicPr>
        <p:blipFill>
          <a:blip r:embed="rId6"/>
          <a:stretch>
            <a:fillRect/>
          </a:stretch>
        </p:blipFill>
        <p:spPr>
          <a:xfrm>
            <a:off x="6554053" y="2110069"/>
            <a:ext cx="351861" cy="351861"/>
          </a:xfrm>
          <a:prstGeom prst="rect">
            <a:avLst/>
          </a:prstGeom>
        </p:spPr>
      </p:pic>
      <p:sp>
        <p:nvSpPr>
          <p:cNvPr id="15" name="Text 10"/>
          <p:cNvSpPr/>
          <p:nvPr/>
        </p:nvSpPr>
        <p:spPr>
          <a:xfrm>
            <a:off x="7114032" y="1828800"/>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AI Prediction</a:t>
            </a:r>
            <a:endParaRPr lang="en-US" sz="1250" dirty="0"/>
          </a:p>
        </p:txBody>
      </p:sp>
      <p:sp>
        <p:nvSpPr>
          <p:cNvPr id="16" name="Shape 11"/>
          <p:cNvSpPr/>
          <p:nvPr/>
        </p:nvSpPr>
        <p:spPr>
          <a:xfrm>
            <a:off x="9116568" y="1828800"/>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7" name="Shape 12"/>
          <p:cNvSpPr/>
          <p:nvPr/>
        </p:nvSpPr>
        <p:spPr>
          <a:xfrm>
            <a:off x="9317736" y="2048256"/>
            <a:ext cx="475488" cy="475488"/>
          </a:xfrm>
          <a:prstGeom prst="ellipse">
            <a:avLst/>
          </a:prstGeom>
          <a:solidFill>
            <a:srgbClr val="E8F6EE"/>
          </a:solidFill>
          <a:ln/>
        </p:spPr>
      </p:sp>
      <p:pic>
        <p:nvPicPr>
          <p:cNvPr id="18" name="Image 3" descr="/home/claude/carboncheck/icons/chart.png"/>
          <p:cNvPicPr>
            <a:picLocks noChangeAspect="1"/>
          </p:cNvPicPr>
          <p:nvPr/>
        </p:nvPicPr>
        <p:blipFill>
          <a:blip r:embed="rId7"/>
          <a:stretch>
            <a:fillRect/>
          </a:stretch>
        </p:blipFill>
        <p:spPr>
          <a:xfrm>
            <a:off x="9379549" y="2110069"/>
            <a:ext cx="351861" cy="351861"/>
          </a:xfrm>
          <a:prstGeom prst="rect">
            <a:avLst/>
          </a:prstGeom>
        </p:spPr>
      </p:pic>
      <p:sp>
        <p:nvSpPr>
          <p:cNvPr id="19" name="Text 13"/>
          <p:cNvSpPr/>
          <p:nvPr/>
        </p:nvSpPr>
        <p:spPr>
          <a:xfrm>
            <a:off x="9939528" y="1828800"/>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Dashboard</a:t>
            </a:r>
            <a:endParaRPr lang="en-US" sz="1250" dirty="0"/>
          </a:p>
        </p:txBody>
      </p:sp>
      <p:sp>
        <p:nvSpPr>
          <p:cNvPr id="20" name="Shape 14"/>
          <p:cNvSpPr/>
          <p:nvPr/>
        </p:nvSpPr>
        <p:spPr>
          <a:xfrm>
            <a:off x="640080" y="3328416"/>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1" name="Shape 15"/>
          <p:cNvSpPr/>
          <p:nvPr/>
        </p:nvSpPr>
        <p:spPr>
          <a:xfrm>
            <a:off x="841248" y="3547872"/>
            <a:ext cx="475488" cy="475488"/>
          </a:xfrm>
          <a:prstGeom prst="ellipse">
            <a:avLst/>
          </a:prstGeom>
          <a:solidFill>
            <a:srgbClr val="E8F6EE"/>
          </a:solidFill>
          <a:ln/>
        </p:spPr>
      </p:sp>
      <p:pic>
        <p:nvPicPr>
          <p:cNvPr id="22" name="Image 4" descr="/home/claude/carboncheck/icons/chartbar.png"/>
          <p:cNvPicPr>
            <a:picLocks noChangeAspect="1"/>
          </p:cNvPicPr>
          <p:nvPr/>
        </p:nvPicPr>
        <p:blipFill>
          <a:blip r:embed="rId8"/>
          <a:stretch>
            <a:fillRect/>
          </a:stretch>
        </p:blipFill>
        <p:spPr>
          <a:xfrm>
            <a:off x="903061" y="3609685"/>
            <a:ext cx="351861" cy="351861"/>
          </a:xfrm>
          <a:prstGeom prst="rect">
            <a:avLst/>
          </a:prstGeom>
        </p:spPr>
      </p:pic>
      <p:sp>
        <p:nvSpPr>
          <p:cNvPr id="23" name="Text 16"/>
          <p:cNvSpPr/>
          <p:nvPr/>
        </p:nvSpPr>
        <p:spPr>
          <a:xfrm>
            <a:off x="1463040" y="3328416"/>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Analytics</a:t>
            </a:r>
            <a:endParaRPr lang="en-US" sz="1250" dirty="0"/>
          </a:p>
        </p:txBody>
      </p:sp>
      <p:sp>
        <p:nvSpPr>
          <p:cNvPr id="24" name="Shape 17"/>
          <p:cNvSpPr/>
          <p:nvPr/>
        </p:nvSpPr>
        <p:spPr>
          <a:xfrm>
            <a:off x="3465576" y="3328416"/>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8"/>
          <p:cNvSpPr/>
          <p:nvPr/>
        </p:nvSpPr>
        <p:spPr>
          <a:xfrm>
            <a:off x="3666744" y="3547872"/>
            <a:ext cx="475488" cy="475488"/>
          </a:xfrm>
          <a:prstGeom prst="ellipse">
            <a:avLst/>
          </a:prstGeom>
          <a:solidFill>
            <a:srgbClr val="E8F6EE"/>
          </a:solidFill>
          <a:ln/>
        </p:spPr>
      </p:sp>
      <p:pic>
        <p:nvPicPr>
          <p:cNvPr id="26" name="Image 5" descr="/home/claude/carboncheck/icons/chart.png"/>
          <p:cNvPicPr>
            <a:picLocks noChangeAspect="1"/>
          </p:cNvPicPr>
          <p:nvPr/>
        </p:nvPicPr>
        <p:blipFill>
          <a:blip r:embed="rId7"/>
          <a:stretch>
            <a:fillRect/>
          </a:stretch>
        </p:blipFill>
        <p:spPr>
          <a:xfrm>
            <a:off x="3728557" y="3609685"/>
            <a:ext cx="351861" cy="351861"/>
          </a:xfrm>
          <a:prstGeom prst="rect">
            <a:avLst/>
          </a:prstGeom>
        </p:spPr>
      </p:pic>
      <p:sp>
        <p:nvSpPr>
          <p:cNvPr id="27" name="Text 19"/>
          <p:cNvSpPr/>
          <p:nvPr/>
        </p:nvSpPr>
        <p:spPr>
          <a:xfrm>
            <a:off x="4288536" y="3328416"/>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Pie Charts</a:t>
            </a:r>
            <a:endParaRPr lang="en-US" sz="1250" dirty="0"/>
          </a:p>
        </p:txBody>
      </p:sp>
      <p:sp>
        <p:nvSpPr>
          <p:cNvPr id="28" name="Shape 20"/>
          <p:cNvSpPr/>
          <p:nvPr/>
        </p:nvSpPr>
        <p:spPr>
          <a:xfrm>
            <a:off x="6291072" y="3328416"/>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9" name="Shape 21"/>
          <p:cNvSpPr/>
          <p:nvPr/>
        </p:nvSpPr>
        <p:spPr>
          <a:xfrm>
            <a:off x="6492240" y="3547872"/>
            <a:ext cx="475488" cy="475488"/>
          </a:xfrm>
          <a:prstGeom prst="ellipse">
            <a:avLst/>
          </a:prstGeom>
          <a:solidFill>
            <a:srgbClr val="E8F6EE"/>
          </a:solidFill>
          <a:ln/>
        </p:spPr>
      </p:sp>
      <p:pic>
        <p:nvPicPr>
          <p:cNvPr id="30" name="Image 6" descr="/home/claude/carboncheck/icons/chartbar.png"/>
          <p:cNvPicPr>
            <a:picLocks noChangeAspect="1"/>
          </p:cNvPicPr>
          <p:nvPr/>
        </p:nvPicPr>
        <p:blipFill>
          <a:blip r:embed="rId8"/>
          <a:stretch>
            <a:fillRect/>
          </a:stretch>
        </p:blipFill>
        <p:spPr>
          <a:xfrm>
            <a:off x="6554053" y="3609685"/>
            <a:ext cx="351861" cy="351861"/>
          </a:xfrm>
          <a:prstGeom prst="rect">
            <a:avLst/>
          </a:prstGeom>
        </p:spPr>
      </p:pic>
      <p:sp>
        <p:nvSpPr>
          <p:cNvPr id="31" name="Text 22"/>
          <p:cNvSpPr/>
          <p:nvPr/>
        </p:nvSpPr>
        <p:spPr>
          <a:xfrm>
            <a:off x="7114032" y="3328416"/>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Bar Charts</a:t>
            </a:r>
            <a:endParaRPr lang="en-US" sz="1250" dirty="0"/>
          </a:p>
        </p:txBody>
      </p:sp>
      <p:sp>
        <p:nvSpPr>
          <p:cNvPr id="32" name="Shape 23"/>
          <p:cNvSpPr/>
          <p:nvPr/>
        </p:nvSpPr>
        <p:spPr>
          <a:xfrm>
            <a:off x="9116568" y="3328416"/>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33" name="Shape 24"/>
          <p:cNvSpPr/>
          <p:nvPr/>
        </p:nvSpPr>
        <p:spPr>
          <a:xfrm>
            <a:off x="9317736" y="3547872"/>
            <a:ext cx="475488" cy="475488"/>
          </a:xfrm>
          <a:prstGeom prst="ellipse">
            <a:avLst/>
          </a:prstGeom>
          <a:solidFill>
            <a:srgbClr val="E8F6EE"/>
          </a:solidFill>
          <a:ln/>
        </p:spPr>
      </p:sp>
      <p:pic>
        <p:nvPicPr>
          <p:cNvPr id="34" name="Image 7" descr="/home/claude/carboncheck/icons/lightbulb.png"/>
          <p:cNvPicPr>
            <a:picLocks noChangeAspect="1"/>
          </p:cNvPicPr>
          <p:nvPr/>
        </p:nvPicPr>
        <p:blipFill>
          <a:blip r:embed="rId9"/>
          <a:stretch>
            <a:fillRect/>
          </a:stretch>
        </p:blipFill>
        <p:spPr>
          <a:xfrm>
            <a:off x="9379549" y="3609685"/>
            <a:ext cx="351861" cy="351861"/>
          </a:xfrm>
          <a:prstGeom prst="rect">
            <a:avLst/>
          </a:prstGeom>
        </p:spPr>
      </p:pic>
      <p:sp>
        <p:nvSpPr>
          <p:cNvPr id="35" name="Text 25"/>
          <p:cNvSpPr/>
          <p:nvPr/>
        </p:nvSpPr>
        <p:spPr>
          <a:xfrm>
            <a:off x="9939528" y="3328416"/>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Personalized Suggestions</a:t>
            </a:r>
            <a:endParaRPr lang="en-US" sz="1250" dirty="0"/>
          </a:p>
        </p:txBody>
      </p:sp>
      <p:sp>
        <p:nvSpPr>
          <p:cNvPr id="36" name="Shape 26"/>
          <p:cNvSpPr/>
          <p:nvPr/>
        </p:nvSpPr>
        <p:spPr>
          <a:xfrm>
            <a:off x="640080" y="4828032"/>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37" name="Shape 27"/>
          <p:cNvSpPr/>
          <p:nvPr/>
        </p:nvSpPr>
        <p:spPr>
          <a:xfrm>
            <a:off x="841248" y="5047488"/>
            <a:ext cx="475488" cy="475488"/>
          </a:xfrm>
          <a:prstGeom prst="ellipse">
            <a:avLst/>
          </a:prstGeom>
          <a:solidFill>
            <a:srgbClr val="E8F6EE"/>
          </a:solidFill>
          <a:ln/>
        </p:spPr>
      </p:sp>
      <p:pic>
        <p:nvPicPr>
          <p:cNvPr id="38" name="Image 8" descr="/home/claude/carboncheck/icons/seedling.png"/>
          <p:cNvPicPr>
            <a:picLocks noChangeAspect="1"/>
          </p:cNvPicPr>
          <p:nvPr/>
        </p:nvPicPr>
        <p:blipFill>
          <a:blip r:embed="rId10"/>
          <a:stretch>
            <a:fillRect/>
          </a:stretch>
        </p:blipFill>
        <p:spPr>
          <a:xfrm>
            <a:off x="903061" y="5109301"/>
            <a:ext cx="351861" cy="351861"/>
          </a:xfrm>
          <a:prstGeom prst="rect">
            <a:avLst/>
          </a:prstGeom>
        </p:spPr>
      </p:pic>
      <p:sp>
        <p:nvSpPr>
          <p:cNvPr id="39" name="Text 28"/>
          <p:cNvSpPr/>
          <p:nvPr/>
        </p:nvSpPr>
        <p:spPr>
          <a:xfrm>
            <a:off x="1463040" y="4828032"/>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Sustainability Tips</a:t>
            </a:r>
            <a:endParaRPr lang="en-US" sz="1250" dirty="0"/>
          </a:p>
        </p:txBody>
      </p:sp>
      <p:sp>
        <p:nvSpPr>
          <p:cNvPr id="40" name="Shape 29"/>
          <p:cNvSpPr/>
          <p:nvPr/>
        </p:nvSpPr>
        <p:spPr>
          <a:xfrm>
            <a:off x="3465576" y="4828032"/>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41" name="Shape 30"/>
          <p:cNvSpPr/>
          <p:nvPr/>
        </p:nvSpPr>
        <p:spPr>
          <a:xfrm>
            <a:off x="3666744" y="5047488"/>
            <a:ext cx="475488" cy="475488"/>
          </a:xfrm>
          <a:prstGeom prst="ellipse">
            <a:avLst/>
          </a:prstGeom>
          <a:solidFill>
            <a:srgbClr val="E8F6EE"/>
          </a:solidFill>
          <a:ln/>
        </p:spPr>
      </p:sp>
      <p:pic>
        <p:nvPicPr>
          <p:cNvPr id="42" name="Image 9" descr="/home/claude/carboncheck/icons/circle_info.png"/>
          <p:cNvPicPr>
            <a:picLocks noChangeAspect="1"/>
          </p:cNvPicPr>
          <p:nvPr/>
        </p:nvPicPr>
        <p:blipFill>
          <a:blip r:embed="rId11"/>
          <a:stretch>
            <a:fillRect/>
          </a:stretch>
        </p:blipFill>
        <p:spPr>
          <a:xfrm>
            <a:off x="3728557" y="5109301"/>
            <a:ext cx="351861" cy="351861"/>
          </a:xfrm>
          <a:prstGeom prst="rect">
            <a:avLst/>
          </a:prstGeom>
        </p:spPr>
      </p:pic>
      <p:sp>
        <p:nvSpPr>
          <p:cNvPr id="43" name="Text 31"/>
          <p:cNvSpPr/>
          <p:nvPr/>
        </p:nvSpPr>
        <p:spPr>
          <a:xfrm>
            <a:off x="4288536" y="4828032"/>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About</a:t>
            </a:r>
            <a:endParaRPr lang="en-US" sz="1250" dirty="0"/>
          </a:p>
        </p:txBody>
      </p:sp>
      <p:sp>
        <p:nvSpPr>
          <p:cNvPr id="44" name="Shape 32"/>
          <p:cNvSpPr/>
          <p:nvPr/>
        </p:nvSpPr>
        <p:spPr>
          <a:xfrm>
            <a:off x="6291072" y="4828032"/>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45" name="Shape 33"/>
          <p:cNvSpPr/>
          <p:nvPr/>
        </p:nvSpPr>
        <p:spPr>
          <a:xfrm>
            <a:off x="6492240" y="5047488"/>
            <a:ext cx="475488" cy="475488"/>
          </a:xfrm>
          <a:prstGeom prst="ellipse">
            <a:avLst/>
          </a:prstGeom>
          <a:solidFill>
            <a:srgbClr val="E8F6EE"/>
          </a:solidFill>
          <a:ln/>
        </p:spPr>
      </p:sp>
      <p:pic>
        <p:nvPicPr>
          <p:cNvPr id="46" name="Image 10" descr="/home/claude/carboncheck/icons/handshake.png"/>
          <p:cNvPicPr>
            <a:picLocks noChangeAspect="1"/>
          </p:cNvPicPr>
          <p:nvPr/>
        </p:nvPicPr>
        <p:blipFill>
          <a:blip r:embed="rId12"/>
          <a:stretch>
            <a:fillRect/>
          </a:stretch>
        </p:blipFill>
        <p:spPr>
          <a:xfrm>
            <a:off x="6554053" y="5109301"/>
            <a:ext cx="351861" cy="351861"/>
          </a:xfrm>
          <a:prstGeom prst="rect">
            <a:avLst/>
          </a:prstGeom>
        </p:spPr>
      </p:pic>
      <p:sp>
        <p:nvSpPr>
          <p:cNvPr id="47" name="Text 34"/>
          <p:cNvSpPr/>
          <p:nvPr/>
        </p:nvSpPr>
        <p:spPr>
          <a:xfrm>
            <a:off x="7114032" y="4828032"/>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Contact</a:t>
            </a:r>
            <a:endParaRPr lang="en-US" sz="1250" dirty="0"/>
          </a:p>
        </p:txBody>
      </p:sp>
      <p:sp>
        <p:nvSpPr>
          <p:cNvPr id="48" name="Shape 35"/>
          <p:cNvSpPr/>
          <p:nvPr/>
        </p:nvSpPr>
        <p:spPr>
          <a:xfrm>
            <a:off x="9116568" y="4828032"/>
            <a:ext cx="2606040" cy="1298448"/>
          </a:xfrm>
          <a:prstGeom prst="roundRect">
            <a:avLst>
              <a:gd name="adj" fmla="val 9155"/>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49" name="Shape 36"/>
          <p:cNvSpPr/>
          <p:nvPr/>
        </p:nvSpPr>
        <p:spPr>
          <a:xfrm>
            <a:off x="9317736" y="5047488"/>
            <a:ext cx="475488" cy="475488"/>
          </a:xfrm>
          <a:prstGeom prst="ellipse">
            <a:avLst/>
          </a:prstGeom>
          <a:solidFill>
            <a:srgbClr val="E8F6EE"/>
          </a:solidFill>
          <a:ln/>
        </p:spPr>
      </p:sp>
      <p:pic>
        <p:nvPicPr>
          <p:cNvPr id="50" name="Image 11" descr="/home/claude/carboncheck/icons/mobile.png"/>
          <p:cNvPicPr>
            <a:picLocks noChangeAspect="1"/>
          </p:cNvPicPr>
          <p:nvPr/>
        </p:nvPicPr>
        <p:blipFill>
          <a:blip r:embed="rId13"/>
          <a:stretch>
            <a:fillRect/>
          </a:stretch>
        </p:blipFill>
        <p:spPr>
          <a:xfrm>
            <a:off x="9379549" y="5109301"/>
            <a:ext cx="351861" cy="351861"/>
          </a:xfrm>
          <a:prstGeom prst="rect">
            <a:avLst/>
          </a:prstGeom>
        </p:spPr>
      </p:pic>
      <p:sp>
        <p:nvSpPr>
          <p:cNvPr id="51" name="Text 37"/>
          <p:cNvSpPr/>
          <p:nvPr/>
        </p:nvSpPr>
        <p:spPr>
          <a:xfrm>
            <a:off x="9939528" y="4828032"/>
            <a:ext cx="1645920" cy="1298448"/>
          </a:xfrm>
          <a:prstGeom prst="rect">
            <a:avLst/>
          </a:prstGeom>
          <a:noFill/>
          <a:ln/>
        </p:spPr>
        <p:txBody>
          <a:bodyPr wrap="square" rtlCol="0" anchor="ctr"/>
          <a:lstStyle/>
          <a:p>
            <a:pPr marL="0" indent="0">
              <a:buNone/>
            </a:pPr>
            <a:r>
              <a:rPr lang="en-US" sz="1250" b="1" dirty="0">
                <a:solidFill>
                  <a:srgbClr val="1C2B23"/>
                </a:solidFill>
                <a:latin typeface="Arial" pitchFamily="34" charset="0"/>
                <a:ea typeface="Arial" pitchFamily="34" charset="-122"/>
                <a:cs typeface="Arial" pitchFamily="34" charset="-120"/>
              </a:rPr>
              <a:t>Responsive Design</a:t>
            </a:r>
            <a:endParaRPr lang="en-US" sz="1250" dirty="0"/>
          </a:p>
        </p:txBody>
      </p:sp>
      <p:sp>
        <p:nvSpPr>
          <p:cNvPr id="52" name="Text 38"/>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53" name="Text 39"/>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13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PRODUCT WALKTHROUGH</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Dashboard Analytics</a:t>
            </a:r>
            <a:endParaRPr lang="en-US" sz="3200" dirty="0"/>
          </a:p>
        </p:txBody>
      </p:sp>
      <p:sp>
        <p:nvSpPr>
          <p:cNvPr id="4" name="Shape 2"/>
          <p:cNvSpPr/>
          <p:nvPr/>
        </p:nvSpPr>
        <p:spPr>
          <a:xfrm>
            <a:off x="640080" y="1783080"/>
            <a:ext cx="3466490" cy="2112264"/>
          </a:xfrm>
          <a:prstGeom prst="roundRect">
            <a:avLst>
              <a:gd name="adj" fmla="val 5195"/>
            </a:avLst>
          </a:prstGeom>
          <a:solidFill>
            <a:srgbClr val="FFFFFF"/>
          </a:solidFill>
          <a:ln w="19050">
            <a:solidFill>
              <a:srgbClr val="2D9C6F"/>
            </a:solidFill>
            <a:prstDash val="dash"/>
          </a:ln>
        </p:spPr>
      </p:sp>
      <p:pic>
        <p:nvPicPr>
          <p:cNvPr id="5" name="Image 0" descr="/home/claude/carboncheck/icons/image_icon.png"/>
          <p:cNvPicPr>
            <a:picLocks noChangeAspect="1"/>
          </p:cNvPicPr>
          <p:nvPr/>
        </p:nvPicPr>
        <p:blipFill>
          <a:blip r:embed="rId4"/>
          <a:stretch>
            <a:fillRect/>
          </a:stretch>
        </p:blipFill>
        <p:spPr>
          <a:xfrm>
            <a:off x="2153869" y="2455164"/>
            <a:ext cx="438912" cy="438912"/>
          </a:xfrm>
          <a:prstGeom prst="rect">
            <a:avLst/>
          </a:prstGeom>
        </p:spPr>
      </p:pic>
      <p:sp>
        <p:nvSpPr>
          <p:cNvPr id="6" name="Text 3"/>
          <p:cNvSpPr/>
          <p:nvPr/>
        </p:nvSpPr>
        <p:spPr>
          <a:xfrm>
            <a:off x="731520" y="2912364"/>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Dashboard Screenshot</a:t>
            </a:r>
            <a:endParaRPr lang="en-US" sz="1050" dirty="0"/>
          </a:p>
        </p:txBody>
      </p:sp>
      <p:sp>
        <p:nvSpPr>
          <p:cNvPr id="7" name="Text 4"/>
          <p:cNvSpPr/>
          <p:nvPr/>
        </p:nvSpPr>
        <p:spPr>
          <a:xfrm>
            <a:off x="731520" y="3223260"/>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Screenshot Here</a:t>
            </a:r>
            <a:endParaRPr lang="en-US" sz="850" dirty="0"/>
          </a:p>
        </p:txBody>
      </p:sp>
      <p:sp>
        <p:nvSpPr>
          <p:cNvPr id="8" name="Shape 5"/>
          <p:cNvSpPr/>
          <p:nvPr/>
        </p:nvSpPr>
        <p:spPr>
          <a:xfrm>
            <a:off x="4362602" y="1783080"/>
            <a:ext cx="3466490" cy="2112264"/>
          </a:xfrm>
          <a:prstGeom prst="roundRect">
            <a:avLst>
              <a:gd name="adj" fmla="val 5195"/>
            </a:avLst>
          </a:prstGeom>
          <a:solidFill>
            <a:srgbClr val="FFFFFF"/>
          </a:solidFill>
          <a:ln w="19050">
            <a:solidFill>
              <a:srgbClr val="2D9C6F"/>
            </a:solidFill>
            <a:prstDash val="dash"/>
          </a:ln>
        </p:spPr>
      </p:sp>
      <p:pic>
        <p:nvPicPr>
          <p:cNvPr id="9" name="Image 1" descr="/home/claude/carboncheck/icons/image_icon.png"/>
          <p:cNvPicPr>
            <a:picLocks noChangeAspect="1"/>
          </p:cNvPicPr>
          <p:nvPr/>
        </p:nvPicPr>
        <p:blipFill>
          <a:blip r:embed="rId4"/>
          <a:stretch>
            <a:fillRect/>
          </a:stretch>
        </p:blipFill>
        <p:spPr>
          <a:xfrm>
            <a:off x="5876392" y="2455164"/>
            <a:ext cx="438912" cy="438912"/>
          </a:xfrm>
          <a:prstGeom prst="rect">
            <a:avLst/>
          </a:prstGeom>
        </p:spPr>
      </p:pic>
      <p:sp>
        <p:nvSpPr>
          <p:cNvPr id="10" name="Text 6"/>
          <p:cNvSpPr/>
          <p:nvPr/>
        </p:nvSpPr>
        <p:spPr>
          <a:xfrm>
            <a:off x="4454042" y="2912364"/>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Pie Chart Screenshot</a:t>
            </a:r>
            <a:endParaRPr lang="en-US" sz="1050" dirty="0"/>
          </a:p>
        </p:txBody>
      </p:sp>
      <p:sp>
        <p:nvSpPr>
          <p:cNvPr id="11" name="Text 7"/>
          <p:cNvSpPr/>
          <p:nvPr/>
        </p:nvSpPr>
        <p:spPr>
          <a:xfrm>
            <a:off x="4454042" y="3223260"/>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Screenshot Here</a:t>
            </a:r>
            <a:endParaRPr lang="en-US" sz="850" dirty="0"/>
          </a:p>
        </p:txBody>
      </p:sp>
      <p:sp>
        <p:nvSpPr>
          <p:cNvPr id="12" name="Shape 8"/>
          <p:cNvSpPr/>
          <p:nvPr/>
        </p:nvSpPr>
        <p:spPr>
          <a:xfrm>
            <a:off x="8085125" y="1783080"/>
            <a:ext cx="3466490" cy="2112264"/>
          </a:xfrm>
          <a:prstGeom prst="roundRect">
            <a:avLst>
              <a:gd name="adj" fmla="val 5195"/>
            </a:avLst>
          </a:prstGeom>
          <a:solidFill>
            <a:srgbClr val="FFFFFF"/>
          </a:solidFill>
          <a:ln w="19050">
            <a:solidFill>
              <a:srgbClr val="2D9C6F"/>
            </a:solidFill>
            <a:prstDash val="dash"/>
          </a:ln>
        </p:spPr>
      </p:sp>
      <p:pic>
        <p:nvPicPr>
          <p:cNvPr id="13" name="Image 2" descr="/home/claude/carboncheck/icons/image_icon.png"/>
          <p:cNvPicPr>
            <a:picLocks noChangeAspect="1"/>
          </p:cNvPicPr>
          <p:nvPr/>
        </p:nvPicPr>
        <p:blipFill>
          <a:blip r:embed="rId4"/>
          <a:stretch>
            <a:fillRect/>
          </a:stretch>
        </p:blipFill>
        <p:spPr>
          <a:xfrm>
            <a:off x="9598914" y="2455164"/>
            <a:ext cx="438912" cy="438912"/>
          </a:xfrm>
          <a:prstGeom prst="rect">
            <a:avLst/>
          </a:prstGeom>
        </p:spPr>
      </p:pic>
      <p:sp>
        <p:nvSpPr>
          <p:cNvPr id="14" name="Text 9"/>
          <p:cNvSpPr/>
          <p:nvPr/>
        </p:nvSpPr>
        <p:spPr>
          <a:xfrm>
            <a:off x="8176565" y="2912364"/>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Bar Chart Screenshot</a:t>
            </a:r>
            <a:endParaRPr lang="en-US" sz="1050" dirty="0"/>
          </a:p>
        </p:txBody>
      </p:sp>
      <p:sp>
        <p:nvSpPr>
          <p:cNvPr id="15" name="Text 10"/>
          <p:cNvSpPr/>
          <p:nvPr/>
        </p:nvSpPr>
        <p:spPr>
          <a:xfrm>
            <a:off x="8176565" y="3223260"/>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Screenshot Here</a:t>
            </a:r>
            <a:endParaRPr lang="en-US" sz="850" dirty="0"/>
          </a:p>
        </p:txBody>
      </p:sp>
      <p:sp>
        <p:nvSpPr>
          <p:cNvPr id="16" name="Shape 11"/>
          <p:cNvSpPr/>
          <p:nvPr/>
        </p:nvSpPr>
        <p:spPr>
          <a:xfrm>
            <a:off x="2501341" y="4151376"/>
            <a:ext cx="3466490" cy="2112264"/>
          </a:xfrm>
          <a:prstGeom prst="roundRect">
            <a:avLst>
              <a:gd name="adj" fmla="val 5195"/>
            </a:avLst>
          </a:prstGeom>
          <a:solidFill>
            <a:srgbClr val="FFFFFF"/>
          </a:solidFill>
          <a:ln w="19050">
            <a:solidFill>
              <a:srgbClr val="2D9C6F"/>
            </a:solidFill>
            <a:prstDash val="dash"/>
          </a:ln>
        </p:spPr>
      </p:sp>
      <p:pic>
        <p:nvPicPr>
          <p:cNvPr id="17" name="Image 3" descr="/home/claude/carboncheck/icons/image_icon.png"/>
          <p:cNvPicPr>
            <a:picLocks noChangeAspect="1"/>
          </p:cNvPicPr>
          <p:nvPr/>
        </p:nvPicPr>
        <p:blipFill>
          <a:blip r:embed="rId4"/>
          <a:stretch>
            <a:fillRect/>
          </a:stretch>
        </p:blipFill>
        <p:spPr>
          <a:xfrm>
            <a:off x="4015130" y="4823460"/>
            <a:ext cx="438912" cy="438912"/>
          </a:xfrm>
          <a:prstGeom prst="rect">
            <a:avLst/>
          </a:prstGeom>
        </p:spPr>
      </p:pic>
      <p:sp>
        <p:nvSpPr>
          <p:cNvPr id="18" name="Text 12"/>
          <p:cNvSpPr/>
          <p:nvPr/>
        </p:nvSpPr>
        <p:spPr>
          <a:xfrm>
            <a:off x="2592781" y="5280660"/>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Emission Breakdown Screenshot</a:t>
            </a:r>
            <a:endParaRPr lang="en-US" sz="1050" dirty="0"/>
          </a:p>
        </p:txBody>
      </p:sp>
      <p:sp>
        <p:nvSpPr>
          <p:cNvPr id="19" name="Text 13"/>
          <p:cNvSpPr/>
          <p:nvPr/>
        </p:nvSpPr>
        <p:spPr>
          <a:xfrm>
            <a:off x="2592781" y="5591556"/>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Screenshot Here</a:t>
            </a:r>
            <a:endParaRPr lang="en-US" sz="850" dirty="0"/>
          </a:p>
        </p:txBody>
      </p:sp>
      <p:sp>
        <p:nvSpPr>
          <p:cNvPr id="20" name="Shape 14"/>
          <p:cNvSpPr/>
          <p:nvPr/>
        </p:nvSpPr>
        <p:spPr>
          <a:xfrm>
            <a:off x="6223864" y="4151376"/>
            <a:ext cx="3466490" cy="2112264"/>
          </a:xfrm>
          <a:prstGeom prst="roundRect">
            <a:avLst>
              <a:gd name="adj" fmla="val 5195"/>
            </a:avLst>
          </a:prstGeom>
          <a:solidFill>
            <a:srgbClr val="FFFFFF"/>
          </a:solidFill>
          <a:ln w="19050">
            <a:solidFill>
              <a:srgbClr val="2D9C6F"/>
            </a:solidFill>
            <a:prstDash val="dash"/>
          </a:ln>
        </p:spPr>
      </p:sp>
      <p:pic>
        <p:nvPicPr>
          <p:cNvPr id="21" name="Image 4" descr="/home/claude/carboncheck/icons/image_icon.png"/>
          <p:cNvPicPr>
            <a:picLocks noChangeAspect="1"/>
          </p:cNvPicPr>
          <p:nvPr/>
        </p:nvPicPr>
        <p:blipFill>
          <a:blip r:embed="rId4"/>
          <a:stretch>
            <a:fillRect/>
          </a:stretch>
        </p:blipFill>
        <p:spPr>
          <a:xfrm>
            <a:off x="7737653" y="4823460"/>
            <a:ext cx="438912" cy="438912"/>
          </a:xfrm>
          <a:prstGeom prst="rect">
            <a:avLst/>
          </a:prstGeom>
        </p:spPr>
      </p:pic>
      <p:sp>
        <p:nvSpPr>
          <p:cNvPr id="22" name="Text 15"/>
          <p:cNvSpPr/>
          <p:nvPr/>
        </p:nvSpPr>
        <p:spPr>
          <a:xfrm>
            <a:off x="6315304" y="5280660"/>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Monthly Comparison Screenshot</a:t>
            </a:r>
            <a:endParaRPr lang="en-US" sz="1050" dirty="0"/>
          </a:p>
        </p:txBody>
      </p:sp>
      <p:sp>
        <p:nvSpPr>
          <p:cNvPr id="23" name="Text 16"/>
          <p:cNvSpPr/>
          <p:nvPr/>
        </p:nvSpPr>
        <p:spPr>
          <a:xfrm>
            <a:off x="6315304" y="5591556"/>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Screenshot Here</a:t>
            </a:r>
            <a:endParaRPr lang="en-US" sz="850" dirty="0"/>
          </a:p>
        </p:txBody>
      </p:sp>
      <p:sp>
        <p:nvSpPr>
          <p:cNvPr id="24" name="Text 17"/>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25" name="Text 18"/>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14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PRODUCT WALKTHROUGH</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Website Screens</a:t>
            </a:r>
            <a:endParaRPr lang="en-US" sz="3200" dirty="0"/>
          </a:p>
        </p:txBody>
      </p:sp>
      <p:sp>
        <p:nvSpPr>
          <p:cNvPr id="4" name="Shape 2"/>
          <p:cNvSpPr/>
          <p:nvPr/>
        </p:nvSpPr>
        <p:spPr>
          <a:xfrm>
            <a:off x="640080" y="1783080"/>
            <a:ext cx="2535860" cy="2112264"/>
          </a:xfrm>
          <a:prstGeom prst="roundRect">
            <a:avLst>
              <a:gd name="adj" fmla="val 5195"/>
            </a:avLst>
          </a:prstGeom>
          <a:solidFill>
            <a:srgbClr val="FFFFFF"/>
          </a:solidFill>
          <a:ln w="19050">
            <a:solidFill>
              <a:srgbClr val="2D9C6F"/>
            </a:solidFill>
            <a:prstDash val="dash"/>
          </a:ln>
        </p:spPr>
      </p:sp>
      <p:pic>
        <p:nvPicPr>
          <p:cNvPr id="5" name="Image 0" descr="/home/claude/carboncheck/icons/image_icon.png"/>
          <p:cNvPicPr>
            <a:picLocks noChangeAspect="1"/>
          </p:cNvPicPr>
          <p:nvPr/>
        </p:nvPicPr>
        <p:blipFill>
          <a:blip r:embed="rId4"/>
          <a:stretch>
            <a:fillRect/>
          </a:stretch>
        </p:blipFill>
        <p:spPr>
          <a:xfrm>
            <a:off x="1688554" y="2455164"/>
            <a:ext cx="438912" cy="438912"/>
          </a:xfrm>
          <a:prstGeom prst="rect">
            <a:avLst/>
          </a:prstGeom>
        </p:spPr>
      </p:pic>
      <p:sp>
        <p:nvSpPr>
          <p:cNvPr id="6" name="Text 3"/>
          <p:cNvSpPr/>
          <p:nvPr/>
        </p:nvSpPr>
        <p:spPr>
          <a:xfrm>
            <a:off x="731520" y="2912364"/>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Home Page</a:t>
            </a:r>
            <a:endParaRPr lang="en-US" sz="1050" dirty="0"/>
          </a:p>
        </p:txBody>
      </p:sp>
      <p:sp>
        <p:nvSpPr>
          <p:cNvPr id="7" name="Text 4"/>
          <p:cNvSpPr/>
          <p:nvPr/>
        </p:nvSpPr>
        <p:spPr>
          <a:xfrm>
            <a:off x="731520" y="3223260"/>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8" name="Shape 5"/>
          <p:cNvSpPr/>
          <p:nvPr/>
        </p:nvSpPr>
        <p:spPr>
          <a:xfrm>
            <a:off x="3431972" y="1783080"/>
            <a:ext cx="2535860" cy="2112264"/>
          </a:xfrm>
          <a:prstGeom prst="roundRect">
            <a:avLst>
              <a:gd name="adj" fmla="val 5195"/>
            </a:avLst>
          </a:prstGeom>
          <a:solidFill>
            <a:srgbClr val="FFFFFF"/>
          </a:solidFill>
          <a:ln w="19050">
            <a:solidFill>
              <a:srgbClr val="2D9C6F"/>
            </a:solidFill>
            <a:prstDash val="dash"/>
          </a:ln>
        </p:spPr>
      </p:sp>
      <p:pic>
        <p:nvPicPr>
          <p:cNvPr id="9" name="Image 1" descr="/home/claude/carboncheck/icons/image_icon.png"/>
          <p:cNvPicPr>
            <a:picLocks noChangeAspect="1"/>
          </p:cNvPicPr>
          <p:nvPr/>
        </p:nvPicPr>
        <p:blipFill>
          <a:blip r:embed="rId4"/>
          <a:stretch>
            <a:fillRect/>
          </a:stretch>
        </p:blipFill>
        <p:spPr>
          <a:xfrm>
            <a:off x="4480446" y="2455164"/>
            <a:ext cx="438912" cy="438912"/>
          </a:xfrm>
          <a:prstGeom prst="rect">
            <a:avLst/>
          </a:prstGeom>
        </p:spPr>
      </p:pic>
      <p:sp>
        <p:nvSpPr>
          <p:cNvPr id="10" name="Text 6"/>
          <p:cNvSpPr/>
          <p:nvPr/>
        </p:nvSpPr>
        <p:spPr>
          <a:xfrm>
            <a:off x="3523412" y="2912364"/>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Calculator</a:t>
            </a:r>
            <a:endParaRPr lang="en-US" sz="1050" dirty="0"/>
          </a:p>
        </p:txBody>
      </p:sp>
      <p:sp>
        <p:nvSpPr>
          <p:cNvPr id="11" name="Text 7"/>
          <p:cNvSpPr/>
          <p:nvPr/>
        </p:nvSpPr>
        <p:spPr>
          <a:xfrm>
            <a:off x="3523412" y="3223260"/>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12" name="Shape 8"/>
          <p:cNvSpPr/>
          <p:nvPr/>
        </p:nvSpPr>
        <p:spPr>
          <a:xfrm>
            <a:off x="6223864" y="1783080"/>
            <a:ext cx="2535860" cy="2112264"/>
          </a:xfrm>
          <a:prstGeom prst="roundRect">
            <a:avLst>
              <a:gd name="adj" fmla="val 5195"/>
            </a:avLst>
          </a:prstGeom>
          <a:solidFill>
            <a:srgbClr val="FFFFFF"/>
          </a:solidFill>
          <a:ln w="19050">
            <a:solidFill>
              <a:srgbClr val="2D9C6F"/>
            </a:solidFill>
            <a:prstDash val="dash"/>
          </a:ln>
        </p:spPr>
      </p:sp>
      <p:pic>
        <p:nvPicPr>
          <p:cNvPr id="13" name="Image 2" descr="/home/claude/carboncheck/icons/image_icon.png"/>
          <p:cNvPicPr>
            <a:picLocks noChangeAspect="1"/>
          </p:cNvPicPr>
          <p:nvPr/>
        </p:nvPicPr>
        <p:blipFill>
          <a:blip r:embed="rId4"/>
          <a:stretch>
            <a:fillRect/>
          </a:stretch>
        </p:blipFill>
        <p:spPr>
          <a:xfrm>
            <a:off x="7272338" y="2455164"/>
            <a:ext cx="438912" cy="438912"/>
          </a:xfrm>
          <a:prstGeom prst="rect">
            <a:avLst/>
          </a:prstGeom>
        </p:spPr>
      </p:pic>
      <p:sp>
        <p:nvSpPr>
          <p:cNvPr id="14" name="Text 9"/>
          <p:cNvSpPr/>
          <p:nvPr/>
        </p:nvSpPr>
        <p:spPr>
          <a:xfrm>
            <a:off x="6315304" y="2912364"/>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AI Prediction</a:t>
            </a:r>
            <a:endParaRPr lang="en-US" sz="1050" dirty="0"/>
          </a:p>
        </p:txBody>
      </p:sp>
      <p:sp>
        <p:nvSpPr>
          <p:cNvPr id="15" name="Text 10"/>
          <p:cNvSpPr/>
          <p:nvPr/>
        </p:nvSpPr>
        <p:spPr>
          <a:xfrm>
            <a:off x="6315304" y="3223260"/>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16" name="Shape 11"/>
          <p:cNvSpPr/>
          <p:nvPr/>
        </p:nvSpPr>
        <p:spPr>
          <a:xfrm>
            <a:off x="9015755" y="1783080"/>
            <a:ext cx="2535860" cy="2112264"/>
          </a:xfrm>
          <a:prstGeom prst="roundRect">
            <a:avLst>
              <a:gd name="adj" fmla="val 5195"/>
            </a:avLst>
          </a:prstGeom>
          <a:solidFill>
            <a:srgbClr val="FFFFFF"/>
          </a:solidFill>
          <a:ln w="19050">
            <a:solidFill>
              <a:srgbClr val="2D9C6F"/>
            </a:solidFill>
            <a:prstDash val="dash"/>
          </a:ln>
        </p:spPr>
      </p:sp>
      <p:pic>
        <p:nvPicPr>
          <p:cNvPr id="17" name="Image 3" descr="/home/claude/carboncheck/icons/image_icon.png"/>
          <p:cNvPicPr>
            <a:picLocks noChangeAspect="1"/>
          </p:cNvPicPr>
          <p:nvPr/>
        </p:nvPicPr>
        <p:blipFill>
          <a:blip r:embed="rId4"/>
          <a:stretch>
            <a:fillRect/>
          </a:stretch>
        </p:blipFill>
        <p:spPr>
          <a:xfrm>
            <a:off x="10064229" y="2455164"/>
            <a:ext cx="438912" cy="438912"/>
          </a:xfrm>
          <a:prstGeom prst="rect">
            <a:avLst/>
          </a:prstGeom>
        </p:spPr>
      </p:pic>
      <p:sp>
        <p:nvSpPr>
          <p:cNvPr id="18" name="Text 12"/>
          <p:cNvSpPr/>
          <p:nvPr/>
        </p:nvSpPr>
        <p:spPr>
          <a:xfrm>
            <a:off x="9107195" y="2912364"/>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Dashboard</a:t>
            </a:r>
            <a:endParaRPr lang="en-US" sz="1050" dirty="0"/>
          </a:p>
        </p:txBody>
      </p:sp>
      <p:sp>
        <p:nvSpPr>
          <p:cNvPr id="19" name="Text 13"/>
          <p:cNvSpPr/>
          <p:nvPr/>
        </p:nvSpPr>
        <p:spPr>
          <a:xfrm>
            <a:off x="9107195" y="3223260"/>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20" name="Shape 14"/>
          <p:cNvSpPr/>
          <p:nvPr/>
        </p:nvSpPr>
        <p:spPr>
          <a:xfrm>
            <a:off x="2036026" y="4151376"/>
            <a:ext cx="2535860" cy="2112264"/>
          </a:xfrm>
          <a:prstGeom prst="roundRect">
            <a:avLst>
              <a:gd name="adj" fmla="val 5195"/>
            </a:avLst>
          </a:prstGeom>
          <a:solidFill>
            <a:srgbClr val="FFFFFF"/>
          </a:solidFill>
          <a:ln w="19050">
            <a:solidFill>
              <a:srgbClr val="2D9C6F"/>
            </a:solidFill>
            <a:prstDash val="dash"/>
          </a:ln>
        </p:spPr>
      </p:sp>
      <p:pic>
        <p:nvPicPr>
          <p:cNvPr id="21" name="Image 4" descr="/home/claude/carboncheck/icons/image_icon.png"/>
          <p:cNvPicPr>
            <a:picLocks noChangeAspect="1"/>
          </p:cNvPicPr>
          <p:nvPr/>
        </p:nvPicPr>
        <p:blipFill>
          <a:blip r:embed="rId4"/>
          <a:stretch>
            <a:fillRect/>
          </a:stretch>
        </p:blipFill>
        <p:spPr>
          <a:xfrm>
            <a:off x="3084500" y="4823460"/>
            <a:ext cx="438912" cy="438912"/>
          </a:xfrm>
          <a:prstGeom prst="rect">
            <a:avLst/>
          </a:prstGeom>
        </p:spPr>
      </p:pic>
      <p:sp>
        <p:nvSpPr>
          <p:cNvPr id="22" name="Text 15"/>
          <p:cNvSpPr/>
          <p:nvPr/>
        </p:nvSpPr>
        <p:spPr>
          <a:xfrm>
            <a:off x="2127466" y="5280660"/>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Tips</a:t>
            </a:r>
            <a:endParaRPr lang="en-US" sz="1050" dirty="0"/>
          </a:p>
        </p:txBody>
      </p:sp>
      <p:sp>
        <p:nvSpPr>
          <p:cNvPr id="23" name="Text 16"/>
          <p:cNvSpPr/>
          <p:nvPr/>
        </p:nvSpPr>
        <p:spPr>
          <a:xfrm>
            <a:off x="2127466" y="5591556"/>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24" name="Shape 17"/>
          <p:cNvSpPr/>
          <p:nvPr/>
        </p:nvSpPr>
        <p:spPr>
          <a:xfrm>
            <a:off x="4827918" y="4151376"/>
            <a:ext cx="2535860" cy="2112264"/>
          </a:xfrm>
          <a:prstGeom prst="roundRect">
            <a:avLst>
              <a:gd name="adj" fmla="val 5195"/>
            </a:avLst>
          </a:prstGeom>
          <a:solidFill>
            <a:srgbClr val="FFFFFF"/>
          </a:solidFill>
          <a:ln w="19050">
            <a:solidFill>
              <a:srgbClr val="2D9C6F"/>
            </a:solidFill>
            <a:prstDash val="dash"/>
          </a:ln>
        </p:spPr>
      </p:sp>
      <p:pic>
        <p:nvPicPr>
          <p:cNvPr id="25" name="Image 5" descr="/home/claude/carboncheck/icons/image_icon.png"/>
          <p:cNvPicPr>
            <a:picLocks noChangeAspect="1"/>
          </p:cNvPicPr>
          <p:nvPr/>
        </p:nvPicPr>
        <p:blipFill>
          <a:blip r:embed="rId4"/>
          <a:stretch>
            <a:fillRect/>
          </a:stretch>
        </p:blipFill>
        <p:spPr>
          <a:xfrm>
            <a:off x="5876392" y="4823460"/>
            <a:ext cx="438912" cy="438912"/>
          </a:xfrm>
          <a:prstGeom prst="rect">
            <a:avLst/>
          </a:prstGeom>
        </p:spPr>
      </p:pic>
      <p:sp>
        <p:nvSpPr>
          <p:cNvPr id="26" name="Text 18"/>
          <p:cNvSpPr/>
          <p:nvPr/>
        </p:nvSpPr>
        <p:spPr>
          <a:xfrm>
            <a:off x="4919358" y="5280660"/>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About</a:t>
            </a:r>
            <a:endParaRPr lang="en-US" sz="1050" dirty="0"/>
          </a:p>
        </p:txBody>
      </p:sp>
      <p:sp>
        <p:nvSpPr>
          <p:cNvPr id="27" name="Text 19"/>
          <p:cNvSpPr/>
          <p:nvPr/>
        </p:nvSpPr>
        <p:spPr>
          <a:xfrm>
            <a:off x="4919358" y="5591556"/>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28" name="Shape 20"/>
          <p:cNvSpPr/>
          <p:nvPr/>
        </p:nvSpPr>
        <p:spPr>
          <a:xfrm>
            <a:off x="7619810" y="4151376"/>
            <a:ext cx="2535860" cy="2112264"/>
          </a:xfrm>
          <a:prstGeom prst="roundRect">
            <a:avLst>
              <a:gd name="adj" fmla="val 5195"/>
            </a:avLst>
          </a:prstGeom>
          <a:solidFill>
            <a:srgbClr val="FFFFFF"/>
          </a:solidFill>
          <a:ln w="19050">
            <a:solidFill>
              <a:srgbClr val="2D9C6F"/>
            </a:solidFill>
            <a:prstDash val="dash"/>
          </a:ln>
        </p:spPr>
      </p:sp>
      <p:pic>
        <p:nvPicPr>
          <p:cNvPr id="29" name="Image 6" descr="/home/claude/carboncheck/icons/image_icon.png"/>
          <p:cNvPicPr>
            <a:picLocks noChangeAspect="1"/>
          </p:cNvPicPr>
          <p:nvPr/>
        </p:nvPicPr>
        <p:blipFill>
          <a:blip r:embed="rId4"/>
          <a:stretch>
            <a:fillRect/>
          </a:stretch>
        </p:blipFill>
        <p:spPr>
          <a:xfrm>
            <a:off x="8668283" y="4823460"/>
            <a:ext cx="438912" cy="438912"/>
          </a:xfrm>
          <a:prstGeom prst="rect">
            <a:avLst/>
          </a:prstGeom>
        </p:spPr>
      </p:pic>
      <p:sp>
        <p:nvSpPr>
          <p:cNvPr id="30" name="Text 21"/>
          <p:cNvSpPr/>
          <p:nvPr/>
        </p:nvSpPr>
        <p:spPr>
          <a:xfrm>
            <a:off x="7711250" y="5280660"/>
            <a:ext cx="235298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Contact</a:t>
            </a:r>
            <a:endParaRPr lang="en-US" sz="1050" dirty="0"/>
          </a:p>
        </p:txBody>
      </p:sp>
      <p:sp>
        <p:nvSpPr>
          <p:cNvPr id="31" name="Text 22"/>
          <p:cNvSpPr/>
          <p:nvPr/>
        </p:nvSpPr>
        <p:spPr>
          <a:xfrm>
            <a:off x="7711250" y="5591556"/>
            <a:ext cx="235298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Website Screenshot Here</a:t>
            </a:r>
            <a:endParaRPr lang="en-US" sz="850" dirty="0"/>
          </a:p>
        </p:txBody>
      </p:sp>
      <p:sp>
        <p:nvSpPr>
          <p:cNvPr id="32" name="Text 23"/>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3" name="Text 24"/>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15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BEHIND THE SCENES</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Development &amp; Activity Screens</a:t>
            </a:r>
            <a:endParaRPr lang="en-US" sz="3200" dirty="0"/>
          </a:p>
        </p:txBody>
      </p:sp>
      <p:sp>
        <p:nvSpPr>
          <p:cNvPr id="4" name="Shape 2"/>
          <p:cNvSpPr/>
          <p:nvPr/>
        </p:nvSpPr>
        <p:spPr>
          <a:xfrm>
            <a:off x="640080" y="1783080"/>
            <a:ext cx="3466490" cy="2112264"/>
          </a:xfrm>
          <a:prstGeom prst="roundRect">
            <a:avLst>
              <a:gd name="adj" fmla="val 5195"/>
            </a:avLst>
          </a:prstGeom>
          <a:solidFill>
            <a:srgbClr val="FFFFFF"/>
          </a:solidFill>
          <a:ln w="19050">
            <a:solidFill>
              <a:srgbClr val="2D9C6F"/>
            </a:solidFill>
            <a:prstDash val="dash"/>
          </a:ln>
        </p:spPr>
      </p:sp>
      <p:pic>
        <p:nvPicPr>
          <p:cNvPr id="5" name="Image 0" descr="/home/claude/carboncheck/icons/image_icon.png"/>
          <p:cNvPicPr>
            <a:picLocks noChangeAspect="1"/>
          </p:cNvPicPr>
          <p:nvPr/>
        </p:nvPicPr>
        <p:blipFill>
          <a:blip r:embed="rId4"/>
          <a:stretch>
            <a:fillRect/>
          </a:stretch>
        </p:blipFill>
        <p:spPr>
          <a:xfrm>
            <a:off x="2153869" y="2455164"/>
            <a:ext cx="438912" cy="438912"/>
          </a:xfrm>
          <a:prstGeom prst="rect">
            <a:avLst/>
          </a:prstGeom>
        </p:spPr>
      </p:pic>
      <p:sp>
        <p:nvSpPr>
          <p:cNvPr id="6" name="Text 3"/>
          <p:cNvSpPr/>
          <p:nvPr/>
        </p:nvSpPr>
        <p:spPr>
          <a:xfrm>
            <a:off x="731520" y="2912364"/>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Coding Screenshot</a:t>
            </a:r>
            <a:endParaRPr lang="en-US" sz="1050" dirty="0"/>
          </a:p>
        </p:txBody>
      </p:sp>
      <p:sp>
        <p:nvSpPr>
          <p:cNvPr id="7" name="Text 4"/>
          <p:cNvSpPr/>
          <p:nvPr/>
        </p:nvSpPr>
        <p:spPr>
          <a:xfrm>
            <a:off x="731520" y="3223260"/>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Activity Screenshot Here</a:t>
            </a:r>
            <a:endParaRPr lang="en-US" sz="850" dirty="0"/>
          </a:p>
        </p:txBody>
      </p:sp>
      <p:sp>
        <p:nvSpPr>
          <p:cNvPr id="8" name="Shape 5"/>
          <p:cNvSpPr/>
          <p:nvPr/>
        </p:nvSpPr>
        <p:spPr>
          <a:xfrm>
            <a:off x="4362602" y="1783080"/>
            <a:ext cx="3466490" cy="2112264"/>
          </a:xfrm>
          <a:prstGeom prst="roundRect">
            <a:avLst>
              <a:gd name="adj" fmla="val 5195"/>
            </a:avLst>
          </a:prstGeom>
          <a:solidFill>
            <a:srgbClr val="FFFFFF"/>
          </a:solidFill>
          <a:ln w="19050">
            <a:solidFill>
              <a:srgbClr val="2D9C6F"/>
            </a:solidFill>
            <a:prstDash val="dash"/>
          </a:ln>
        </p:spPr>
      </p:sp>
      <p:pic>
        <p:nvPicPr>
          <p:cNvPr id="9" name="Image 1" descr="/home/claude/carboncheck/icons/image_icon.png"/>
          <p:cNvPicPr>
            <a:picLocks noChangeAspect="1"/>
          </p:cNvPicPr>
          <p:nvPr/>
        </p:nvPicPr>
        <p:blipFill>
          <a:blip r:embed="rId4"/>
          <a:stretch>
            <a:fillRect/>
          </a:stretch>
        </p:blipFill>
        <p:spPr>
          <a:xfrm>
            <a:off x="5876392" y="2455164"/>
            <a:ext cx="438912" cy="438912"/>
          </a:xfrm>
          <a:prstGeom prst="rect">
            <a:avLst/>
          </a:prstGeom>
        </p:spPr>
      </p:pic>
      <p:sp>
        <p:nvSpPr>
          <p:cNvPr id="10" name="Text 6"/>
          <p:cNvSpPr/>
          <p:nvPr/>
        </p:nvSpPr>
        <p:spPr>
          <a:xfrm>
            <a:off x="4454042" y="2912364"/>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Terminal Screenshot</a:t>
            </a:r>
            <a:endParaRPr lang="en-US" sz="1050" dirty="0"/>
          </a:p>
        </p:txBody>
      </p:sp>
      <p:sp>
        <p:nvSpPr>
          <p:cNvPr id="11" name="Text 7"/>
          <p:cNvSpPr/>
          <p:nvPr/>
        </p:nvSpPr>
        <p:spPr>
          <a:xfrm>
            <a:off x="4454042" y="3223260"/>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Activity Screenshot Here</a:t>
            </a:r>
            <a:endParaRPr lang="en-US" sz="850" dirty="0"/>
          </a:p>
        </p:txBody>
      </p:sp>
      <p:sp>
        <p:nvSpPr>
          <p:cNvPr id="12" name="Shape 8"/>
          <p:cNvSpPr/>
          <p:nvPr/>
        </p:nvSpPr>
        <p:spPr>
          <a:xfrm>
            <a:off x="8085125" y="1783080"/>
            <a:ext cx="3466490" cy="2112264"/>
          </a:xfrm>
          <a:prstGeom prst="roundRect">
            <a:avLst>
              <a:gd name="adj" fmla="val 5195"/>
            </a:avLst>
          </a:prstGeom>
          <a:solidFill>
            <a:srgbClr val="FFFFFF"/>
          </a:solidFill>
          <a:ln w="19050">
            <a:solidFill>
              <a:srgbClr val="2D9C6F"/>
            </a:solidFill>
            <a:prstDash val="dash"/>
          </a:ln>
        </p:spPr>
      </p:sp>
      <p:pic>
        <p:nvPicPr>
          <p:cNvPr id="13" name="Image 2" descr="/home/claude/carboncheck/icons/image_icon.png"/>
          <p:cNvPicPr>
            <a:picLocks noChangeAspect="1"/>
          </p:cNvPicPr>
          <p:nvPr/>
        </p:nvPicPr>
        <p:blipFill>
          <a:blip r:embed="rId4"/>
          <a:stretch>
            <a:fillRect/>
          </a:stretch>
        </p:blipFill>
        <p:spPr>
          <a:xfrm>
            <a:off x="9598914" y="2455164"/>
            <a:ext cx="438912" cy="438912"/>
          </a:xfrm>
          <a:prstGeom prst="rect">
            <a:avLst/>
          </a:prstGeom>
        </p:spPr>
      </p:pic>
      <p:sp>
        <p:nvSpPr>
          <p:cNvPr id="14" name="Text 9"/>
          <p:cNvSpPr/>
          <p:nvPr/>
        </p:nvSpPr>
        <p:spPr>
          <a:xfrm>
            <a:off x="8176565" y="2912364"/>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API Testing</a:t>
            </a:r>
            <a:endParaRPr lang="en-US" sz="1050" dirty="0"/>
          </a:p>
        </p:txBody>
      </p:sp>
      <p:sp>
        <p:nvSpPr>
          <p:cNvPr id="15" name="Text 10"/>
          <p:cNvSpPr/>
          <p:nvPr/>
        </p:nvSpPr>
        <p:spPr>
          <a:xfrm>
            <a:off x="8176565" y="3223260"/>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Activity Screenshot Here</a:t>
            </a:r>
            <a:endParaRPr lang="en-US" sz="850" dirty="0"/>
          </a:p>
        </p:txBody>
      </p:sp>
      <p:sp>
        <p:nvSpPr>
          <p:cNvPr id="16" name="Shape 11"/>
          <p:cNvSpPr/>
          <p:nvPr/>
        </p:nvSpPr>
        <p:spPr>
          <a:xfrm>
            <a:off x="640080" y="4151376"/>
            <a:ext cx="3466490" cy="2112264"/>
          </a:xfrm>
          <a:prstGeom prst="roundRect">
            <a:avLst>
              <a:gd name="adj" fmla="val 5195"/>
            </a:avLst>
          </a:prstGeom>
          <a:solidFill>
            <a:srgbClr val="FFFFFF"/>
          </a:solidFill>
          <a:ln w="19050">
            <a:solidFill>
              <a:srgbClr val="2D9C6F"/>
            </a:solidFill>
            <a:prstDash val="dash"/>
          </a:ln>
        </p:spPr>
      </p:sp>
      <p:pic>
        <p:nvPicPr>
          <p:cNvPr id="17" name="Image 3" descr="/home/claude/carboncheck/icons/image_icon.png"/>
          <p:cNvPicPr>
            <a:picLocks noChangeAspect="1"/>
          </p:cNvPicPr>
          <p:nvPr/>
        </p:nvPicPr>
        <p:blipFill>
          <a:blip r:embed="rId4"/>
          <a:stretch>
            <a:fillRect/>
          </a:stretch>
        </p:blipFill>
        <p:spPr>
          <a:xfrm>
            <a:off x="2153869" y="4823460"/>
            <a:ext cx="438912" cy="438912"/>
          </a:xfrm>
          <a:prstGeom prst="rect">
            <a:avLst/>
          </a:prstGeom>
        </p:spPr>
      </p:pic>
      <p:sp>
        <p:nvSpPr>
          <p:cNvPr id="18" name="Text 12"/>
          <p:cNvSpPr/>
          <p:nvPr/>
        </p:nvSpPr>
        <p:spPr>
          <a:xfrm>
            <a:off x="731520" y="5280660"/>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Database</a:t>
            </a:r>
            <a:endParaRPr lang="en-US" sz="1050" dirty="0"/>
          </a:p>
        </p:txBody>
      </p:sp>
      <p:sp>
        <p:nvSpPr>
          <p:cNvPr id="19" name="Text 13"/>
          <p:cNvSpPr/>
          <p:nvPr/>
        </p:nvSpPr>
        <p:spPr>
          <a:xfrm>
            <a:off x="731520" y="5591556"/>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Activity Screenshot Here</a:t>
            </a:r>
            <a:endParaRPr lang="en-US" sz="850" dirty="0"/>
          </a:p>
        </p:txBody>
      </p:sp>
      <p:sp>
        <p:nvSpPr>
          <p:cNvPr id="20" name="Shape 14"/>
          <p:cNvSpPr/>
          <p:nvPr/>
        </p:nvSpPr>
        <p:spPr>
          <a:xfrm>
            <a:off x="4362602" y="4151376"/>
            <a:ext cx="3466490" cy="2112264"/>
          </a:xfrm>
          <a:prstGeom prst="roundRect">
            <a:avLst>
              <a:gd name="adj" fmla="val 5195"/>
            </a:avLst>
          </a:prstGeom>
          <a:solidFill>
            <a:srgbClr val="FFFFFF"/>
          </a:solidFill>
          <a:ln w="19050">
            <a:solidFill>
              <a:srgbClr val="2D9C6F"/>
            </a:solidFill>
            <a:prstDash val="dash"/>
          </a:ln>
        </p:spPr>
      </p:sp>
      <p:pic>
        <p:nvPicPr>
          <p:cNvPr id="21" name="Image 4" descr="/home/claude/carboncheck/icons/image_icon.png"/>
          <p:cNvPicPr>
            <a:picLocks noChangeAspect="1"/>
          </p:cNvPicPr>
          <p:nvPr/>
        </p:nvPicPr>
        <p:blipFill>
          <a:blip r:embed="rId4"/>
          <a:stretch>
            <a:fillRect/>
          </a:stretch>
        </p:blipFill>
        <p:spPr>
          <a:xfrm>
            <a:off x="5876392" y="4823460"/>
            <a:ext cx="438912" cy="438912"/>
          </a:xfrm>
          <a:prstGeom prst="rect">
            <a:avLst/>
          </a:prstGeom>
        </p:spPr>
      </p:pic>
      <p:sp>
        <p:nvSpPr>
          <p:cNvPr id="22" name="Text 15"/>
          <p:cNvSpPr/>
          <p:nvPr/>
        </p:nvSpPr>
        <p:spPr>
          <a:xfrm>
            <a:off x="4454042" y="5280660"/>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Model Training</a:t>
            </a:r>
            <a:endParaRPr lang="en-US" sz="1050" dirty="0"/>
          </a:p>
        </p:txBody>
      </p:sp>
      <p:sp>
        <p:nvSpPr>
          <p:cNvPr id="23" name="Text 16"/>
          <p:cNvSpPr/>
          <p:nvPr/>
        </p:nvSpPr>
        <p:spPr>
          <a:xfrm>
            <a:off x="4454042" y="5591556"/>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Activity Screenshot Here</a:t>
            </a:r>
            <a:endParaRPr lang="en-US" sz="850" dirty="0"/>
          </a:p>
        </p:txBody>
      </p:sp>
      <p:sp>
        <p:nvSpPr>
          <p:cNvPr id="24" name="Shape 17"/>
          <p:cNvSpPr/>
          <p:nvPr/>
        </p:nvSpPr>
        <p:spPr>
          <a:xfrm>
            <a:off x="8085125" y="4151376"/>
            <a:ext cx="3466490" cy="2112264"/>
          </a:xfrm>
          <a:prstGeom prst="roundRect">
            <a:avLst>
              <a:gd name="adj" fmla="val 5195"/>
            </a:avLst>
          </a:prstGeom>
          <a:solidFill>
            <a:srgbClr val="FFFFFF"/>
          </a:solidFill>
          <a:ln w="19050">
            <a:solidFill>
              <a:srgbClr val="2D9C6F"/>
            </a:solidFill>
            <a:prstDash val="dash"/>
          </a:ln>
        </p:spPr>
      </p:sp>
      <p:pic>
        <p:nvPicPr>
          <p:cNvPr id="25" name="Image 5" descr="/home/claude/carboncheck/icons/image_icon.png"/>
          <p:cNvPicPr>
            <a:picLocks noChangeAspect="1"/>
          </p:cNvPicPr>
          <p:nvPr/>
        </p:nvPicPr>
        <p:blipFill>
          <a:blip r:embed="rId4"/>
          <a:stretch>
            <a:fillRect/>
          </a:stretch>
        </p:blipFill>
        <p:spPr>
          <a:xfrm>
            <a:off x="9598914" y="4823460"/>
            <a:ext cx="438912" cy="438912"/>
          </a:xfrm>
          <a:prstGeom prst="rect">
            <a:avLst/>
          </a:prstGeom>
        </p:spPr>
      </p:pic>
      <p:sp>
        <p:nvSpPr>
          <p:cNvPr id="26" name="Text 18"/>
          <p:cNvSpPr/>
          <p:nvPr/>
        </p:nvSpPr>
        <p:spPr>
          <a:xfrm>
            <a:off x="8176565" y="5280660"/>
            <a:ext cx="3283610" cy="365760"/>
          </a:xfrm>
          <a:prstGeom prst="rect">
            <a:avLst/>
          </a:prstGeom>
          <a:noFill/>
          <a:ln/>
        </p:spPr>
        <p:txBody>
          <a:bodyPr wrap="square" rtlCol="0" anchor="ctr"/>
          <a:lstStyle/>
          <a:p>
            <a:pPr marL="0" indent="0" algn="ctr">
              <a:buNone/>
            </a:pPr>
            <a:r>
              <a:rPr lang="en-US" sz="1050" b="1" dirty="0">
                <a:solidFill>
                  <a:srgbClr val="2D9C6F"/>
                </a:solidFill>
                <a:latin typeface="Arial" pitchFamily="34" charset="0"/>
                <a:ea typeface="Arial" pitchFamily="34" charset="-122"/>
                <a:cs typeface="Arial" pitchFamily="34" charset="-120"/>
              </a:rPr>
              <a:t>Project Development</a:t>
            </a:r>
            <a:endParaRPr lang="en-US" sz="1050" dirty="0"/>
          </a:p>
        </p:txBody>
      </p:sp>
      <p:sp>
        <p:nvSpPr>
          <p:cNvPr id="27" name="Text 19"/>
          <p:cNvSpPr/>
          <p:nvPr/>
        </p:nvSpPr>
        <p:spPr>
          <a:xfrm>
            <a:off x="8176565" y="5591556"/>
            <a:ext cx="3283610" cy="274320"/>
          </a:xfrm>
          <a:prstGeom prst="rect">
            <a:avLst/>
          </a:prstGeom>
          <a:noFill/>
          <a:ln/>
        </p:spPr>
        <p:txBody>
          <a:bodyPr wrap="square" rtlCol="0" anchor="ctr"/>
          <a:lstStyle/>
          <a:p>
            <a:pPr marL="0" indent="0" algn="ctr">
              <a:buNone/>
            </a:pPr>
            <a:r>
              <a:rPr lang="en-US" sz="850" dirty="0">
                <a:solidFill>
                  <a:srgbClr val="8FA69A"/>
                </a:solidFill>
                <a:latin typeface="Arial" pitchFamily="34" charset="0"/>
                <a:ea typeface="Arial" pitchFamily="34" charset="-122"/>
                <a:cs typeface="Arial" pitchFamily="34" charset="-120"/>
              </a:rPr>
              <a:t>Insert Activity Screenshot Here</a:t>
            </a:r>
            <a:endParaRPr lang="en-US" sz="850" dirty="0"/>
          </a:p>
        </p:txBody>
      </p:sp>
      <p:sp>
        <p:nvSpPr>
          <p:cNvPr id="28" name="Text 20"/>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29" name="Text 21"/>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16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OUTCOMES</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Results</a:t>
            </a:r>
            <a:endParaRPr lang="en-US" sz="3200" dirty="0"/>
          </a:p>
        </p:txBody>
      </p:sp>
      <p:sp>
        <p:nvSpPr>
          <p:cNvPr id="4" name="Shape 2"/>
          <p:cNvSpPr/>
          <p:nvPr/>
        </p:nvSpPr>
        <p:spPr>
          <a:xfrm>
            <a:off x="640080" y="1783080"/>
            <a:ext cx="361188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877824" y="2020824"/>
            <a:ext cx="530352" cy="530352"/>
          </a:xfrm>
          <a:prstGeom prst="ellipse">
            <a:avLst/>
          </a:prstGeom>
          <a:solidFill>
            <a:srgbClr val="E8F6EE"/>
          </a:solidFill>
          <a:ln/>
        </p:spPr>
      </p:sp>
      <p:pic>
        <p:nvPicPr>
          <p:cNvPr id="6" name="Image 0" descr="/home/claude/carboncheck/icons/check.png"/>
          <p:cNvPicPr>
            <a:picLocks noChangeAspect="1"/>
          </p:cNvPicPr>
          <p:nvPr/>
        </p:nvPicPr>
        <p:blipFill>
          <a:blip r:embed="rId4"/>
          <a:stretch>
            <a:fillRect/>
          </a:stretch>
        </p:blipFill>
        <p:spPr>
          <a:xfrm>
            <a:off x="946770" y="2089770"/>
            <a:ext cx="392460" cy="392460"/>
          </a:xfrm>
          <a:prstGeom prst="rect">
            <a:avLst/>
          </a:prstGeom>
        </p:spPr>
      </p:pic>
      <p:sp>
        <p:nvSpPr>
          <p:cNvPr id="7" name="Text 4"/>
          <p:cNvSpPr/>
          <p:nvPr/>
        </p:nvSpPr>
        <p:spPr>
          <a:xfrm>
            <a:off x="877824" y="2660904"/>
            <a:ext cx="3136392" cy="502920"/>
          </a:xfrm>
          <a:prstGeom prst="rect">
            <a:avLst/>
          </a:prstGeom>
          <a:noFill/>
          <a:ln/>
        </p:spPr>
        <p:txBody>
          <a:bodyPr wrap="square" rtlCol="0" anchor="ctr"/>
          <a:lstStyle/>
          <a:p>
            <a:pPr marL="0" indent="0">
              <a:buNone/>
            </a:pPr>
            <a:r>
              <a:rPr lang="en-US" sz="1300" b="1" dirty="0">
                <a:solidFill>
                  <a:srgbClr val="1B4332"/>
                </a:solidFill>
                <a:latin typeface="Poppins" pitchFamily="34" charset="0"/>
                <a:ea typeface="Poppins" pitchFamily="34" charset="-122"/>
                <a:cs typeface="Poppins" pitchFamily="34" charset="-120"/>
              </a:rPr>
              <a:t>AI Predicts Carbon Footprint Successfully</a:t>
            </a:r>
            <a:endParaRPr lang="en-US" sz="1300" dirty="0"/>
          </a:p>
        </p:txBody>
      </p:sp>
      <p:sp>
        <p:nvSpPr>
          <p:cNvPr id="8" name="Text 5"/>
          <p:cNvSpPr/>
          <p:nvPr/>
        </p:nvSpPr>
        <p:spPr>
          <a:xfrm>
            <a:off x="877824" y="3154680"/>
            <a:ext cx="3136392" cy="548640"/>
          </a:xfrm>
          <a:prstGeom prst="rect">
            <a:avLst/>
          </a:prstGeom>
          <a:noFill/>
          <a:ln/>
        </p:spPr>
        <p:txBody>
          <a:bodyPr wrap="square" rtlCol="0" anchor="ctr"/>
          <a:lstStyle/>
          <a:p>
            <a:pPr marL="0" indent="0">
              <a:buNone/>
            </a:pPr>
            <a:r>
              <a:rPr lang="en-US" sz="1000" dirty="0">
                <a:solidFill>
                  <a:srgbClr val="5C6E64"/>
                </a:solidFill>
                <a:latin typeface="Arial" pitchFamily="34" charset="0"/>
                <a:ea typeface="Arial" pitchFamily="34" charset="-122"/>
                <a:cs typeface="Arial" pitchFamily="34" charset="-120"/>
              </a:rPr>
              <a:t>The trained model reliably classifies emission levels from user lifestyle data.</a:t>
            </a:r>
            <a:endParaRPr lang="en-US" sz="1000" dirty="0"/>
          </a:p>
        </p:txBody>
      </p:sp>
      <p:sp>
        <p:nvSpPr>
          <p:cNvPr id="9" name="Shape 6"/>
          <p:cNvSpPr/>
          <p:nvPr/>
        </p:nvSpPr>
        <p:spPr>
          <a:xfrm>
            <a:off x="4507992" y="1783080"/>
            <a:ext cx="361188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0" name="Shape 7"/>
          <p:cNvSpPr/>
          <p:nvPr/>
        </p:nvSpPr>
        <p:spPr>
          <a:xfrm>
            <a:off x="4745736" y="2020824"/>
            <a:ext cx="530352" cy="530352"/>
          </a:xfrm>
          <a:prstGeom prst="ellipse">
            <a:avLst/>
          </a:prstGeom>
          <a:solidFill>
            <a:srgbClr val="E8F6EE"/>
          </a:solidFill>
          <a:ln/>
        </p:spPr>
      </p:sp>
      <p:pic>
        <p:nvPicPr>
          <p:cNvPr id="11" name="Image 1" descr="/home/claude/carboncheck/icons/gauge.png"/>
          <p:cNvPicPr>
            <a:picLocks noChangeAspect="1"/>
          </p:cNvPicPr>
          <p:nvPr/>
        </p:nvPicPr>
        <p:blipFill>
          <a:blip r:embed="rId5"/>
          <a:stretch>
            <a:fillRect/>
          </a:stretch>
        </p:blipFill>
        <p:spPr>
          <a:xfrm>
            <a:off x="4814682" y="2089770"/>
            <a:ext cx="392460" cy="392460"/>
          </a:xfrm>
          <a:prstGeom prst="rect">
            <a:avLst/>
          </a:prstGeom>
        </p:spPr>
      </p:pic>
      <p:sp>
        <p:nvSpPr>
          <p:cNvPr id="12" name="Text 8"/>
          <p:cNvSpPr/>
          <p:nvPr/>
        </p:nvSpPr>
        <p:spPr>
          <a:xfrm>
            <a:off x="4745736" y="2660904"/>
            <a:ext cx="3136392" cy="502920"/>
          </a:xfrm>
          <a:prstGeom prst="rect">
            <a:avLst/>
          </a:prstGeom>
          <a:noFill/>
          <a:ln/>
        </p:spPr>
        <p:txBody>
          <a:bodyPr wrap="square" rtlCol="0" anchor="ctr"/>
          <a:lstStyle/>
          <a:p>
            <a:pPr marL="0" indent="0">
              <a:buNone/>
            </a:pPr>
            <a:r>
              <a:rPr lang="en-US" sz="1300" b="1" dirty="0">
                <a:solidFill>
                  <a:srgbClr val="1B4332"/>
                </a:solidFill>
                <a:latin typeface="Poppins" pitchFamily="34" charset="0"/>
                <a:ea typeface="Poppins" pitchFamily="34" charset="-122"/>
                <a:cs typeface="Poppins" pitchFamily="34" charset="-120"/>
              </a:rPr>
              <a:t>Accurate Carbon Estimation</a:t>
            </a:r>
            <a:endParaRPr lang="en-US" sz="1300" dirty="0"/>
          </a:p>
        </p:txBody>
      </p:sp>
      <p:sp>
        <p:nvSpPr>
          <p:cNvPr id="13" name="Text 9"/>
          <p:cNvSpPr/>
          <p:nvPr/>
        </p:nvSpPr>
        <p:spPr>
          <a:xfrm>
            <a:off x="4745736" y="3154680"/>
            <a:ext cx="3136392" cy="548640"/>
          </a:xfrm>
          <a:prstGeom prst="rect">
            <a:avLst/>
          </a:prstGeom>
          <a:noFill/>
          <a:ln/>
        </p:spPr>
        <p:txBody>
          <a:bodyPr wrap="square" rtlCol="0" anchor="ctr"/>
          <a:lstStyle/>
          <a:p>
            <a:pPr marL="0" indent="0">
              <a:buNone/>
            </a:pPr>
            <a:r>
              <a:rPr lang="en-US" sz="1000" dirty="0">
                <a:solidFill>
                  <a:srgbClr val="5C6E64"/>
                </a:solidFill>
                <a:latin typeface="Arial" pitchFamily="34" charset="0"/>
                <a:ea typeface="Arial" pitchFamily="34" charset="-122"/>
                <a:cs typeface="Arial" pitchFamily="34" charset="-120"/>
              </a:rPr>
              <a:t>Predictions closely align with expected emission ranges across test cases.</a:t>
            </a:r>
            <a:endParaRPr lang="en-US" sz="1000" dirty="0"/>
          </a:p>
        </p:txBody>
      </p:sp>
      <p:sp>
        <p:nvSpPr>
          <p:cNvPr id="14" name="Shape 10"/>
          <p:cNvSpPr/>
          <p:nvPr/>
        </p:nvSpPr>
        <p:spPr>
          <a:xfrm>
            <a:off x="8375904" y="1783080"/>
            <a:ext cx="361188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5" name="Shape 11"/>
          <p:cNvSpPr/>
          <p:nvPr/>
        </p:nvSpPr>
        <p:spPr>
          <a:xfrm>
            <a:off x="8613648" y="2020824"/>
            <a:ext cx="530352" cy="530352"/>
          </a:xfrm>
          <a:prstGeom prst="ellipse">
            <a:avLst/>
          </a:prstGeom>
          <a:solidFill>
            <a:srgbClr val="E8F6EE"/>
          </a:solidFill>
          <a:ln/>
        </p:spPr>
      </p:sp>
      <p:pic>
        <p:nvPicPr>
          <p:cNvPr id="16" name="Image 2" descr="/home/claude/carboncheck/icons/chart.png"/>
          <p:cNvPicPr>
            <a:picLocks noChangeAspect="1"/>
          </p:cNvPicPr>
          <p:nvPr/>
        </p:nvPicPr>
        <p:blipFill>
          <a:blip r:embed="rId6"/>
          <a:stretch>
            <a:fillRect/>
          </a:stretch>
        </p:blipFill>
        <p:spPr>
          <a:xfrm>
            <a:off x="8682594" y="2089770"/>
            <a:ext cx="392460" cy="392460"/>
          </a:xfrm>
          <a:prstGeom prst="rect">
            <a:avLst/>
          </a:prstGeom>
        </p:spPr>
      </p:pic>
      <p:sp>
        <p:nvSpPr>
          <p:cNvPr id="17" name="Text 12"/>
          <p:cNvSpPr/>
          <p:nvPr/>
        </p:nvSpPr>
        <p:spPr>
          <a:xfrm>
            <a:off x="8613648" y="2660904"/>
            <a:ext cx="3136392" cy="502920"/>
          </a:xfrm>
          <a:prstGeom prst="rect">
            <a:avLst/>
          </a:prstGeom>
          <a:noFill/>
          <a:ln/>
        </p:spPr>
        <p:txBody>
          <a:bodyPr wrap="square" rtlCol="0" anchor="ctr"/>
          <a:lstStyle/>
          <a:p>
            <a:pPr marL="0" indent="0">
              <a:buNone/>
            </a:pPr>
            <a:r>
              <a:rPr lang="en-US" sz="1300" b="1" dirty="0">
                <a:solidFill>
                  <a:srgbClr val="1B4332"/>
                </a:solidFill>
                <a:latin typeface="Poppins" pitchFamily="34" charset="0"/>
                <a:ea typeface="Poppins" pitchFamily="34" charset="-122"/>
                <a:cs typeface="Poppins" pitchFamily="34" charset="-120"/>
              </a:rPr>
              <a:t>Interactive Dashboard</a:t>
            </a:r>
            <a:endParaRPr lang="en-US" sz="1300" dirty="0"/>
          </a:p>
        </p:txBody>
      </p:sp>
      <p:sp>
        <p:nvSpPr>
          <p:cNvPr id="18" name="Text 13"/>
          <p:cNvSpPr/>
          <p:nvPr/>
        </p:nvSpPr>
        <p:spPr>
          <a:xfrm>
            <a:off x="8613648" y="3154680"/>
            <a:ext cx="3136392" cy="548640"/>
          </a:xfrm>
          <a:prstGeom prst="rect">
            <a:avLst/>
          </a:prstGeom>
          <a:noFill/>
          <a:ln/>
        </p:spPr>
        <p:txBody>
          <a:bodyPr wrap="square" rtlCol="0" anchor="ctr"/>
          <a:lstStyle/>
          <a:p>
            <a:pPr marL="0" indent="0">
              <a:buNone/>
            </a:pPr>
            <a:r>
              <a:rPr lang="en-US" sz="1000" dirty="0">
                <a:solidFill>
                  <a:srgbClr val="5C6E64"/>
                </a:solidFill>
                <a:latin typeface="Arial" pitchFamily="34" charset="0"/>
                <a:ea typeface="Arial" pitchFamily="34" charset="-122"/>
                <a:cs typeface="Arial" pitchFamily="34" charset="-120"/>
              </a:rPr>
              <a:t>Users can visually explore their emission breakdown in real time.</a:t>
            </a:r>
            <a:endParaRPr lang="en-US" sz="1000" dirty="0"/>
          </a:p>
        </p:txBody>
      </p:sp>
      <p:sp>
        <p:nvSpPr>
          <p:cNvPr id="19" name="Shape 14"/>
          <p:cNvSpPr/>
          <p:nvPr/>
        </p:nvSpPr>
        <p:spPr>
          <a:xfrm>
            <a:off x="640080" y="4005072"/>
            <a:ext cx="361188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0" name="Shape 15"/>
          <p:cNvSpPr/>
          <p:nvPr/>
        </p:nvSpPr>
        <p:spPr>
          <a:xfrm>
            <a:off x="877824" y="4242816"/>
            <a:ext cx="530352" cy="530352"/>
          </a:xfrm>
          <a:prstGeom prst="ellipse">
            <a:avLst/>
          </a:prstGeom>
          <a:solidFill>
            <a:srgbClr val="E8F6EE"/>
          </a:solidFill>
          <a:ln/>
        </p:spPr>
      </p:sp>
      <p:pic>
        <p:nvPicPr>
          <p:cNvPr id="21" name="Image 3" descr="/home/claude/carboncheck/icons/lightbulb.png"/>
          <p:cNvPicPr>
            <a:picLocks noChangeAspect="1"/>
          </p:cNvPicPr>
          <p:nvPr/>
        </p:nvPicPr>
        <p:blipFill>
          <a:blip r:embed="rId7"/>
          <a:stretch>
            <a:fillRect/>
          </a:stretch>
        </p:blipFill>
        <p:spPr>
          <a:xfrm>
            <a:off x="946770" y="4311762"/>
            <a:ext cx="392460" cy="392460"/>
          </a:xfrm>
          <a:prstGeom prst="rect">
            <a:avLst/>
          </a:prstGeom>
        </p:spPr>
      </p:pic>
      <p:sp>
        <p:nvSpPr>
          <p:cNvPr id="22" name="Text 16"/>
          <p:cNvSpPr/>
          <p:nvPr/>
        </p:nvSpPr>
        <p:spPr>
          <a:xfrm>
            <a:off x="877824" y="4882896"/>
            <a:ext cx="3136392" cy="502920"/>
          </a:xfrm>
          <a:prstGeom prst="rect">
            <a:avLst/>
          </a:prstGeom>
          <a:noFill/>
          <a:ln/>
        </p:spPr>
        <p:txBody>
          <a:bodyPr wrap="square" rtlCol="0" anchor="ctr"/>
          <a:lstStyle/>
          <a:p>
            <a:pPr marL="0" indent="0">
              <a:buNone/>
            </a:pPr>
            <a:r>
              <a:rPr lang="en-US" sz="1300" b="1" dirty="0">
                <a:solidFill>
                  <a:srgbClr val="1B4332"/>
                </a:solidFill>
                <a:latin typeface="Poppins" pitchFamily="34" charset="0"/>
                <a:ea typeface="Poppins" pitchFamily="34" charset="-122"/>
                <a:cs typeface="Poppins" pitchFamily="34" charset="-120"/>
              </a:rPr>
              <a:t>Personalized Recommendations</a:t>
            </a:r>
            <a:endParaRPr lang="en-US" sz="1300" dirty="0"/>
          </a:p>
        </p:txBody>
      </p:sp>
      <p:sp>
        <p:nvSpPr>
          <p:cNvPr id="23" name="Text 17"/>
          <p:cNvSpPr/>
          <p:nvPr/>
        </p:nvSpPr>
        <p:spPr>
          <a:xfrm>
            <a:off x="877824" y="5376672"/>
            <a:ext cx="3136392" cy="548640"/>
          </a:xfrm>
          <a:prstGeom prst="rect">
            <a:avLst/>
          </a:prstGeom>
          <a:noFill/>
          <a:ln/>
        </p:spPr>
        <p:txBody>
          <a:bodyPr wrap="square" rtlCol="0" anchor="ctr"/>
          <a:lstStyle/>
          <a:p>
            <a:pPr marL="0" indent="0">
              <a:buNone/>
            </a:pPr>
            <a:r>
              <a:rPr lang="en-US" sz="1000" dirty="0">
                <a:solidFill>
                  <a:srgbClr val="5C6E64"/>
                </a:solidFill>
                <a:latin typeface="Arial" pitchFamily="34" charset="0"/>
                <a:ea typeface="Arial" pitchFamily="34" charset="-122"/>
                <a:cs typeface="Arial" pitchFamily="34" charset="-120"/>
              </a:rPr>
              <a:t>Suggestions are tailored to each user’s specific lifestyle inputs.</a:t>
            </a:r>
            <a:endParaRPr lang="en-US" sz="1000" dirty="0"/>
          </a:p>
        </p:txBody>
      </p:sp>
      <p:sp>
        <p:nvSpPr>
          <p:cNvPr id="24" name="Shape 18"/>
          <p:cNvSpPr/>
          <p:nvPr/>
        </p:nvSpPr>
        <p:spPr>
          <a:xfrm>
            <a:off x="4507992" y="4005072"/>
            <a:ext cx="361188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9"/>
          <p:cNvSpPr/>
          <p:nvPr/>
        </p:nvSpPr>
        <p:spPr>
          <a:xfrm>
            <a:off x="4745736" y="4242816"/>
            <a:ext cx="530352" cy="530352"/>
          </a:xfrm>
          <a:prstGeom prst="ellipse">
            <a:avLst/>
          </a:prstGeom>
          <a:solidFill>
            <a:srgbClr val="E8F6EE"/>
          </a:solidFill>
          <a:ln/>
        </p:spPr>
      </p:sp>
      <p:pic>
        <p:nvPicPr>
          <p:cNvPr id="26" name="Image 4" descr="/home/claude/carboncheck/icons/rocket.png"/>
          <p:cNvPicPr>
            <a:picLocks noChangeAspect="1"/>
          </p:cNvPicPr>
          <p:nvPr/>
        </p:nvPicPr>
        <p:blipFill>
          <a:blip r:embed="rId8"/>
          <a:stretch>
            <a:fillRect/>
          </a:stretch>
        </p:blipFill>
        <p:spPr>
          <a:xfrm>
            <a:off x="4814682" y="4311762"/>
            <a:ext cx="392460" cy="392460"/>
          </a:xfrm>
          <a:prstGeom prst="rect">
            <a:avLst/>
          </a:prstGeom>
        </p:spPr>
      </p:pic>
      <p:sp>
        <p:nvSpPr>
          <p:cNvPr id="27" name="Text 20"/>
          <p:cNvSpPr/>
          <p:nvPr/>
        </p:nvSpPr>
        <p:spPr>
          <a:xfrm>
            <a:off x="4745736" y="4882896"/>
            <a:ext cx="3136392" cy="502920"/>
          </a:xfrm>
          <a:prstGeom prst="rect">
            <a:avLst/>
          </a:prstGeom>
          <a:noFill/>
          <a:ln/>
        </p:spPr>
        <p:txBody>
          <a:bodyPr wrap="square" rtlCol="0" anchor="ctr"/>
          <a:lstStyle/>
          <a:p>
            <a:pPr marL="0" indent="0">
              <a:buNone/>
            </a:pPr>
            <a:r>
              <a:rPr lang="en-US" sz="1300" b="1" dirty="0">
                <a:solidFill>
                  <a:srgbClr val="1B4332"/>
                </a:solidFill>
                <a:latin typeface="Poppins" pitchFamily="34" charset="0"/>
                <a:ea typeface="Poppins" pitchFamily="34" charset="-122"/>
                <a:cs typeface="Poppins" pitchFamily="34" charset="-120"/>
              </a:rPr>
              <a:t>Fast Processing</a:t>
            </a:r>
            <a:endParaRPr lang="en-US" sz="1300" dirty="0"/>
          </a:p>
        </p:txBody>
      </p:sp>
      <p:sp>
        <p:nvSpPr>
          <p:cNvPr id="28" name="Text 21"/>
          <p:cNvSpPr/>
          <p:nvPr/>
        </p:nvSpPr>
        <p:spPr>
          <a:xfrm>
            <a:off x="4745736" y="5376672"/>
            <a:ext cx="3136392" cy="548640"/>
          </a:xfrm>
          <a:prstGeom prst="rect">
            <a:avLst/>
          </a:prstGeom>
          <a:noFill/>
          <a:ln/>
        </p:spPr>
        <p:txBody>
          <a:bodyPr wrap="square" rtlCol="0" anchor="ctr"/>
          <a:lstStyle/>
          <a:p>
            <a:pPr marL="0" indent="0">
              <a:buNone/>
            </a:pPr>
            <a:r>
              <a:rPr lang="en-US" sz="1000" dirty="0">
                <a:solidFill>
                  <a:srgbClr val="5C6E64"/>
                </a:solidFill>
                <a:latin typeface="Arial" pitchFamily="34" charset="0"/>
                <a:ea typeface="Arial" pitchFamily="34" charset="-122"/>
                <a:cs typeface="Arial" pitchFamily="34" charset="-120"/>
              </a:rPr>
              <a:t>FastAPI backend returns predictions with minimal latency.</a:t>
            </a:r>
            <a:endParaRPr lang="en-US" sz="1000" dirty="0"/>
          </a:p>
        </p:txBody>
      </p:sp>
      <p:sp>
        <p:nvSpPr>
          <p:cNvPr id="29" name="Shape 22"/>
          <p:cNvSpPr/>
          <p:nvPr/>
        </p:nvSpPr>
        <p:spPr>
          <a:xfrm>
            <a:off x="8375904" y="4005072"/>
            <a:ext cx="3611880" cy="1965960"/>
          </a:xfrm>
          <a:prstGeom prst="roundRect">
            <a:avLst>
              <a:gd name="adj" fmla="val 6512"/>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30" name="Shape 23"/>
          <p:cNvSpPr/>
          <p:nvPr/>
        </p:nvSpPr>
        <p:spPr>
          <a:xfrm>
            <a:off x="8613648" y="4242816"/>
            <a:ext cx="530352" cy="530352"/>
          </a:xfrm>
          <a:prstGeom prst="ellipse">
            <a:avLst/>
          </a:prstGeom>
          <a:solidFill>
            <a:srgbClr val="E8F6EE"/>
          </a:solidFill>
          <a:ln/>
        </p:spPr>
      </p:sp>
      <p:pic>
        <p:nvPicPr>
          <p:cNvPr id="31" name="Image 5" descr="/home/claude/carboncheck/icons/mobile.png"/>
          <p:cNvPicPr>
            <a:picLocks noChangeAspect="1"/>
          </p:cNvPicPr>
          <p:nvPr/>
        </p:nvPicPr>
        <p:blipFill>
          <a:blip r:embed="rId9"/>
          <a:stretch>
            <a:fillRect/>
          </a:stretch>
        </p:blipFill>
        <p:spPr>
          <a:xfrm>
            <a:off x="8682594" y="4311762"/>
            <a:ext cx="392460" cy="392460"/>
          </a:xfrm>
          <a:prstGeom prst="rect">
            <a:avLst/>
          </a:prstGeom>
        </p:spPr>
      </p:pic>
      <p:sp>
        <p:nvSpPr>
          <p:cNvPr id="32" name="Text 24"/>
          <p:cNvSpPr/>
          <p:nvPr/>
        </p:nvSpPr>
        <p:spPr>
          <a:xfrm>
            <a:off x="8613648" y="4882896"/>
            <a:ext cx="3136392" cy="502920"/>
          </a:xfrm>
          <a:prstGeom prst="rect">
            <a:avLst/>
          </a:prstGeom>
          <a:noFill/>
          <a:ln/>
        </p:spPr>
        <p:txBody>
          <a:bodyPr wrap="square" rtlCol="0" anchor="ctr"/>
          <a:lstStyle/>
          <a:p>
            <a:pPr marL="0" indent="0">
              <a:buNone/>
            </a:pPr>
            <a:r>
              <a:rPr lang="en-US" sz="1300" b="1" dirty="0">
                <a:solidFill>
                  <a:srgbClr val="1B4332"/>
                </a:solidFill>
                <a:latin typeface="Poppins" pitchFamily="34" charset="0"/>
                <a:ea typeface="Poppins" pitchFamily="34" charset="-122"/>
                <a:cs typeface="Poppins" pitchFamily="34" charset="-120"/>
              </a:rPr>
              <a:t>Responsive User Interface</a:t>
            </a:r>
            <a:endParaRPr lang="en-US" sz="1300" dirty="0"/>
          </a:p>
        </p:txBody>
      </p:sp>
      <p:sp>
        <p:nvSpPr>
          <p:cNvPr id="33" name="Text 25"/>
          <p:cNvSpPr/>
          <p:nvPr/>
        </p:nvSpPr>
        <p:spPr>
          <a:xfrm>
            <a:off x="8613648" y="5376672"/>
            <a:ext cx="3136392" cy="548640"/>
          </a:xfrm>
          <a:prstGeom prst="rect">
            <a:avLst/>
          </a:prstGeom>
          <a:noFill/>
          <a:ln/>
        </p:spPr>
        <p:txBody>
          <a:bodyPr wrap="square" rtlCol="0" anchor="ctr"/>
          <a:lstStyle/>
          <a:p>
            <a:pPr marL="0" indent="0">
              <a:buNone/>
            </a:pPr>
            <a:r>
              <a:rPr lang="en-US" sz="1000" dirty="0">
                <a:solidFill>
                  <a:srgbClr val="5C6E64"/>
                </a:solidFill>
                <a:latin typeface="Arial" pitchFamily="34" charset="0"/>
                <a:ea typeface="Arial" pitchFamily="34" charset="-122"/>
                <a:cs typeface="Arial" pitchFamily="34" charset="-120"/>
              </a:rPr>
              <a:t>The platform performs smoothly across desktop and mobile devices.</a:t>
            </a:r>
            <a:endParaRPr lang="en-US" sz="1000" dirty="0"/>
          </a:p>
        </p:txBody>
      </p:sp>
      <p:sp>
        <p:nvSpPr>
          <p:cNvPr id="34" name="Text 26"/>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5" name="Text 2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17 / 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WHY IT WORKS</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Advantages</a:t>
            </a:r>
            <a:endParaRPr lang="en-US" sz="3200" dirty="0"/>
          </a:p>
        </p:txBody>
      </p:sp>
      <p:sp>
        <p:nvSpPr>
          <p:cNvPr id="4" name="Shape 2"/>
          <p:cNvSpPr/>
          <p:nvPr/>
        </p:nvSpPr>
        <p:spPr>
          <a:xfrm>
            <a:off x="640080" y="1874520"/>
            <a:ext cx="3611880" cy="1828800"/>
          </a:xfrm>
          <a:prstGeom prst="roundRect">
            <a:avLst>
              <a:gd name="adj" fmla="val 7000"/>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2103120" y="2167128"/>
            <a:ext cx="685800" cy="685800"/>
          </a:xfrm>
          <a:prstGeom prst="ellipse">
            <a:avLst/>
          </a:prstGeom>
          <a:solidFill>
            <a:srgbClr val="E8F6EE"/>
          </a:solidFill>
          <a:ln/>
        </p:spPr>
      </p:sp>
      <p:pic>
        <p:nvPicPr>
          <p:cNvPr id="6" name="Image 0" descr="/home/claude/carboncheck/icons/brain.png"/>
          <p:cNvPicPr>
            <a:picLocks noChangeAspect="1"/>
          </p:cNvPicPr>
          <p:nvPr/>
        </p:nvPicPr>
        <p:blipFill>
          <a:blip r:embed="rId4"/>
          <a:stretch>
            <a:fillRect/>
          </a:stretch>
        </p:blipFill>
        <p:spPr>
          <a:xfrm>
            <a:off x="2192274" y="2256282"/>
            <a:ext cx="507492" cy="507492"/>
          </a:xfrm>
          <a:prstGeom prst="rect">
            <a:avLst/>
          </a:prstGeom>
        </p:spPr>
      </p:pic>
      <p:sp>
        <p:nvSpPr>
          <p:cNvPr id="7" name="Text 4"/>
          <p:cNvSpPr/>
          <p:nvPr/>
        </p:nvSpPr>
        <p:spPr>
          <a:xfrm>
            <a:off x="822960" y="3063240"/>
            <a:ext cx="3246120" cy="502920"/>
          </a:xfrm>
          <a:prstGeom prst="rect">
            <a:avLst/>
          </a:prstGeom>
          <a:noFill/>
          <a:ln/>
        </p:spPr>
        <p:txBody>
          <a:bodyPr wrap="square" rtlCol="0" anchor="ctr"/>
          <a:lstStyle/>
          <a:p>
            <a:pPr marL="0" indent="0" algn="ctr">
              <a:buNone/>
            </a:pPr>
            <a:r>
              <a:rPr lang="en-US" sz="1400" b="1" dirty="0">
                <a:solidFill>
                  <a:srgbClr val="1B4332"/>
                </a:solidFill>
                <a:latin typeface="Poppins" pitchFamily="34" charset="0"/>
                <a:ea typeface="Poppins" pitchFamily="34" charset="-122"/>
                <a:cs typeface="Poppins" pitchFamily="34" charset="-120"/>
              </a:rPr>
              <a:t>AI-Based Prediction</a:t>
            </a:r>
            <a:endParaRPr lang="en-US" sz="1400" dirty="0"/>
          </a:p>
        </p:txBody>
      </p:sp>
      <p:sp>
        <p:nvSpPr>
          <p:cNvPr id="8" name="Shape 5"/>
          <p:cNvSpPr/>
          <p:nvPr/>
        </p:nvSpPr>
        <p:spPr>
          <a:xfrm>
            <a:off x="4507992" y="1874520"/>
            <a:ext cx="3611880" cy="1828800"/>
          </a:xfrm>
          <a:prstGeom prst="roundRect">
            <a:avLst>
              <a:gd name="adj" fmla="val 7000"/>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9" name="Shape 6"/>
          <p:cNvSpPr/>
          <p:nvPr/>
        </p:nvSpPr>
        <p:spPr>
          <a:xfrm>
            <a:off x="5971032" y="2167128"/>
            <a:ext cx="685800" cy="685800"/>
          </a:xfrm>
          <a:prstGeom prst="ellipse">
            <a:avLst/>
          </a:prstGeom>
          <a:solidFill>
            <a:srgbClr val="E8F6EE"/>
          </a:solidFill>
          <a:ln/>
        </p:spPr>
      </p:sp>
      <p:pic>
        <p:nvPicPr>
          <p:cNvPr id="10" name="Image 1" descr="/home/claude/carboncheck/icons/gauge.png"/>
          <p:cNvPicPr>
            <a:picLocks noChangeAspect="1"/>
          </p:cNvPicPr>
          <p:nvPr/>
        </p:nvPicPr>
        <p:blipFill>
          <a:blip r:embed="rId5"/>
          <a:stretch>
            <a:fillRect/>
          </a:stretch>
        </p:blipFill>
        <p:spPr>
          <a:xfrm>
            <a:off x="6060186" y="2256282"/>
            <a:ext cx="507492" cy="507492"/>
          </a:xfrm>
          <a:prstGeom prst="rect">
            <a:avLst/>
          </a:prstGeom>
        </p:spPr>
      </p:pic>
      <p:sp>
        <p:nvSpPr>
          <p:cNvPr id="11" name="Text 7"/>
          <p:cNvSpPr/>
          <p:nvPr/>
        </p:nvSpPr>
        <p:spPr>
          <a:xfrm>
            <a:off x="4690872" y="3063240"/>
            <a:ext cx="3246120" cy="502920"/>
          </a:xfrm>
          <a:prstGeom prst="rect">
            <a:avLst/>
          </a:prstGeom>
          <a:noFill/>
          <a:ln/>
        </p:spPr>
        <p:txBody>
          <a:bodyPr wrap="square" rtlCol="0" anchor="ctr"/>
          <a:lstStyle/>
          <a:p>
            <a:pPr marL="0" indent="0" algn="ctr">
              <a:buNone/>
            </a:pPr>
            <a:r>
              <a:rPr lang="en-US" sz="1400" b="1" dirty="0">
                <a:solidFill>
                  <a:srgbClr val="1B4332"/>
                </a:solidFill>
                <a:latin typeface="Poppins" pitchFamily="34" charset="0"/>
                <a:ea typeface="Poppins" pitchFamily="34" charset="-122"/>
                <a:cs typeface="Poppins" pitchFamily="34" charset="-120"/>
              </a:rPr>
              <a:t>Easy to Use</a:t>
            </a:r>
            <a:endParaRPr lang="en-US" sz="1400" dirty="0"/>
          </a:p>
        </p:txBody>
      </p:sp>
      <p:sp>
        <p:nvSpPr>
          <p:cNvPr id="12" name="Shape 8"/>
          <p:cNvSpPr/>
          <p:nvPr/>
        </p:nvSpPr>
        <p:spPr>
          <a:xfrm>
            <a:off x="8375904" y="1874520"/>
            <a:ext cx="3611880" cy="1828800"/>
          </a:xfrm>
          <a:prstGeom prst="roundRect">
            <a:avLst>
              <a:gd name="adj" fmla="val 7000"/>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3" name="Shape 9"/>
          <p:cNvSpPr/>
          <p:nvPr/>
        </p:nvSpPr>
        <p:spPr>
          <a:xfrm>
            <a:off x="9838944" y="2167128"/>
            <a:ext cx="685800" cy="685800"/>
          </a:xfrm>
          <a:prstGeom prst="ellipse">
            <a:avLst/>
          </a:prstGeom>
          <a:solidFill>
            <a:srgbClr val="E8F6EE"/>
          </a:solidFill>
          <a:ln/>
        </p:spPr>
      </p:sp>
      <p:pic>
        <p:nvPicPr>
          <p:cNvPr id="14" name="Image 2" descr="/home/claude/carboncheck/icons/chart.png"/>
          <p:cNvPicPr>
            <a:picLocks noChangeAspect="1"/>
          </p:cNvPicPr>
          <p:nvPr/>
        </p:nvPicPr>
        <p:blipFill>
          <a:blip r:embed="rId6"/>
          <a:stretch>
            <a:fillRect/>
          </a:stretch>
        </p:blipFill>
        <p:spPr>
          <a:xfrm>
            <a:off x="9928098" y="2256282"/>
            <a:ext cx="507492" cy="507492"/>
          </a:xfrm>
          <a:prstGeom prst="rect">
            <a:avLst/>
          </a:prstGeom>
        </p:spPr>
      </p:pic>
      <p:sp>
        <p:nvSpPr>
          <p:cNvPr id="15" name="Text 10"/>
          <p:cNvSpPr/>
          <p:nvPr/>
        </p:nvSpPr>
        <p:spPr>
          <a:xfrm>
            <a:off x="8558784" y="3063240"/>
            <a:ext cx="3246120" cy="502920"/>
          </a:xfrm>
          <a:prstGeom prst="rect">
            <a:avLst/>
          </a:prstGeom>
          <a:noFill/>
          <a:ln/>
        </p:spPr>
        <p:txBody>
          <a:bodyPr wrap="square" rtlCol="0" anchor="ctr"/>
          <a:lstStyle/>
          <a:p>
            <a:pPr marL="0" indent="0" algn="ctr">
              <a:buNone/>
            </a:pPr>
            <a:r>
              <a:rPr lang="en-US" sz="1400" b="1" dirty="0">
                <a:solidFill>
                  <a:srgbClr val="1B4332"/>
                </a:solidFill>
                <a:latin typeface="Poppins" pitchFamily="34" charset="0"/>
                <a:ea typeface="Poppins" pitchFamily="34" charset="-122"/>
                <a:cs typeface="Poppins" pitchFamily="34" charset="-120"/>
              </a:rPr>
              <a:t>Interactive Dashboard</a:t>
            </a:r>
            <a:endParaRPr lang="en-US" sz="1400" dirty="0"/>
          </a:p>
        </p:txBody>
      </p:sp>
      <p:sp>
        <p:nvSpPr>
          <p:cNvPr id="16" name="Shape 11"/>
          <p:cNvSpPr/>
          <p:nvPr/>
        </p:nvSpPr>
        <p:spPr>
          <a:xfrm>
            <a:off x="640080" y="3959352"/>
            <a:ext cx="3611880" cy="1828800"/>
          </a:xfrm>
          <a:prstGeom prst="roundRect">
            <a:avLst>
              <a:gd name="adj" fmla="val 7000"/>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7" name="Shape 12"/>
          <p:cNvSpPr/>
          <p:nvPr/>
        </p:nvSpPr>
        <p:spPr>
          <a:xfrm>
            <a:off x="2103120" y="4251960"/>
            <a:ext cx="685800" cy="685800"/>
          </a:xfrm>
          <a:prstGeom prst="ellipse">
            <a:avLst/>
          </a:prstGeom>
          <a:solidFill>
            <a:srgbClr val="E8F6EE"/>
          </a:solidFill>
          <a:ln/>
        </p:spPr>
      </p:sp>
      <p:pic>
        <p:nvPicPr>
          <p:cNvPr id="18" name="Image 3" descr="/home/claude/carboncheck/icons/seedling.png"/>
          <p:cNvPicPr>
            <a:picLocks noChangeAspect="1"/>
          </p:cNvPicPr>
          <p:nvPr/>
        </p:nvPicPr>
        <p:blipFill>
          <a:blip r:embed="rId7"/>
          <a:stretch>
            <a:fillRect/>
          </a:stretch>
        </p:blipFill>
        <p:spPr>
          <a:xfrm>
            <a:off x="2192274" y="4341114"/>
            <a:ext cx="507492" cy="507492"/>
          </a:xfrm>
          <a:prstGeom prst="rect">
            <a:avLst/>
          </a:prstGeom>
        </p:spPr>
      </p:pic>
      <p:sp>
        <p:nvSpPr>
          <p:cNvPr id="19" name="Text 13"/>
          <p:cNvSpPr/>
          <p:nvPr/>
        </p:nvSpPr>
        <p:spPr>
          <a:xfrm>
            <a:off x="822960" y="5148072"/>
            <a:ext cx="3246120" cy="502920"/>
          </a:xfrm>
          <a:prstGeom prst="rect">
            <a:avLst/>
          </a:prstGeom>
          <a:noFill/>
          <a:ln/>
        </p:spPr>
        <p:txBody>
          <a:bodyPr wrap="square" rtlCol="0" anchor="ctr"/>
          <a:lstStyle/>
          <a:p>
            <a:pPr marL="0" indent="0" algn="ctr">
              <a:buNone/>
            </a:pPr>
            <a:r>
              <a:rPr lang="en-US" sz="1400" b="1" dirty="0">
                <a:solidFill>
                  <a:srgbClr val="1B4332"/>
                </a:solidFill>
                <a:latin typeface="Poppins" pitchFamily="34" charset="0"/>
                <a:ea typeface="Poppins" pitchFamily="34" charset="-122"/>
                <a:cs typeface="Poppins" pitchFamily="34" charset="-120"/>
              </a:rPr>
              <a:t>Environmental Awareness</a:t>
            </a:r>
            <a:endParaRPr lang="en-US" sz="1400" dirty="0"/>
          </a:p>
        </p:txBody>
      </p:sp>
      <p:sp>
        <p:nvSpPr>
          <p:cNvPr id="20" name="Shape 14"/>
          <p:cNvSpPr/>
          <p:nvPr/>
        </p:nvSpPr>
        <p:spPr>
          <a:xfrm>
            <a:off x="4507992" y="3959352"/>
            <a:ext cx="3611880" cy="1828800"/>
          </a:xfrm>
          <a:prstGeom prst="roundRect">
            <a:avLst>
              <a:gd name="adj" fmla="val 7000"/>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1" name="Shape 15"/>
          <p:cNvSpPr/>
          <p:nvPr/>
        </p:nvSpPr>
        <p:spPr>
          <a:xfrm>
            <a:off x="5971032" y="4251960"/>
            <a:ext cx="685800" cy="685800"/>
          </a:xfrm>
          <a:prstGeom prst="ellipse">
            <a:avLst/>
          </a:prstGeom>
          <a:solidFill>
            <a:srgbClr val="E8F6EE"/>
          </a:solidFill>
          <a:ln/>
        </p:spPr>
      </p:sp>
      <p:pic>
        <p:nvPicPr>
          <p:cNvPr id="22" name="Image 4" descr="/home/claude/carboncheck/icons/leaf.png"/>
          <p:cNvPicPr>
            <a:picLocks noChangeAspect="1"/>
          </p:cNvPicPr>
          <p:nvPr/>
        </p:nvPicPr>
        <p:blipFill>
          <a:blip r:embed="rId8"/>
          <a:stretch>
            <a:fillRect/>
          </a:stretch>
        </p:blipFill>
        <p:spPr>
          <a:xfrm>
            <a:off x="6060186" y="4341114"/>
            <a:ext cx="507492" cy="507492"/>
          </a:xfrm>
          <a:prstGeom prst="rect">
            <a:avLst/>
          </a:prstGeom>
        </p:spPr>
      </p:pic>
      <p:sp>
        <p:nvSpPr>
          <p:cNvPr id="23" name="Text 16"/>
          <p:cNvSpPr/>
          <p:nvPr/>
        </p:nvSpPr>
        <p:spPr>
          <a:xfrm>
            <a:off x="4690872" y="5148072"/>
            <a:ext cx="3246120" cy="502920"/>
          </a:xfrm>
          <a:prstGeom prst="rect">
            <a:avLst/>
          </a:prstGeom>
          <a:noFill/>
          <a:ln/>
        </p:spPr>
        <p:txBody>
          <a:bodyPr wrap="square" rtlCol="0" anchor="ctr"/>
          <a:lstStyle/>
          <a:p>
            <a:pPr marL="0" indent="0" algn="ctr">
              <a:buNone/>
            </a:pPr>
            <a:r>
              <a:rPr lang="en-US" sz="1400" b="1" dirty="0">
                <a:solidFill>
                  <a:srgbClr val="1B4332"/>
                </a:solidFill>
                <a:latin typeface="Poppins" pitchFamily="34" charset="0"/>
                <a:ea typeface="Poppins" pitchFamily="34" charset="-122"/>
                <a:cs typeface="Poppins" pitchFamily="34" charset="-120"/>
              </a:rPr>
              <a:t>Sustainable Lifestyle Support</a:t>
            </a:r>
            <a:endParaRPr lang="en-US" sz="1400" dirty="0"/>
          </a:p>
        </p:txBody>
      </p:sp>
      <p:sp>
        <p:nvSpPr>
          <p:cNvPr id="24" name="Shape 17"/>
          <p:cNvSpPr/>
          <p:nvPr/>
        </p:nvSpPr>
        <p:spPr>
          <a:xfrm>
            <a:off x="8375904" y="3959352"/>
            <a:ext cx="3611880" cy="1828800"/>
          </a:xfrm>
          <a:prstGeom prst="roundRect">
            <a:avLst>
              <a:gd name="adj" fmla="val 7000"/>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8"/>
          <p:cNvSpPr/>
          <p:nvPr/>
        </p:nvSpPr>
        <p:spPr>
          <a:xfrm>
            <a:off x="9838944" y="4251960"/>
            <a:ext cx="685800" cy="685800"/>
          </a:xfrm>
          <a:prstGeom prst="ellipse">
            <a:avLst/>
          </a:prstGeom>
          <a:solidFill>
            <a:srgbClr val="E8F6EE"/>
          </a:solidFill>
          <a:ln/>
        </p:spPr>
      </p:sp>
      <p:pic>
        <p:nvPicPr>
          <p:cNvPr id="26" name="Image 5" descr="/home/claude/carboncheck/icons/chartbar.png"/>
          <p:cNvPicPr>
            <a:picLocks noChangeAspect="1"/>
          </p:cNvPicPr>
          <p:nvPr/>
        </p:nvPicPr>
        <p:blipFill>
          <a:blip r:embed="rId9"/>
          <a:stretch>
            <a:fillRect/>
          </a:stretch>
        </p:blipFill>
        <p:spPr>
          <a:xfrm>
            <a:off x="9928098" y="4341114"/>
            <a:ext cx="507492" cy="507492"/>
          </a:xfrm>
          <a:prstGeom prst="rect">
            <a:avLst/>
          </a:prstGeom>
        </p:spPr>
      </p:pic>
      <p:sp>
        <p:nvSpPr>
          <p:cNvPr id="27" name="Text 19"/>
          <p:cNvSpPr/>
          <p:nvPr/>
        </p:nvSpPr>
        <p:spPr>
          <a:xfrm>
            <a:off x="8558784" y="5148072"/>
            <a:ext cx="3246120" cy="502920"/>
          </a:xfrm>
          <a:prstGeom prst="rect">
            <a:avLst/>
          </a:prstGeom>
          <a:noFill/>
          <a:ln/>
        </p:spPr>
        <p:txBody>
          <a:bodyPr wrap="square" rtlCol="0" anchor="ctr"/>
          <a:lstStyle/>
          <a:p>
            <a:pPr marL="0" indent="0" algn="ctr">
              <a:buNone/>
            </a:pPr>
            <a:r>
              <a:rPr lang="en-US" sz="1400" b="1" dirty="0">
                <a:solidFill>
                  <a:srgbClr val="1B4332"/>
                </a:solidFill>
                <a:latin typeface="Poppins" pitchFamily="34" charset="0"/>
                <a:ea typeface="Poppins" pitchFamily="34" charset="-122"/>
                <a:cs typeface="Poppins" pitchFamily="34" charset="-120"/>
              </a:rPr>
              <a:t>Data Visualization</a:t>
            </a:r>
            <a:endParaRPr lang="en-US" sz="1400" dirty="0"/>
          </a:p>
        </p:txBody>
      </p:sp>
      <p:sp>
        <p:nvSpPr>
          <p:cNvPr id="28" name="Text 20"/>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29" name="Text 21"/>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18 / 22</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WHAT’S NEXT</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Future Scope</a:t>
            </a:r>
            <a:endParaRPr lang="en-US" sz="3200" dirty="0"/>
          </a:p>
        </p:txBody>
      </p:sp>
      <p:sp>
        <p:nvSpPr>
          <p:cNvPr id="4" name="Shape 2"/>
          <p:cNvSpPr/>
          <p:nvPr/>
        </p:nvSpPr>
        <p:spPr>
          <a:xfrm>
            <a:off x="640080" y="1874520"/>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5" name="Shape 3"/>
          <p:cNvSpPr/>
          <p:nvPr/>
        </p:nvSpPr>
        <p:spPr>
          <a:xfrm>
            <a:off x="1632204" y="2148840"/>
            <a:ext cx="621792" cy="621792"/>
          </a:xfrm>
          <a:prstGeom prst="ellipse">
            <a:avLst/>
          </a:prstGeom>
          <a:solidFill>
            <a:srgbClr val="E8F6EE"/>
          </a:solidFill>
          <a:ln/>
        </p:spPr>
      </p:sp>
      <p:pic>
        <p:nvPicPr>
          <p:cNvPr id="6" name="Image 0" descr="/home/claude/carboncheck/icons/brain.png"/>
          <p:cNvPicPr>
            <a:picLocks noChangeAspect="1"/>
          </p:cNvPicPr>
          <p:nvPr/>
        </p:nvPicPr>
        <p:blipFill>
          <a:blip r:embed="rId4"/>
          <a:stretch>
            <a:fillRect/>
          </a:stretch>
        </p:blipFill>
        <p:spPr>
          <a:xfrm>
            <a:off x="1713037" y="2229673"/>
            <a:ext cx="460126" cy="460126"/>
          </a:xfrm>
          <a:prstGeom prst="rect">
            <a:avLst/>
          </a:prstGeom>
        </p:spPr>
      </p:pic>
      <p:sp>
        <p:nvSpPr>
          <p:cNvPr id="7" name="Text 4"/>
          <p:cNvSpPr/>
          <p:nvPr/>
        </p:nvSpPr>
        <p:spPr>
          <a:xfrm>
            <a:off x="777240" y="2971800"/>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Deep Learning</a:t>
            </a:r>
            <a:endParaRPr lang="en-US" sz="1250" dirty="0"/>
          </a:p>
        </p:txBody>
      </p:sp>
      <p:sp>
        <p:nvSpPr>
          <p:cNvPr id="8" name="Shape 5"/>
          <p:cNvSpPr/>
          <p:nvPr/>
        </p:nvSpPr>
        <p:spPr>
          <a:xfrm>
            <a:off x="3465576" y="1874520"/>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9" name="Shape 6"/>
          <p:cNvSpPr/>
          <p:nvPr/>
        </p:nvSpPr>
        <p:spPr>
          <a:xfrm>
            <a:off x="4457700" y="2148840"/>
            <a:ext cx="621792" cy="621792"/>
          </a:xfrm>
          <a:prstGeom prst="ellipse">
            <a:avLst/>
          </a:prstGeom>
          <a:solidFill>
            <a:srgbClr val="E8F6EE"/>
          </a:solidFill>
          <a:ln/>
        </p:spPr>
      </p:sp>
      <p:pic>
        <p:nvPicPr>
          <p:cNvPr id="10" name="Image 1" descr="/home/claude/carboncheck/icons/mobile.png"/>
          <p:cNvPicPr>
            <a:picLocks noChangeAspect="1"/>
          </p:cNvPicPr>
          <p:nvPr/>
        </p:nvPicPr>
        <p:blipFill>
          <a:blip r:embed="rId5"/>
          <a:stretch>
            <a:fillRect/>
          </a:stretch>
        </p:blipFill>
        <p:spPr>
          <a:xfrm>
            <a:off x="4538533" y="2229673"/>
            <a:ext cx="460126" cy="460126"/>
          </a:xfrm>
          <a:prstGeom prst="rect">
            <a:avLst/>
          </a:prstGeom>
        </p:spPr>
      </p:pic>
      <p:sp>
        <p:nvSpPr>
          <p:cNvPr id="11" name="Text 7"/>
          <p:cNvSpPr/>
          <p:nvPr/>
        </p:nvSpPr>
        <p:spPr>
          <a:xfrm>
            <a:off x="3602736" y="2971800"/>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Mobile App</a:t>
            </a:r>
            <a:endParaRPr lang="en-US" sz="1250" dirty="0"/>
          </a:p>
        </p:txBody>
      </p:sp>
      <p:sp>
        <p:nvSpPr>
          <p:cNvPr id="12" name="Shape 8"/>
          <p:cNvSpPr/>
          <p:nvPr/>
        </p:nvSpPr>
        <p:spPr>
          <a:xfrm>
            <a:off x="6291072" y="1874520"/>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3" name="Shape 9"/>
          <p:cNvSpPr/>
          <p:nvPr/>
        </p:nvSpPr>
        <p:spPr>
          <a:xfrm>
            <a:off x="7283196" y="2148840"/>
            <a:ext cx="621792" cy="621792"/>
          </a:xfrm>
          <a:prstGeom prst="ellipse">
            <a:avLst/>
          </a:prstGeom>
          <a:solidFill>
            <a:srgbClr val="E8F6EE"/>
          </a:solidFill>
          <a:ln/>
        </p:spPr>
      </p:sp>
      <p:pic>
        <p:nvPicPr>
          <p:cNvPr id="14" name="Image 2" descr="/home/claude/carboncheck/icons/home_iot.png"/>
          <p:cNvPicPr>
            <a:picLocks noChangeAspect="1"/>
          </p:cNvPicPr>
          <p:nvPr/>
        </p:nvPicPr>
        <p:blipFill>
          <a:blip r:embed="rId6"/>
          <a:stretch>
            <a:fillRect/>
          </a:stretch>
        </p:blipFill>
        <p:spPr>
          <a:xfrm>
            <a:off x="7364029" y="2229673"/>
            <a:ext cx="460126" cy="460126"/>
          </a:xfrm>
          <a:prstGeom prst="rect">
            <a:avLst/>
          </a:prstGeom>
        </p:spPr>
      </p:pic>
      <p:sp>
        <p:nvSpPr>
          <p:cNvPr id="15" name="Text 10"/>
          <p:cNvSpPr/>
          <p:nvPr/>
        </p:nvSpPr>
        <p:spPr>
          <a:xfrm>
            <a:off x="6428232" y="2971800"/>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IoT Integration</a:t>
            </a:r>
            <a:endParaRPr lang="en-US" sz="1250" dirty="0"/>
          </a:p>
        </p:txBody>
      </p:sp>
      <p:sp>
        <p:nvSpPr>
          <p:cNvPr id="16" name="Shape 11"/>
          <p:cNvSpPr/>
          <p:nvPr/>
        </p:nvSpPr>
        <p:spPr>
          <a:xfrm>
            <a:off x="9116568" y="1874520"/>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17" name="Shape 12"/>
          <p:cNvSpPr/>
          <p:nvPr/>
        </p:nvSpPr>
        <p:spPr>
          <a:xfrm>
            <a:off x="10108692" y="2148840"/>
            <a:ext cx="621792" cy="621792"/>
          </a:xfrm>
          <a:prstGeom prst="ellipse">
            <a:avLst/>
          </a:prstGeom>
          <a:solidFill>
            <a:srgbClr val="E8F6EE"/>
          </a:solidFill>
          <a:ln/>
        </p:spPr>
      </p:sp>
      <p:pic>
        <p:nvPicPr>
          <p:cNvPr id="18" name="Image 3" descr="/home/claude/carboncheck/icons/map.png"/>
          <p:cNvPicPr>
            <a:picLocks noChangeAspect="1"/>
          </p:cNvPicPr>
          <p:nvPr/>
        </p:nvPicPr>
        <p:blipFill>
          <a:blip r:embed="rId7"/>
          <a:stretch>
            <a:fillRect/>
          </a:stretch>
        </p:blipFill>
        <p:spPr>
          <a:xfrm>
            <a:off x="10189525" y="2229673"/>
            <a:ext cx="460126" cy="460126"/>
          </a:xfrm>
          <a:prstGeom prst="rect">
            <a:avLst/>
          </a:prstGeom>
        </p:spPr>
      </p:pic>
      <p:sp>
        <p:nvSpPr>
          <p:cNvPr id="19" name="Text 13"/>
          <p:cNvSpPr/>
          <p:nvPr/>
        </p:nvSpPr>
        <p:spPr>
          <a:xfrm>
            <a:off x="9253728" y="2971800"/>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Google Maps API</a:t>
            </a:r>
            <a:endParaRPr lang="en-US" sz="1250" dirty="0"/>
          </a:p>
        </p:txBody>
      </p:sp>
      <p:sp>
        <p:nvSpPr>
          <p:cNvPr id="20" name="Shape 14"/>
          <p:cNvSpPr/>
          <p:nvPr/>
        </p:nvSpPr>
        <p:spPr>
          <a:xfrm>
            <a:off x="640080" y="3986784"/>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1" name="Shape 15"/>
          <p:cNvSpPr/>
          <p:nvPr/>
        </p:nvSpPr>
        <p:spPr>
          <a:xfrm>
            <a:off x="1632204" y="4261104"/>
            <a:ext cx="621792" cy="621792"/>
          </a:xfrm>
          <a:prstGeom prst="ellipse">
            <a:avLst/>
          </a:prstGeom>
          <a:solidFill>
            <a:srgbClr val="E8F6EE"/>
          </a:solidFill>
          <a:ln/>
        </p:spPr>
      </p:sp>
      <p:pic>
        <p:nvPicPr>
          <p:cNvPr id="22" name="Image 4" descr="/home/claude/carboncheck/icons/recycle.png"/>
          <p:cNvPicPr>
            <a:picLocks noChangeAspect="1"/>
          </p:cNvPicPr>
          <p:nvPr/>
        </p:nvPicPr>
        <p:blipFill>
          <a:blip r:embed="rId8"/>
          <a:stretch>
            <a:fillRect/>
          </a:stretch>
        </p:blipFill>
        <p:spPr>
          <a:xfrm>
            <a:off x="1713037" y="4341937"/>
            <a:ext cx="460126" cy="460126"/>
          </a:xfrm>
          <a:prstGeom prst="rect">
            <a:avLst/>
          </a:prstGeom>
        </p:spPr>
      </p:pic>
      <p:sp>
        <p:nvSpPr>
          <p:cNvPr id="23" name="Text 16"/>
          <p:cNvSpPr/>
          <p:nvPr/>
        </p:nvSpPr>
        <p:spPr>
          <a:xfrm>
            <a:off x="777240" y="5084064"/>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Carbon Credit System</a:t>
            </a:r>
            <a:endParaRPr lang="en-US" sz="1250" dirty="0"/>
          </a:p>
        </p:txBody>
      </p:sp>
      <p:sp>
        <p:nvSpPr>
          <p:cNvPr id="24" name="Shape 17"/>
          <p:cNvSpPr/>
          <p:nvPr/>
        </p:nvSpPr>
        <p:spPr>
          <a:xfrm>
            <a:off x="3465576" y="3986784"/>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5" name="Shape 18"/>
          <p:cNvSpPr/>
          <p:nvPr/>
        </p:nvSpPr>
        <p:spPr>
          <a:xfrm>
            <a:off x="4457700" y="4261104"/>
            <a:ext cx="621792" cy="621792"/>
          </a:xfrm>
          <a:prstGeom prst="ellipse">
            <a:avLst/>
          </a:prstGeom>
          <a:solidFill>
            <a:srgbClr val="E8F6EE"/>
          </a:solidFill>
          <a:ln/>
        </p:spPr>
      </p:sp>
      <p:pic>
        <p:nvPicPr>
          <p:cNvPr id="26" name="Image 5" descr="/home/claude/carboncheck/icons/house.png"/>
          <p:cNvPicPr>
            <a:picLocks noChangeAspect="1"/>
          </p:cNvPicPr>
          <p:nvPr/>
        </p:nvPicPr>
        <p:blipFill>
          <a:blip r:embed="rId9"/>
          <a:stretch>
            <a:fillRect/>
          </a:stretch>
        </p:blipFill>
        <p:spPr>
          <a:xfrm>
            <a:off x="4538533" y="4341937"/>
            <a:ext cx="460126" cy="460126"/>
          </a:xfrm>
          <a:prstGeom prst="rect">
            <a:avLst/>
          </a:prstGeom>
        </p:spPr>
      </p:pic>
      <p:sp>
        <p:nvSpPr>
          <p:cNvPr id="27" name="Text 19"/>
          <p:cNvSpPr/>
          <p:nvPr/>
        </p:nvSpPr>
        <p:spPr>
          <a:xfrm>
            <a:off x="3602736" y="5084064"/>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Smart Home Integration</a:t>
            </a:r>
            <a:endParaRPr lang="en-US" sz="1250" dirty="0"/>
          </a:p>
        </p:txBody>
      </p:sp>
      <p:sp>
        <p:nvSpPr>
          <p:cNvPr id="28" name="Shape 20"/>
          <p:cNvSpPr/>
          <p:nvPr/>
        </p:nvSpPr>
        <p:spPr>
          <a:xfrm>
            <a:off x="6291072" y="3986784"/>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29" name="Shape 21"/>
          <p:cNvSpPr/>
          <p:nvPr/>
        </p:nvSpPr>
        <p:spPr>
          <a:xfrm>
            <a:off x="7283196" y="4261104"/>
            <a:ext cx="621792" cy="621792"/>
          </a:xfrm>
          <a:prstGeom prst="ellipse">
            <a:avLst/>
          </a:prstGeom>
          <a:solidFill>
            <a:srgbClr val="E8F6EE"/>
          </a:solidFill>
          <a:ln/>
        </p:spPr>
      </p:sp>
      <p:pic>
        <p:nvPicPr>
          <p:cNvPr id="30" name="Image 6" descr="/home/claude/carboncheck/icons/bolt.png"/>
          <p:cNvPicPr>
            <a:picLocks noChangeAspect="1"/>
          </p:cNvPicPr>
          <p:nvPr/>
        </p:nvPicPr>
        <p:blipFill>
          <a:blip r:embed="rId10"/>
          <a:stretch>
            <a:fillRect/>
          </a:stretch>
        </p:blipFill>
        <p:spPr>
          <a:xfrm>
            <a:off x="7364029" y="4341937"/>
            <a:ext cx="460126" cy="460126"/>
          </a:xfrm>
          <a:prstGeom prst="rect">
            <a:avLst/>
          </a:prstGeom>
        </p:spPr>
      </p:pic>
      <p:sp>
        <p:nvSpPr>
          <p:cNvPr id="31" name="Text 22"/>
          <p:cNvSpPr/>
          <p:nvPr/>
        </p:nvSpPr>
        <p:spPr>
          <a:xfrm>
            <a:off x="6428232" y="5084064"/>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Renewable Energy Monitoring</a:t>
            </a:r>
            <a:endParaRPr lang="en-US" sz="1250" dirty="0"/>
          </a:p>
        </p:txBody>
      </p:sp>
      <p:sp>
        <p:nvSpPr>
          <p:cNvPr id="32" name="Shape 23"/>
          <p:cNvSpPr/>
          <p:nvPr/>
        </p:nvSpPr>
        <p:spPr>
          <a:xfrm>
            <a:off x="9116568" y="3986784"/>
            <a:ext cx="2606040" cy="1874520"/>
          </a:xfrm>
          <a:prstGeom prst="roundRect">
            <a:avLst>
              <a:gd name="adj" fmla="val 6829"/>
            </a:avLst>
          </a:prstGeom>
          <a:solidFill>
            <a:srgbClr val="FFFFFF"/>
          </a:solidFill>
          <a:ln w="12700">
            <a:solidFill>
              <a:srgbClr val="DCEBE2"/>
            </a:solidFill>
            <a:prstDash val="solid"/>
          </a:ln>
          <a:effectLst>
            <a:outerShdw blurRad="127000" dist="38100" dir="5400000" algn="bl" rotWithShape="0">
              <a:srgbClr val="1B4332">
                <a:alpha val="10000"/>
              </a:srgbClr>
            </a:outerShdw>
          </a:effectLst>
        </p:spPr>
      </p:sp>
      <p:sp>
        <p:nvSpPr>
          <p:cNvPr id="33" name="Shape 24"/>
          <p:cNvSpPr/>
          <p:nvPr/>
        </p:nvSpPr>
        <p:spPr>
          <a:xfrm>
            <a:off x="10108692" y="4261104"/>
            <a:ext cx="621792" cy="621792"/>
          </a:xfrm>
          <a:prstGeom prst="ellipse">
            <a:avLst/>
          </a:prstGeom>
          <a:solidFill>
            <a:srgbClr val="E8F6EE"/>
          </a:solidFill>
          <a:ln/>
        </p:spPr>
      </p:sp>
      <p:pic>
        <p:nvPicPr>
          <p:cNvPr id="34" name="Image 7" descr="/home/claude/carboncheck/icons/cloud.png"/>
          <p:cNvPicPr>
            <a:picLocks noChangeAspect="1"/>
          </p:cNvPicPr>
          <p:nvPr/>
        </p:nvPicPr>
        <p:blipFill>
          <a:blip r:embed="rId11"/>
          <a:stretch>
            <a:fillRect/>
          </a:stretch>
        </p:blipFill>
        <p:spPr>
          <a:xfrm>
            <a:off x="10189525" y="4341937"/>
            <a:ext cx="460126" cy="460126"/>
          </a:xfrm>
          <a:prstGeom prst="rect">
            <a:avLst/>
          </a:prstGeom>
        </p:spPr>
      </p:pic>
      <p:sp>
        <p:nvSpPr>
          <p:cNvPr id="35" name="Text 25"/>
          <p:cNvSpPr/>
          <p:nvPr/>
        </p:nvSpPr>
        <p:spPr>
          <a:xfrm>
            <a:off x="9253728" y="5084064"/>
            <a:ext cx="2331720" cy="640080"/>
          </a:xfrm>
          <a:prstGeom prst="rect">
            <a:avLst/>
          </a:prstGeom>
          <a:noFill/>
          <a:ln/>
        </p:spPr>
        <p:txBody>
          <a:bodyPr wrap="square" rtlCol="0" anchor="ctr"/>
          <a:lstStyle/>
          <a:p>
            <a:pPr marL="0" indent="0" algn="ctr">
              <a:buNone/>
            </a:pPr>
            <a:r>
              <a:rPr lang="en-US" sz="1250" b="1" dirty="0">
                <a:solidFill>
                  <a:srgbClr val="1B4332"/>
                </a:solidFill>
                <a:latin typeface="Poppins" pitchFamily="34" charset="0"/>
                <a:ea typeface="Poppins" pitchFamily="34" charset="-122"/>
                <a:cs typeface="Poppins" pitchFamily="34" charset="-120"/>
              </a:rPr>
              <a:t>Cloud Deployment</a:t>
            </a:r>
            <a:endParaRPr lang="en-US" sz="1250" dirty="0"/>
          </a:p>
        </p:txBody>
      </p:sp>
      <p:sp>
        <p:nvSpPr>
          <p:cNvPr id="36" name="Text 26"/>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7" name="Text 2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19 / 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265615" y="-914400"/>
            <a:ext cx="3291840" cy="3291840"/>
          </a:xfrm>
          <a:prstGeom prst="ellipse">
            <a:avLst/>
          </a:prstGeom>
          <a:solidFill>
            <a:srgbClr val="FFFFFF">
              <a:alpha val="6000"/>
            </a:srgbClr>
          </a:solidFill>
          <a:ln/>
        </p:spPr>
      </p:sp>
      <p:sp>
        <p:nvSpPr>
          <p:cNvPr id="3" name="Shape 1"/>
          <p:cNvSpPr/>
          <p:nvPr/>
        </p:nvSpPr>
        <p:spPr>
          <a:xfrm>
            <a:off x="-1097280" y="4846320"/>
            <a:ext cx="2926080" cy="2926080"/>
          </a:xfrm>
          <a:prstGeom prst="ellipse">
            <a:avLst/>
          </a:prstGeom>
          <a:solidFill>
            <a:srgbClr val="52D68D">
              <a:alpha val="10000"/>
            </a:srgbClr>
          </a:solidFill>
          <a:ln/>
        </p:spPr>
      </p:sp>
      <p:sp>
        <p:nvSpPr>
          <p:cNvPr id="4" name="Text 2"/>
          <p:cNvSpPr/>
          <p:nvPr/>
        </p:nvSpPr>
        <p:spPr>
          <a:xfrm>
            <a:off x="640080" y="91440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CONCLUSION</a:t>
            </a:r>
            <a:endParaRPr lang="en-US" sz="1200" dirty="0"/>
          </a:p>
        </p:txBody>
      </p:sp>
      <p:sp>
        <p:nvSpPr>
          <p:cNvPr id="5" name="Text 3"/>
          <p:cNvSpPr/>
          <p:nvPr/>
        </p:nvSpPr>
        <p:spPr>
          <a:xfrm>
            <a:off x="640080" y="1234440"/>
            <a:ext cx="7315200" cy="731520"/>
          </a:xfrm>
          <a:prstGeom prst="rect">
            <a:avLst/>
          </a:prstGeom>
          <a:noFill/>
          <a:ln/>
        </p:spPr>
        <p:txBody>
          <a:bodyPr wrap="square" rtlCol="0" anchor="ctr"/>
          <a:lstStyle/>
          <a:p>
            <a:pPr marL="0" indent="0">
              <a:buNone/>
            </a:pPr>
            <a:r>
              <a:rPr lang="en-US" sz="3400" b="1" dirty="0">
                <a:solidFill>
                  <a:srgbClr val="FFFFFF"/>
                </a:solidFill>
                <a:latin typeface="Poppins" pitchFamily="34" charset="0"/>
                <a:ea typeface="Poppins" pitchFamily="34" charset="-122"/>
                <a:cs typeface="Poppins" pitchFamily="34" charset="-120"/>
              </a:rPr>
              <a:t>Conclusion</a:t>
            </a:r>
            <a:endParaRPr lang="en-US" sz="3400" dirty="0"/>
          </a:p>
        </p:txBody>
      </p:sp>
      <p:sp>
        <p:nvSpPr>
          <p:cNvPr id="6" name="Shape 4"/>
          <p:cNvSpPr/>
          <p:nvPr/>
        </p:nvSpPr>
        <p:spPr>
          <a:xfrm>
            <a:off x="640080" y="2331720"/>
            <a:ext cx="822960" cy="822960"/>
          </a:xfrm>
          <a:prstGeom prst="ellipse">
            <a:avLst/>
          </a:prstGeom>
          <a:solidFill>
            <a:srgbClr val="2D9C6F">
              <a:alpha val="85000"/>
            </a:srgbClr>
          </a:solidFill>
          <a:ln/>
        </p:spPr>
      </p:sp>
      <p:pic>
        <p:nvPicPr>
          <p:cNvPr id="7" name="Image 0" descr="/home/claude/carboncheck/icons/earth_white.png"/>
          <p:cNvPicPr>
            <a:picLocks noChangeAspect="1"/>
          </p:cNvPicPr>
          <p:nvPr/>
        </p:nvPicPr>
        <p:blipFill>
          <a:blip r:embed="rId4"/>
          <a:stretch>
            <a:fillRect/>
          </a:stretch>
        </p:blipFill>
        <p:spPr>
          <a:xfrm>
            <a:off x="868680" y="2560320"/>
            <a:ext cx="365760" cy="365760"/>
          </a:xfrm>
          <a:prstGeom prst="rect">
            <a:avLst/>
          </a:prstGeom>
        </p:spPr>
      </p:pic>
      <p:sp>
        <p:nvSpPr>
          <p:cNvPr id="8" name="Text 5"/>
          <p:cNvSpPr/>
          <p:nvPr/>
        </p:nvSpPr>
        <p:spPr>
          <a:xfrm>
            <a:off x="1737360" y="2286000"/>
            <a:ext cx="9144000" cy="1828800"/>
          </a:xfrm>
          <a:prstGeom prst="rect">
            <a:avLst/>
          </a:prstGeom>
          <a:noFill/>
          <a:ln/>
        </p:spPr>
        <p:txBody>
          <a:bodyPr wrap="square" rtlCol="0" anchor="ctr"/>
          <a:lstStyle/>
          <a:p>
            <a:pPr marL="0" indent="0">
              <a:lnSpc>
                <a:spcPct val="135000"/>
              </a:lnSpc>
              <a:buNone/>
            </a:pPr>
            <a:r>
              <a:rPr lang="en-US" sz="1600" dirty="0">
                <a:solidFill>
                  <a:srgbClr val="E8F3EC"/>
                </a:solidFill>
                <a:latin typeface="Arial" pitchFamily="34" charset="0"/>
                <a:ea typeface="Arial" pitchFamily="34" charset="-122"/>
                <a:cs typeface="Arial" pitchFamily="34" charset="-120"/>
              </a:rPr>
              <a:t>CarbonCheck brings together artificial intelligence and data analytics to help users measure, understand, and reduce their carbon footprint. By combining accurate prediction with personalized, actionable guidance, the platform empowers everyday people to build more sustainable habits — directly supporting global environmental sustainability and the United Nations SDG goals.</a:t>
            </a:r>
            <a:endParaRPr lang="en-US" sz="1600" dirty="0"/>
          </a:p>
        </p:txBody>
      </p:sp>
      <p:sp>
        <p:nvSpPr>
          <p:cNvPr id="9" name="Shape 6"/>
          <p:cNvSpPr/>
          <p:nvPr/>
        </p:nvSpPr>
        <p:spPr>
          <a:xfrm>
            <a:off x="640080" y="4709160"/>
            <a:ext cx="3291840" cy="1188720"/>
          </a:xfrm>
          <a:prstGeom prst="roundRect">
            <a:avLst>
              <a:gd name="adj" fmla="val 12308"/>
            </a:avLst>
          </a:prstGeom>
          <a:solidFill>
            <a:srgbClr val="FFFFFF">
              <a:alpha val="10000"/>
            </a:srgbClr>
          </a:solidFill>
          <a:ln w="12700">
            <a:solidFill>
              <a:srgbClr val="FFFFFF"/>
            </a:solidFill>
            <a:prstDash val="solid"/>
          </a:ln>
        </p:spPr>
      </p:sp>
      <p:sp>
        <p:nvSpPr>
          <p:cNvPr id="10" name="Text 7"/>
          <p:cNvSpPr/>
          <p:nvPr/>
        </p:nvSpPr>
        <p:spPr>
          <a:xfrm>
            <a:off x="868680" y="4846320"/>
            <a:ext cx="2834640" cy="457200"/>
          </a:xfrm>
          <a:prstGeom prst="rect">
            <a:avLst/>
          </a:prstGeom>
          <a:noFill/>
          <a:ln/>
        </p:spPr>
        <p:txBody>
          <a:bodyPr wrap="square" rtlCol="0" anchor="ctr"/>
          <a:lstStyle/>
          <a:p>
            <a:pPr marL="0" indent="0">
              <a:buNone/>
            </a:pPr>
            <a:r>
              <a:rPr lang="en-US" sz="2000" b="1" dirty="0">
                <a:solidFill>
                  <a:srgbClr val="52D68D"/>
                </a:solidFill>
                <a:latin typeface="Poppins" pitchFamily="34" charset="0"/>
                <a:ea typeface="Poppins" pitchFamily="34" charset="-122"/>
                <a:cs typeface="Poppins" pitchFamily="34" charset="-120"/>
              </a:rPr>
              <a:t>AI-Driven</a:t>
            </a:r>
            <a:endParaRPr lang="en-US" sz="2000" dirty="0"/>
          </a:p>
        </p:txBody>
      </p:sp>
      <p:sp>
        <p:nvSpPr>
          <p:cNvPr id="11" name="Text 8"/>
          <p:cNvSpPr/>
          <p:nvPr/>
        </p:nvSpPr>
        <p:spPr>
          <a:xfrm>
            <a:off x="868680" y="5367528"/>
            <a:ext cx="2834640" cy="365760"/>
          </a:xfrm>
          <a:prstGeom prst="rect">
            <a:avLst/>
          </a:prstGeom>
          <a:noFill/>
          <a:ln/>
        </p:spPr>
        <p:txBody>
          <a:bodyPr wrap="square" rtlCol="0" anchor="ctr"/>
          <a:lstStyle/>
          <a:p>
            <a:pPr marL="0" indent="0">
              <a:buNone/>
            </a:pPr>
            <a:r>
              <a:rPr lang="en-US" sz="1150" dirty="0">
                <a:solidFill>
                  <a:srgbClr val="DCEFE3"/>
                </a:solidFill>
                <a:latin typeface="Arial" pitchFamily="34" charset="0"/>
                <a:ea typeface="Arial" pitchFamily="34" charset="-122"/>
                <a:cs typeface="Arial" pitchFamily="34" charset="-120"/>
              </a:rPr>
              <a:t>Prediction Engine</a:t>
            </a:r>
            <a:endParaRPr lang="en-US" sz="1150" dirty="0"/>
          </a:p>
        </p:txBody>
      </p:sp>
      <p:sp>
        <p:nvSpPr>
          <p:cNvPr id="12" name="Shape 9"/>
          <p:cNvSpPr/>
          <p:nvPr/>
        </p:nvSpPr>
        <p:spPr>
          <a:xfrm>
            <a:off x="4297680" y="4709160"/>
            <a:ext cx="3291840" cy="1188720"/>
          </a:xfrm>
          <a:prstGeom prst="roundRect">
            <a:avLst>
              <a:gd name="adj" fmla="val 12308"/>
            </a:avLst>
          </a:prstGeom>
          <a:solidFill>
            <a:srgbClr val="FFFFFF">
              <a:alpha val="10000"/>
            </a:srgbClr>
          </a:solidFill>
          <a:ln w="12700">
            <a:solidFill>
              <a:srgbClr val="FFFFFF"/>
            </a:solidFill>
            <a:prstDash val="solid"/>
          </a:ln>
        </p:spPr>
      </p:sp>
      <p:sp>
        <p:nvSpPr>
          <p:cNvPr id="13" name="Text 10"/>
          <p:cNvSpPr/>
          <p:nvPr/>
        </p:nvSpPr>
        <p:spPr>
          <a:xfrm>
            <a:off x="4526280" y="4846320"/>
            <a:ext cx="2834640" cy="457200"/>
          </a:xfrm>
          <a:prstGeom prst="rect">
            <a:avLst/>
          </a:prstGeom>
          <a:noFill/>
          <a:ln/>
        </p:spPr>
        <p:txBody>
          <a:bodyPr wrap="square" rtlCol="0" anchor="ctr"/>
          <a:lstStyle/>
          <a:p>
            <a:pPr marL="0" indent="0">
              <a:buNone/>
            </a:pPr>
            <a:r>
              <a:rPr lang="en-US" sz="2000" b="1" dirty="0">
                <a:solidFill>
                  <a:srgbClr val="52D68D"/>
                </a:solidFill>
                <a:latin typeface="Poppins" pitchFamily="34" charset="0"/>
                <a:ea typeface="Poppins" pitchFamily="34" charset="-122"/>
                <a:cs typeface="Poppins" pitchFamily="34" charset="-120"/>
              </a:rPr>
              <a:t>Real-Time</a:t>
            </a:r>
            <a:endParaRPr lang="en-US" sz="2000" dirty="0"/>
          </a:p>
        </p:txBody>
      </p:sp>
      <p:sp>
        <p:nvSpPr>
          <p:cNvPr id="14" name="Text 11"/>
          <p:cNvSpPr/>
          <p:nvPr/>
        </p:nvSpPr>
        <p:spPr>
          <a:xfrm>
            <a:off x="4526280" y="5367528"/>
            <a:ext cx="2834640" cy="365760"/>
          </a:xfrm>
          <a:prstGeom prst="rect">
            <a:avLst/>
          </a:prstGeom>
          <a:noFill/>
          <a:ln/>
        </p:spPr>
        <p:txBody>
          <a:bodyPr wrap="square" rtlCol="0" anchor="ctr"/>
          <a:lstStyle/>
          <a:p>
            <a:pPr marL="0" indent="0">
              <a:buNone/>
            </a:pPr>
            <a:r>
              <a:rPr lang="en-US" sz="1150" dirty="0">
                <a:solidFill>
                  <a:srgbClr val="DCEFE3"/>
                </a:solidFill>
                <a:latin typeface="Arial" pitchFamily="34" charset="0"/>
                <a:ea typeface="Arial" pitchFamily="34" charset="-122"/>
                <a:cs typeface="Arial" pitchFamily="34" charset="-120"/>
              </a:rPr>
              <a:t>Interactive Dashboard</a:t>
            </a:r>
            <a:endParaRPr lang="en-US" sz="1150" dirty="0"/>
          </a:p>
        </p:txBody>
      </p:sp>
      <p:sp>
        <p:nvSpPr>
          <p:cNvPr id="15" name="Shape 12"/>
          <p:cNvSpPr/>
          <p:nvPr/>
        </p:nvSpPr>
        <p:spPr>
          <a:xfrm>
            <a:off x="7955280" y="4709160"/>
            <a:ext cx="3291840" cy="1188720"/>
          </a:xfrm>
          <a:prstGeom prst="roundRect">
            <a:avLst>
              <a:gd name="adj" fmla="val 12308"/>
            </a:avLst>
          </a:prstGeom>
          <a:solidFill>
            <a:srgbClr val="FFFFFF">
              <a:alpha val="10000"/>
            </a:srgbClr>
          </a:solidFill>
          <a:ln w="12700">
            <a:solidFill>
              <a:srgbClr val="FFFFFF"/>
            </a:solidFill>
            <a:prstDash val="solid"/>
          </a:ln>
        </p:spPr>
      </p:sp>
      <p:sp>
        <p:nvSpPr>
          <p:cNvPr id="16" name="Text 13"/>
          <p:cNvSpPr/>
          <p:nvPr/>
        </p:nvSpPr>
        <p:spPr>
          <a:xfrm>
            <a:off x="8183880" y="4846320"/>
            <a:ext cx="2834640" cy="457200"/>
          </a:xfrm>
          <a:prstGeom prst="rect">
            <a:avLst/>
          </a:prstGeom>
          <a:noFill/>
          <a:ln/>
        </p:spPr>
        <p:txBody>
          <a:bodyPr wrap="square" rtlCol="0" anchor="ctr"/>
          <a:lstStyle/>
          <a:p>
            <a:pPr marL="0" indent="0">
              <a:buNone/>
            </a:pPr>
            <a:r>
              <a:rPr lang="en-US" sz="2000" b="1" dirty="0">
                <a:solidFill>
                  <a:srgbClr val="52D68D"/>
                </a:solidFill>
                <a:latin typeface="Poppins" pitchFamily="34" charset="0"/>
                <a:ea typeface="Poppins" pitchFamily="34" charset="-122"/>
                <a:cs typeface="Poppins" pitchFamily="34" charset="-120"/>
              </a:rPr>
              <a:t>5 SDGs</a:t>
            </a:r>
            <a:endParaRPr lang="en-US" sz="2000" dirty="0"/>
          </a:p>
        </p:txBody>
      </p:sp>
      <p:sp>
        <p:nvSpPr>
          <p:cNvPr id="17" name="Text 14"/>
          <p:cNvSpPr/>
          <p:nvPr/>
        </p:nvSpPr>
        <p:spPr>
          <a:xfrm>
            <a:off x="8183880" y="5367528"/>
            <a:ext cx="2834640" cy="365760"/>
          </a:xfrm>
          <a:prstGeom prst="rect">
            <a:avLst/>
          </a:prstGeom>
          <a:noFill/>
          <a:ln/>
        </p:spPr>
        <p:txBody>
          <a:bodyPr wrap="square" rtlCol="0" anchor="ctr"/>
          <a:lstStyle/>
          <a:p>
            <a:pPr marL="0" indent="0">
              <a:buNone/>
            </a:pPr>
            <a:r>
              <a:rPr lang="en-US" sz="1150" dirty="0">
                <a:solidFill>
                  <a:srgbClr val="DCEFE3"/>
                </a:solidFill>
                <a:latin typeface="Arial" pitchFamily="34" charset="0"/>
                <a:ea typeface="Arial" pitchFamily="34" charset="-122"/>
                <a:cs typeface="Arial" pitchFamily="34" charset="-120"/>
              </a:rPr>
              <a:t>Directly Supported</a:t>
            </a:r>
            <a:endParaRPr lang="en-US" sz="1150" dirty="0"/>
          </a:p>
        </p:txBody>
      </p:sp>
      <p:sp>
        <p:nvSpPr>
          <p:cNvPr id="18" name="Text 15"/>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BFE3CF"/>
                </a:solidFill>
                <a:latin typeface="Arial" pitchFamily="34" charset="0"/>
                <a:ea typeface="Arial" pitchFamily="34" charset="-122"/>
                <a:cs typeface="Arial" pitchFamily="34" charset="-120"/>
              </a:rPr>
              <a:t>CARBONCHECK</a:t>
            </a:r>
            <a:endParaRPr lang="en-US" sz="900" dirty="0"/>
          </a:p>
        </p:txBody>
      </p:sp>
      <p:sp>
        <p:nvSpPr>
          <p:cNvPr id="19" name="Text 16"/>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BFE3CF"/>
                </a:solidFill>
                <a:latin typeface="Arial" pitchFamily="34" charset="0"/>
                <a:ea typeface="Arial" pitchFamily="34" charset="-122"/>
                <a:cs typeface="Arial" pitchFamily="34" charset="-120"/>
              </a:rPr>
              <a:t>20 / 22</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rtlCol="0" anchor="ctr"/>
          <a:lstStyle/>
          <a:p>
            <a:pPr marL="0" indent="0">
              <a:buNone/>
            </a:pPr>
            <a:r>
              <a:rPr lang="en-US" sz="1200" b="1" kern="0" spc="200" dirty="0">
                <a:solidFill>
                  <a:srgbClr val="2D9C6F"/>
                </a:solidFill>
                <a:latin typeface="Arial" pitchFamily="34" charset="0"/>
                <a:ea typeface="Arial" pitchFamily="34" charset="-122"/>
                <a:cs typeface="Arial" pitchFamily="34" charset="-120"/>
              </a:rPr>
              <a:t>REFERENCES</a:t>
            </a:r>
            <a:endParaRPr lang="en-US" sz="1200" dirty="0"/>
          </a:p>
        </p:txBody>
      </p:sp>
      <p:sp>
        <p:nvSpPr>
          <p:cNvPr id="3" name="Text 1"/>
          <p:cNvSpPr/>
          <p:nvPr/>
        </p:nvSpPr>
        <p:spPr>
          <a:xfrm>
            <a:off x="640080" y="804672"/>
            <a:ext cx="9601200" cy="731520"/>
          </a:xfrm>
          <a:prstGeom prst="rect">
            <a:avLst/>
          </a:prstGeom>
          <a:noFill/>
          <a:ln/>
        </p:spPr>
        <p:txBody>
          <a:bodyPr wrap="square" rtlCol="0" anchor="ctr"/>
          <a:lstStyle/>
          <a:p>
            <a:pPr marL="0" indent="0">
              <a:buNone/>
            </a:pPr>
            <a:r>
              <a:rPr lang="en-US" sz="3200" b="1" dirty="0">
                <a:solidFill>
                  <a:srgbClr val="1B4332"/>
                </a:solidFill>
                <a:latin typeface="Poppins" pitchFamily="34" charset="0"/>
                <a:ea typeface="Poppins" pitchFamily="34" charset="-122"/>
                <a:cs typeface="Poppins" pitchFamily="34" charset="-120"/>
              </a:rPr>
              <a:t>References</a:t>
            </a:r>
            <a:endParaRPr lang="en-US" sz="3200" dirty="0"/>
          </a:p>
        </p:txBody>
      </p:sp>
      <p:sp>
        <p:nvSpPr>
          <p:cNvPr id="4" name="Shape 2"/>
          <p:cNvSpPr/>
          <p:nvPr/>
        </p:nvSpPr>
        <p:spPr>
          <a:xfrm>
            <a:off x="640080" y="1874520"/>
            <a:ext cx="5212080" cy="585216"/>
          </a:xfrm>
          <a:prstGeom prst="roundRect">
            <a:avLst>
              <a:gd name="adj" fmla="val 18750"/>
            </a:avLst>
          </a:prstGeom>
          <a:solidFill>
            <a:srgbClr val="FFFFFF"/>
          </a:solidFill>
          <a:ln w="12700">
            <a:solidFill>
              <a:srgbClr val="DCEBE2"/>
            </a:solidFill>
            <a:prstDash val="solid"/>
          </a:ln>
        </p:spPr>
      </p:sp>
      <p:pic>
        <p:nvPicPr>
          <p:cNvPr id="5" name="Image 0" descr="/home/claude/carboncheck/icons/book.png"/>
          <p:cNvPicPr>
            <a:picLocks noChangeAspect="1"/>
          </p:cNvPicPr>
          <p:nvPr/>
        </p:nvPicPr>
        <p:blipFill>
          <a:blip r:embed="rId4"/>
          <a:stretch>
            <a:fillRect/>
          </a:stretch>
        </p:blipFill>
        <p:spPr>
          <a:xfrm>
            <a:off x="822960" y="2020824"/>
            <a:ext cx="292608" cy="292608"/>
          </a:xfrm>
          <a:prstGeom prst="rect">
            <a:avLst/>
          </a:prstGeom>
        </p:spPr>
      </p:pic>
      <p:sp>
        <p:nvSpPr>
          <p:cNvPr id="6" name="Text 3"/>
          <p:cNvSpPr/>
          <p:nvPr/>
        </p:nvSpPr>
        <p:spPr>
          <a:xfrm>
            <a:off x="1261872" y="1874520"/>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React Documentation — react.dev</a:t>
            </a:r>
            <a:endParaRPr lang="en-US" sz="1200" dirty="0"/>
          </a:p>
        </p:txBody>
      </p:sp>
      <p:sp>
        <p:nvSpPr>
          <p:cNvPr id="7" name="Shape 4"/>
          <p:cNvSpPr/>
          <p:nvPr/>
        </p:nvSpPr>
        <p:spPr>
          <a:xfrm>
            <a:off x="640080" y="2624328"/>
            <a:ext cx="5212080" cy="585216"/>
          </a:xfrm>
          <a:prstGeom prst="roundRect">
            <a:avLst>
              <a:gd name="adj" fmla="val 18750"/>
            </a:avLst>
          </a:prstGeom>
          <a:solidFill>
            <a:srgbClr val="FFFFFF"/>
          </a:solidFill>
          <a:ln w="12700">
            <a:solidFill>
              <a:srgbClr val="DCEBE2"/>
            </a:solidFill>
            <a:prstDash val="solid"/>
          </a:ln>
        </p:spPr>
      </p:sp>
      <p:pic>
        <p:nvPicPr>
          <p:cNvPr id="8" name="Image 1" descr="/home/claude/carboncheck/icons/book.png"/>
          <p:cNvPicPr>
            <a:picLocks noChangeAspect="1"/>
          </p:cNvPicPr>
          <p:nvPr/>
        </p:nvPicPr>
        <p:blipFill>
          <a:blip r:embed="rId4"/>
          <a:stretch>
            <a:fillRect/>
          </a:stretch>
        </p:blipFill>
        <p:spPr>
          <a:xfrm>
            <a:off x="822960" y="2770632"/>
            <a:ext cx="292608" cy="292608"/>
          </a:xfrm>
          <a:prstGeom prst="rect">
            <a:avLst/>
          </a:prstGeom>
        </p:spPr>
      </p:pic>
      <p:sp>
        <p:nvSpPr>
          <p:cNvPr id="9" name="Text 5"/>
          <p:cNvSpPr/>
          <p:nvPr/>
        </p:nvSpPr>
        <p:spPr>
          <a:xfrm>
            <a:off x="1261872" y="2624328"/>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Tailwind CSS Documentation — tailwindcss.com</a:t>
            </a:r>
            <a:endParaRPr lang="en-US" sz="1200" dirty="0"/>
          </a:p>
        </p:txBody>
      </p:sp>
      <p:sp>
        <p:nvSpPr>
          <p:cNvPr id="10" name="Shape 6"/>
          <p:cNvSpPr/>
          <p:nvPr/>
        </p:nvSpPr>
        <p:spPr>
          <a:xfrm>
            <a:off x="640080" y="3374136"/>
            <a:ext cx="5212080" cy="585216"/>
          </a:xfrm>
          <a:prstGeom prst="roundRect">
            <a:avLst>
              <a:gd name="adj" fmla="val 18750"/>
            </a:avLst>
          </a:prstGeom>
          <a:solidFill>
            <a:srgbClr val="FFFFFF"/>
          </a:solidFill>
          <a:ln w="12700">
            <a:solidFill>
              <a:srgbClr val="DCEBE2"/>
            </a:solidFill>
            <a:prstDash val="solid"/>
          </a:ln>
        </p:spPr>
      </p:sp>
      <p:pic>
        <p:nvPicPr>
          <p:cNvPr id="11" name="Image 2" descr="/home/claude/carboncheck/icons/book.png"/>
          <p:cNvPicPr>
            <a:picLocks noChangeAspect="1"/>
          </p:cNvPicPr>
          <p:nvPr/>
        </p:nvPicPr>
        <p:blipFill>
          <a:blip r:embed="rId4"/>
          <a:stretch>
            <a:fillRect/>
          </a:stretch>
        </p:blipFill>
        <p:spPr>
          <a:xfrm>
            <a:off x="822960" y="3520440"/>
            <a:ext cx="292608" cy="292608"/>
          </a:xfrm>
          <a:prstGeom prst="rect">
            <a:avLst/>
          </a:prstGeom>
        </p:spPr>
      </p:pic>
      <p:sp>
        <p:nvSpPr>
          <p:cNvPr id="12" name="Text 7"/>
          <p:cNvSpPr/>
          <p:nvPr/>
        </p:nvSpPr>
        <p:spPr>
          <a:xfrm>
            <a:off x="1261872" y="3374136"/>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FastAPI Documentation — fastapi.tiangolo.com</a:t>
            </a:r>
            <a:endParaRPr lang="en-US" sz="1200" dirty="0"/>
          </a:p>
        </p:txBody>
      </p:sp>
      <p:sp>
        <p:nvSpPr>
          <p:cNvPr id="13" name="Shape 8"/>
          <p:cNvSpPr/>
          <p:nvPr/>
        </p:nvSpPr>
        <p:spPr>
          <a:xfrm>
            <a:off x="640080" y="4123944"/>
            <a:ext cx="5212080" cy="585216"/>
          </a:xfrm>
          <a:prstGeom prst="roundRect">
            <a:avLst>
              <a:gd name="adj" fmla="val 18750"/>
            </a:avLst>
          </a:prstGeom>
          <a:solidFill>
            <a:srgbClr val="FFFFFF"/>
          </a:solidFill>
          <a:ln w="12700">
            <a:solidFill>
              <a:srgbClr val="DCEBE2"/>
            </a:solidFill>
            <a:prstDash val="solid"/>
          </a:ln>
        </p:spPr>
      </p:sp>
      <p:pic>
        <p:nvPicPr>
          <p:cNvPr id="14" name="Image 3" descr="/home/claude/carboncheck/icons/book.png"/>
          <p:cNvPicPr>
            <a:picLocks noChangeAspect="1"/>
          </p:cNvPicPr>
          <p:nvPr/>
        </p:nvPicPr>
        <p:blipFill>
          <a:blip r:embed="rId4"/>
          <a:stretch>
            <a:fillRect/>
          </a:stretch>
        </p:blipFill>
        <p:spPr>
          <a:xfrm>
            <a:off x="822960" y="4270248"/>
            <a:ext cx="292608" cy="292608"/>
          </a:xfrm>
          <a:prstGeom prst="rect">
            <a:avLst/>
          </a:prstGeom>
        </p:spPr>
      </p:pic>
      <p:sp>
        <p:nvSpPr>
          <p:cNvPr id="15" name="Text 9"/>
          <p:cNvSpPr/>
          <p:nvPr/>
        </p:nvSpPr>
        <p:spPr>
          <a:xfrm>
            <a:off x="1261872" y="4123944"/>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Python Documentation — python.org</a:t>
            </a:r>
            <a:endParaRPr lang="en-US" sz="1200" dirty="0"/>
          </a:p>
        </p:txBody>
      </p:sp>
      <p:sp>
        <p:nvSpPr>
          <p:cNvPr id="16" name="Shape 10"/>
          <p:cNvSpPr/>
          <p:nvPr/>
        </p:nvSpPr>
        <p:spPr>
          <a:xfrm>
            <a:off x="640080" y="4873752"/>
            <a:ext cx="5212080" cy="585216"/>
          </a:xfrm>
          <a:prstGeom prst="roundRect">
            <a:avLst>
              <a:gd name="adj" fmla="val 18750"/>
            </a:avLst>
          </a:prstGeom>
          <a:solidFill>
            <a:srgbClr val="FFFFFF"/>
          </a:solidFill>
          <a:ln w="12700">
            <a:solidFill>
              <a:srgbClr val="DCEBE2"/>
            </a:solidFill>
            <a:prstDash val="solid"/>
          </a:ln>
        </p:spPr>
      </p:sp>
      <p:pic>
        <p:nvPicPr>
          <p:cNvPr id="17" name="Image 4" descr="/home/claude/carboncheck/icons/book.png"/>
          <p:cNvPicPr>
            <a:picLocks noChangeAspect="1"/>
          </p:cNvPicPr>
          <p:nvPr/>
        </p:nvPicPr>
        <p:blipFill>
          <a:blip r:embed="rId4"/>
          <a:stretch>
            <a:fillRect/>
          </a:stretch>
        </p:blipFill>
        <p:spPr>
          <a:xfrm>
            <a:off x="822960" y="5020056"/>
            <a:ext cx="292608" cy="292608"/>
          </a:xfrm>
          <a:prstGeom prst="rect">
            <a:avLst/>
          </a:prstGeom>
        </p:spPr>
      </p:pic>
      <p:sp>
        <p:nvSpPr>
          <p:cNvPr id="18" name="Text 11"/>
          <p:cNvSpPr/>
          <p:nvPr/>
        </p:nvSpPr>
        <p:spPr>
          <a:xfrm>
            <a:off x="1261872" y="4873752"/>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Scikit-Learn Documentation — scikit-learn.org</a:t>
            </a:r>
            <a:endParaRPr lang="en-US" sz="1200" dirty="0"/>
          </a:p>
        </p:txBody>
      </p:sp>
      <p:sp>
        <p:nvSpPr>
          <p:cNvPr id="19" name="Shape 12"/>
          <p:cNvSpPr/>
          <p:nvPr/>
        </p:nvSpPr>
        <p:spPr>
          <a:xfrm>
            <a:off x="6355080" y="1874520"/>
            <a:ext cx="5212080" cy="585216"/>
          </a:xfrm>
          <a:prstGeom prst="roundRect">
            <a:avLst>
              <a:gd name="adj" fmla="val 18750"/>
            </a:avLst>
          </a:prstGeom>
          <a:solidFill>
            <a:srgbClr val="FFFFFF"/>
          </a:solidFill>
          <a:ln w="12700">
            <a:solidFill>
              <a:srgbClr val="DCEBE2"/>
            </a:solidFill>
            <a:prstDash val="solid"/>
          </a:ln>
        </p:spPr>
      </p:sp>
      <p:pic>
        <p:nvPicPr>
          <p:cNvPr id="20" name="Image 5" descr="/home/claude/carboncheck/icons/book.png"/>
          <p:cNvPicPr>
            <a:picLocks noChangeAspect="1"/>
          </p:cNvPicPr>
          <p:nvPr/>
        </p:nvPicPr>
        <p:blipFill>
          <a:blip r:embed="rId4"/>
          <a:stretch>
            <a:fillRect/>
          </a:stretch>
        </p:blipFill>
        <p:spPr>
          <a:xfrm>
            <a:off x="6537960" y="2020824"/>
            <a:ext cx="292608" cy="292608"/>
          </a:xfrm>
          <a:prstGeom prst="rect">
            <a:avLst/>
          </a:prstGeom>
        </p:spPr>
      </p:pic>
      <p:sp>
        <p:nvSpPr>
          <p:cNvPr id="21" name="Text 13"/>
          <p:cNvSpPr/>
          <p:nvPr/>
        </p:nvSpPr>
        <p:spPr>
          <a:xfrm>
            <a:off x="6976872" y="1874520"/>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Pandas Documentation — pandas.pydata.org</a:t>
            </a:r>
            <a:endParaRPr lang="en-US" sz="1200" dirty="0"/>
          </a:p>
        </p:txBody>
      </p:sp>
      <p:sp>
        <p:nvSpPr>
          <p:cNvPr id="22" name="Shape 14"/>
          <p:cNvSpPr/>
          <p:nvPr/>
        </p:nvSpPr>
        <p:spPr>
          <a:xfrm>
            <a:off x="6355080" y="2624328"/>
            <a:ext cx="5212080" cy="585216"/>
          </a:xfrm>
          <a:prstGeom prst="roundRect">
            <a:avLst>
              <a:gd name="adj" fmla="val 18750"/>
            </a:avLst>
          </a:prstGeom>
          <a:solidFill>
            <a:srgbClr val="FFFFFF"/>
          </a:solidFill>
          <a:ln w="12700">
            <a:solidFill>
              <a:srgbClr val="DCEBE2"/>
            </a:solidFill>
            <a:prstDash val="solid"/>
          </a:ln>
        </p:spPr>
      </p:sp>
      <p:pic>
        <p:nvPicPr>
          <p:cNvPr id="23" name="Image 6" descr="/home/claude/carboncheck/icons/book.png"/>
          <p:cNvPicPr>
            <a:picLocks noChangeAspect="1"/>
          </p:cNvPicPr>
          <p:nvPr/>
        </p:nvPicPr>
        <p:blipFill>
          <a:blip r:embed="rId4"/>
          <a:stretch>
            <a:fillRect/>
          </a:stretch>
        </p:blipFill>
        <p:spPr>
          <a:xfrm>
            <a:off x="6537960" y="2770632"/>
            <a:ext cx="292608" cy="292608"/>
          </a:xfrm>
          <a:prstGeom prst="rect">
            <a:avLst/>
          </a:prstGeom>
        </p:spPr>
      </p:pic>
      <p:sp>
        <p:nvSpPr>
          <p:cNvPr id="24" name="Text 15"/>
          <p:cNvSpPr/>
          <p:nvPr/>
        </p:nvSpPr>
        <p:spPr>
          <a:xfrm>
            <a:off x="6976872" y="2624328"/>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NumPy Documentation — numpy.org</a:t>
            </a:r>
            <a:endParaRPr lang="en-US" sz="1200" dirty="0"/>
          </a:p>
        </p:txBody>
      </p:sp>
      <p:sp>
        <p:nvSpPr>
          <p:cNvPr id="25" name="Shape 16"/>
          <p:cNvSpPr/>
          <p:nvPr/>
        </p:nvSpPr>
        <p:spPr>
          <a:xfrm>
            <a:off x="6355080" y="3374136"/>
            <a:ext cx="5212080" cy="585216"/>
          </a:xfrm>
          <a:prstGeom prst="roundRect">
            <a:avLst>
              <a:gd name="adj" fmla="val 18750"/>
            </a:avLst>
          </a:prstGeom>
          <a:solidFill>
            <a:srgbClr val="FFFFFF"/>
          </a:solidFill>
          <a:ln w="12700">
            <a:solidFill>
              <a:srgbClr val="DCEBE2"/>
            </a:solidFill>
            <a:prstDash val="solid"/>
          </a:ln>
        </p:spPr>
      </p:sp>
      <p:pic>
        <p:nvPicPr>
          <p:cNvPr id="26" name="Image 7" descr="/home/claude/carboncheck/icons/book.png"/>
          <p:cNvPicPr>
            <a:picLocks noChangeAspect="1"/>
          </p:cNvPicPr>
          <p:nvPr/>
        </p:nvPicPr>
        <p:blipFill>
          <a:blip r:embed="rId4"/>
          <a:stretch>
            <a:fillRect/>
          </a:stretch>
        </p:blipFill>
        <p:spPr>
          <a:xfrm>
            <a:off x="6537960" y="3520440"/>
            <a:ext cx="292608" cy="292608"/>
          </a:xfrm>
          <a:prstGeom prst="rect">
            <a:avLst/>
          </a:prstGeom>
        </p:spPr>
      </p:pic>
      <p:sp>
        <p:nvSpPr>
          <p:cNvPr id="27" name="Text 17"/>
          <p:cNvSpPr/>
          <p:nvPr/>
        </p:nvSpPr>
        <p:spPr>
          <a:xfrm>
            <a:off x="6976872" y="3374136"/>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SQLite Documentation — sqlite.org</a:t>
            </a:r>
            <a:endParaRPr lang="en-US" sz="1200" dirty="0"/>
          </a:p>
        </p:txBody>
      </p:sp>
      <p:sp>
        <p:nvSpPr>
          <p:cNvPr id="28" name="Shape 18"/>
          <p:cNvSpPr/>
          <p:nvPr/>
        </p:nvSpPr>
        <p:spPr>
          <a:xfrm>
            <a:off x="6355080" y="4123944"/>
            <a:ext cx="5212080" cy="585216"/>
          </a:xfrm>
          <a:prstGeom prst="roundRect">
            <a:avLst>
              <a:gd name="adj" fmla="val 18750"/>
            </a:avLst>
          </a:prstGeom>
          <a:solidFill>
            <a:srgbClr val="FFFFFF"/>
          </a:solidFill>
          <a:ln w="12700">
            <a:solidFill>
              <a:srgbClr val="DCEBE2"/>
            </a:solidFill>
            <a:prstDash val="solid"/>
          </a:ln>
        </p:spPr>
      </p:sp>
      <p:pic>
        <p:nvPicPr>
          <p:cNvPr id="29" name="Image 8" descr="/home/claude/carboncheck/icons/book.png"/>
          <p:cNvPicPr>
            <a:picLocks noChangeAspect="1"/>
          </p:cNvPicPr>
          <p:nvPr/>
        </p:nvPicPr>
        <p:blipFill>
          <a:blip r:embed="rId4"/>
          <a:stretch>
            <a:fillRect/>
          </a:stretch>
        </p:blipFill>
        <p:spPr>
          <a:xfrm>
            <a:off x="6537960" y="4270248"/>
            <a:ext cx="292608" cy="292608"/>
          </a:xfrm>
          <a:prstGeom prst="rect">
            <a:avLst/>
          </a:prstGeom>
        </p:spPr>
      </p:pic>
      <p:sp>
        <p:nvSpPr>
          <p:cNvPr id="30" name="Text 19"/>
          <p:cNvSpPr/>
          <p:nvPr/>
        </p:nvSpPr>
        <p:spPr>
          <a:xfrm>
            <a:off x="6976872" y="4123944"/>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United Nations Sustainable Development Goals — sdgs.un.org</a:t>
            </a:r>
            <a:endParaRPr lang="en-US" sz="1200" dirty="0"/>
          </a:p>
        </p:txBody>
      </p:sp>
      <p:sp>
        <p:nvSpPr>
          <p:cNvPr id="31" name="Shape 20"/>
          <p:cNvSpPr/>
          <p:nvPr/>
        </p:nvSpPr>
        <p:spPr>
          <a:xfrm>
            <a:off x="6355080" y="4873752"/>
            <a:ext cx="5212080" cy="585216"/>
          </a:xfrm>
          <a:prstGeom prst="roundRect">
            <a:avLst>
              <a:gd name="adj" fmla="val 18750"/>
            </a:avLst>
          </a:prstGeom>
          <a:solidFill>
            <a:srgbClr val="FFFFFF"/>
          </a:solidFill>
          <a:ln w="12700">
            <a:solidFill>
              <a:srgbClr val="DCEBE2"/>
            </a:solidFill>
            <a:prstDash val="solid"/>
          </a:ln>
        </p:spPr>
      </p:sp>
      <p:pic>
        <p:nvPicPr>
          <p:cNvPr id="32" name="Image 9" descr="/home/claude/carboncheck/icons/book.png"/>
          <p:cNvPicPr>
            <a:picLocks noChangeAspect="1"/>
          </p:cNvPicPr>
          <p:nvPr/>
        </p:nvPicPr>
        <p:blipFill>
          <a:blip r:embed="rId4"/>
          <a:stretch>
            <a:fillRect/>
          </a:stretch>
        </p:blipFill>
        <p:spPr>
          <a:xfrm>
            <a:off x="6537960" y="5020056"/>
            <a:ext cx="292608" cy="292608"/>
          </a:xfrm>
          <a:prstGeom prst="rect">
            <a:avLst/>
          </a:prstGeom>
        </p:spPr>
      </p:pic>
      <p:sp>
        <p:nvSpPr>
          <p:cNvPr id="33" name="Text 21"/>
          <p:cNvSpPr/>
          <p:nvPr/>
        </p:nvSpPr>
        <p:spPr>
          <a:xfrm>
            <a:off x="6976872" y="4873752"/>
            <a:ext cx="4434840" cy="585216"/>
          </a:xfrm>
          <a:prstGeom prst="rect">
            <a:avLst/>
          </a:prstGeom>
          <a:noFill/>
          <a:ln/>
        </p:spPr>
        <p:txBody>
          <a:bodyPr wrap="square" rtlCol="0" anchor="ctr"/>
          <a:lstStyle/>
          <a:p>
            <a:pPr marL="0" indent="0">
              <a:buNone/>
            </a:pPr>
            <a:r>
              <a:rPr lang="en-US" sz="1200" dirty="0">
                <a:solidFill>
                  <a:srgbClr val="1C2B23"/>
                </a:solidFill>
                <a:latin typeface="Arial" pitchFamily="34" charset="0"/>
                <a:ea typeface="Arial" pitchFamily="34" charset="-122"/>
                <a:cs typeface="Arial" pitchFamily="34" charset="-120"/>
              </a:rPr>
              <a:t>IPCC Climate Change Reports — ipcc.ch</a:t>
            </a:r>
            <a:endParaRPr lang="en-US" sz="1200" dirty="0"/>
          </a:p>
        </p:txBody>
      </p:sp>
      <p:sp>
        <p:nvSpPr>
          <p:cNvPr id="34" name="Text 22"/>
          <p:cNvSpPr/>
          <p:nvPr/>
        </p:nvSpPr>
        <p:spPr>
          <a:xfrm>
            <a:off x="457200" y="6473952"/>
            <a:ext cx="2743200" cy="256032"/>
          </a:xfrm>
          <a:prstGeom prst="rect">
            <a:avLst/>
          </a:prstGeom>
          <a:noFill/>
          <a:ln/>
        </p:spPr>
        <p:txBody>
          <a:bodyPr wrap="square" rtlCol="0" anchor="ctr"/>
          <a:lstStyle/>
          <a:p>
            <a:pPr marL="0" indent="0">
              <a:buNone/>
            </a:pPr>
            <a:r>
              <a:rPr lang="en-US" sz="900" b="1" kern="0" spc="200" dirty="0">
                <a:solidFill>
                  <a:srgbClr val="8FA69A"/>
                </a:solidFill>
                <a:latin typeface="Arial" pitchFamily="34" charset="0"/>
                <a:ea typeface="Arial" pitchFamily="34" charset="-122"/>
                <a:cs typeface="Arial" pitchFamily="34" charset="-120"/>
              </a:rPr>
              <a:t>CARBONCHECK</a:t>
            </a:r>
            <a:endParaRPr lang="en-US" sz="900" dirty="0"/>
          </a:p>
        </p:txBody>
      </p:sp>
      <p:sp>
        <p:nvSpPr>
          <p:cNvPr id="35" name="Text 23"/>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8FA69A"/>
                </a:solidFill>
                <a:latin typeface="Arial" pitchFamily="34" charset="0"/>
                <a:ea typeface="Arial" pitchFamily="34" charset="-122"/>
                <a:cs typeface="Arial" pitchFamily="34" charset="-120"/>
              </a:rPr>
              <a:t>21 / 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82735" y="640080"/>
            <a:ext cx="2377440" cy="2377440"/>
          </a:xfrm>
          <a:prstGeom prst="ellipse">
            <a:avLst/>
          </a:prstGeom>
          <a:solidFill>
            <a:srgbClr val="FFFFFF">
              <a:alpha val="6000"/>
            </a:srgbClr>
          </a:solidFill>
          <a:ln w="12700">
            <a:solidFill>
              <a:srgbClr val="FFFFFF">
                <a:alpha val="25000"/>
              </a:srgbClr>
            </a:solidFill>
            <a:prstDash val="solid"/>
          </a:ln>
        </p:spPr>
      </p:sp>
      <p:pic>
        <p:nvPicPr>
          <p:cNvPr id="3" name="Image 0" descr="/home/claude/carboncheck/icons/earth_white.png"/>
          <p:cNvPicPr>
            <a:picLocks noChangeAspect="1"/>
          </p:cNvPicPr>
          <p:nvPr/>
        </p:nvPicPr>
        <p:blipFill>
          <a:blip r:embed="rId4"/>
          <a:stretch>
            <a:fillRect/>
          </a:stretch>
        </p:blipFill>
        <p:spPr>
          <a:xfrm>
            <a:off x="9677095" y="1234440"/>
            <a:ext cx="1188720" cy="1188720"/>
          </a:xfrm>
          <a:prstGeom prst="rect">
            <a:avLst/>
          </a:prstGeom>
        </p:spPr>
      </p:pic>
      <p:sp>
        <p:nvSpPr>
          <p:cNvPr id="4" name="Shape 1"/>
          <p:cNvSpPr/>
          <p:nvPr/>
        </p:nvSpPr>
        <p:spPr>
          <a:xfrm>
            <a:off x="822960" y="4480560"/>
            <a:ext cx="914400" cy="914400"/>
          </a:xfrm>
          <a:prstGeom prst="ellipse">
            <a:avLst/>
          </a:prstGeom>
          <a:solidFill>
            <a:srgbClr val="52D68D">
              <a:alpha val="15000"/>
            </a:srgbClr>
          </a:solidFill>
          <a:ln/>
        </p:spPr>
      </p:sp>
      <p:pic>
        <p:nvPicPr>
          <p:cNvPr id="5" name="Image 1" descr="/home/claude/carboncheck/icons/leaf_white.png"/>
          <p:cNvPicPr>
            <a:picLocks noChangeAspect="1"/>
          </p:cNvPicPr>
          <p:nvPr/>
        </p:nvPicPr>
        <p:blipFill>
          <a:blip r:embed="rId5"/>
          <a:stretch>
            <a:fillRect/>
          </a:stretch>
        </p:blipFill>
        <p:spPr>
          <a:xfrm>
            <a:off x="1051560" y="4709160"/>
            <a:ext cx="457200" cy="457200"/>
          </a:xfrm>
          <a:prstGeom prst="rect">
            <a:avLst/>
          </a:prstGeom>
        </p:spPr>
      </p:pic>
      <p:sp>
        <p:nvSpPr>
          <p:cNvPr id="6" name="Shape 2"/>
          <p:cNvSpPr/>
          <p:nvPr/>
        </p:nvSpPr>
        <p:spPr>
          <a:xfrm>
            <a:off x="1920240" y="1005840"/>
            <a:ext cx="548640" cy="548640"/>
          </a:xfrm>
          <a:prstGeom prst="ellipse">
            <a:avLst/>
          </a:prstGeom>
          <a:solidFill>
            <a:srgbClr val="52D68D">
              <a:alpha val="12000"/>
            </a:srgbClr>
          </a:solidFill>
          <a:ln/>
        </p:spPr>
      </p:sp>
      <p:pic>
        <p:nvPicPr>
          <p:cNvPr id="7" name="Image 2" descr="/home/claude/carboncheck/icons/network_white.png"/>
          <p:cNvPicPr>
            <a:picLocks noChangeAspect="1"/>
          </p:cNvPicPr>
          <p:nvPr/>
        </p:nvPicPr>
        <p:blipFill>
          <a:blip r:embed="rId6"/>
          <a:stretch>
            <a:fillRect/>
          </a:stretch>
        </p:blipFill>
        <p:spPr>
          <a:xfrm>
            <a:off x="2048256" y="1133856"/>
            <a:ext cx="292608" cy="292608"/>
          </a:xfrm>
          <a:prstGeom prst="rect">
            <a:avLst/>
          </a:prstGeom>
        </p:spPr>
      </p:pic>
      <p:sp>
        <p:nvSpPr>
          <p:cNvPr id="8" name="Text 3"/>
          <p:cNvSpPr/>
          <p:nvPr/>
        </p:nvSpPr>
        <p:spPr>
          <a:xfrm>
            <a:off x="640080" y="2468880"/>
            <a:ext cx="9144000" cy="365760"/>
          </a:xfrm>
          <a:prstGeom prst="rect">
            <a:avLst/>
          </a:prstGeom>
          <a:noFill/>
          <a:ln/>
        </p:spPr>
        <p:txBody>
          <a:bodyPr wrap="square" rtlCol="0" anchor="ctr"/>
          <a:lstStyle/>
          <a:p>
            <a:pPr marL="0" indent="0">
              <a:buNone/>
            </a:pPr>
            <a:r>
              <a:rPr lang="en-US" sz="1300" b="1" kern="0" spc="300" dirty="0">
                <a:solidFill>
                  <a:srgbClr val="52D68D"/>
                </a:solidFill>
                <a:latin typeface="Arial" pitchFamily="34" charset="0"/>
                <a:ea typeface="Arial" pitchFamily="34" charset="-122"/>
                <a:cs typeface="Arial" pitchFamily="34" charset="-120"/>
              </a:rPr>
              <a:t>THANK YOU</a:t>
            </a:r>
            <a:endParaRPr lang="en-US" sz="1300" dirty="0"/>
          </a:p>
        </p:txBody>
      </p:sp>
      <p:sp>
        <p:nvSpPr>
          <p:cNvPr id="9" name="Text 4"/>
          <p:cNvSpPr/>
          <p:nvPr/>
        </p:nvSpPr>
        <p:spPr>
          <a:xfrm>
            <a:off x="594360" y="2788920"/>
            <a:ext cx="9144000" cy="1188720"/>
          </a:xfrm>
          <a:prstGeom prst="rect">
            <a:avLst/>
          </a:prstGeom>
          <a:noFill/>
          <a:ln/>
        </p:spPr>
        <p:txBody>
          <a:bodyPr wrap="square" rtlCol="0" anchor="ctr"/>
          <a:lstStyle/>
          <a:p>
            <a:pPr marL="0" indent="0">
              <a:buNone/>
            </a:pPr>
            <a:r>
              <a:rPr lang="en-US" sz="5600" b="1" dirty="0">
                <a:solidFill>
                  <a:srgbClr val="FFFFFF"/>
                </a:solidFill>
                <a:latin typeface="Poppins" pitchFamily="34" charset="0"/>
                <a:ea typeface="Poppins" pitchFamily="34" charset="-122"/>
                <a:cs typeface="Poppins" pitchFamily="34" charset="-120"/>
              </a:rPr>
              <a:t>Thank You</a:t>
            </a:r>
            <a:endParaRPr lang="en-US" sz="5600" dirty="0"/>
          </a:p>
        </p:txBody>
      </p:sp>
      <p:sp>
        <p:nvSpPr>
          <p:cNvPr id="10" name="Text 5"/>
          <p:cNvSpPr/>
          <p:nvPr/>
        </p:nvSpPr>
        <p:spPr>
          <a:xfrm>
            <a:off x="640080" y="3794760"/>
            <a:ext cx="8229600" cy="548640"/>
          </a:xfrm>
          <a:prstGeom prst="rect">
            <a:avLst/>
          </a:prstGeom>
          <a:noFill/>
          <a:ln/>
        </p:spPr>
        <p:txBody>
          <a:bodyPr wrap="square" rtlCol="0" anchor="ctr"/>
          <a:lstStyle/>
          <a:p>
            <a:pPr marL="0" indent="0">
              <a:buNone/>
            </a:pPr>
            <a:r>
              <a:rPr lang="en-US" sz="2000" b="1" dirty="0">
                <a:solidFill>
                  <a:srgbClr val="52D68D"/>
                </a:solidFill>
                <a:latin typeface="Poppins" pitchFamily="34" charset="0"/>
                <a:ea typeface="Poppins" pitchFamily="34" charset="-122"/>
                <a:cs typeface="Poppins" pitchFamily="34" charset="-120"/>
              </a:rPr>
              <a:t>Questions &amp; Discussion</a:t>
            </a:r>
            <a:endParaRPr lang="en-US" sz="2000" dirty="0"/>
          </a:p>
        </p:txBody>
      </p:sp>
      <p:sp>
        <p:nvSpPr>
          <p:cNvPr id="11" name="Text 6"/>
          <p:cNvSpPr/>
          <p:nvPr/>
        </p:nvSpPr>
        <p:spPr>
          <a:xfrm>
            <a:off x="640080" y="5943600"/>
            <a:ext cx="7315200" cy="365760"/>
          </a:xfrm>
          <a:prstGeom prst="rect">
            <a:avLst/>
          </a:prstGeom>
          <a:noFill/>
          <a:ln/>
        </p:spPr>
        <p:txBody>
          <a:bodyPr wrap="square" rtlCol="0" anchor="ctr"/>
          <a:lstStyle/>
          <a:p>
            <a:pPr marL="0" indent="0">
              <a:buNone/>
            </a:pPr>
            <a:r>
              <a:rPr lang="en-US" sz="1200" dirty="0">
                <a:solidFill>
                  <a:srgbClr val="BFE3CF"/>
                </a:solidFill>
                <a:latin typeface="Arial" pitchFamily="34" charset="0"/>
                <a:ea typeface="Arial" pitchFamily="34" charset="-122"/>
                <a:cs typeface="Arial" pitchFamily="34" charset="-120"/>
              </a:rPr>
              <a:t>CarbonCheck — AI Carbon Footprint Calculator</a:t>
            </a:r>
            <a:endParaRPr lang="en-US" sz="1200" dirty="0"/>
          </a:p>
        </p:txBody>
      </p:sp>
      <p:sp>
        <p:nvSpPr>
          <p:cNvPr id="12" name="Text 7"/>
          <p:cNvSpPr/>
          <p:nvPr/>
        </p:nvSpPr>
        <p:spPr>
          <a:xfrm>
            <a:off x="11002975" y="6473952"/>
            <a:ext cx="914400" cy="256032"/>
          </a:xfrm>
          <a:prstGeom prst="rect">
            <a:avLst/>
          </a:prstGeom>
          <a:noFill/>
          <a:ln/>
        </p:spPr>
        <p:txBody>
          <a:bodyPr wrap="square" rtlCol="0" anchor="ctr"/>
          <a:lstStyle/>
          <a:p>
            <a:pPr marL="0" indent="0" algn="r">
              <a:buNone/>
            </a:pPr>
            <a:r>
              <a:rPr lang="en-US" sz="900" dirty="0">
                <a:solidFill>
                  <a:srgbClr val="BFE3CF"/>
                </a:solidFill>
                <a:latin typeface="Arial" pitchFamily="34" charset="0"/>
                <a:ea typeface="Arial" pitchFamily="34" charset="-122"/>
                <a:cs typeface="Arial" pitchFamily="34" charset="-120"/>
              </a:rPr>
              <a:t>22 / 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1118</Words>
  <Application>Microsoft Office PowerPoint</Application>
  <PresentationFormat>Widescreen</PresentationFormat>
  <Paragraphs>369</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Adarsh Mishra</cp:lastModifiedBy>
  <cp:revision>2</cp:revision>
  <dcterms:created xsi:type="dcterms:W3CDTF">2026-07-13T09:30:46Z</dcterms:created>
  <dcterms:modified xsi:type="dcterms:W3CDTF">2026-07-14T07:20:48Z</dcterms:modified>
</cp:coreProperties>
</file>